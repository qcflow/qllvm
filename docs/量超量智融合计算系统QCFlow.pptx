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2" r:id="rId3"/>
  </p:sldMasterIdLst>
  <p:notesMasterIdLst>
    <p:notesMasterId r:id="rId23"/>
  </p:notesMasterIdLst>
  <p:sldIdLst>
    <p:sldId id="378" r:id="rId4"/>
    <p:sldId id="258" r:id="rId5"/>
    <p:sldId id="358" r:id="rId6"/>
    <p:sldId id="366" r:id="rId7"/>
    <p:sldId id="367" r:id="rId8"/>
    <p:sldId id="368" r:id="rId9"/>
    <p:sldId id="369" r:id="rId10"/>
    <p:sldId id="372" r:id="rId11"/>
    <p:sldId id="380" r:id="rId12"/>
    <p:sldId id="371" r:id="rId13"/>
    <p:sldId id="381" r:id="rId14"/>
    <p:sldId id="382" r:id="rId15"/>
    <p:sldId id="383" r:id="rId16"/>
    <p:sldId id="373" r:id="rId17"/>
    <p:sldId id="2445" r:id="rId18"/>
    <p:sldId id="377" r:id="rId19"/>
    <p:sldId id="375" r:id="rId20"/>
    <p:sldId id="379" r:id="rId21"/>
    <p:sldId id="376"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7" userDrawn="1">
          <p15:clr>
            <a:srgbClr val="A4A3A4"/>
          </p15:clr>
        </p15:guide>
        <p15:guide id="2" pos="3840" userDrawn="1">
          <p15:clr>
            <a:srgbClr val="A4A3A4"/>
          </p15:clr>
        </p15:guide>
        <p15:guide id="3" orient="horz" pos="2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8FC"/>
    <a:srgbClr val="FFFFFF"/>
    <a:srgbClr val="F7FAFE"/>
    <a:srgbClr val="E6F1FD"/>
    <a:srgbClr val="B3DAFD"/>
    <a:srgbClr val="E5EFFE"/>
    <a:srgbClr val="2F5597"/>
    <a:srgbClr val="861010"/>
    <a:srgbClr val="BD7C7C"/>
    <a:srgbClr val="C9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62728" autoAdjust="0"/>
  </p:normalViewPr>
  <p:slideViewPr>
    <p:cSldViewPr snapToGrid="0" showGuides="1">
      <p:cViewPr varScale="1">
        <p:scale>
          <a:sx n="43" d="100"/>
          <a:sy n="43" d="100"/>
        </p:scale>
        <p:origin x="1428" y="44"/>
      </p:cViewPr>
      <p:guideLst>
        <p:guide orient="horz" pos="2387"/>
        <p:guide pos="3840"/>
        <p:guide orient="horz" pos="2931"/>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1F92C-BA80-4346-808C-450678058955}" type="datetimeFigureOut">
              <a:rPr lang="zh-CN" altLang="en-US" smtClean="0"/>
              <a:t>2026/9/28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A3E4B0-D33E-4559-A8E3-8FD3EA6BF60D}" type="slidenum">
              <a:rPr lang="zh-CN" altLang="en-US" smtClean="0"/>
              <a:t>‹#›</a:t>
            </a:fld>
            <a:endParaRPr lang="zh-CN" altLang="en-US"/>
          </a:p>
        </p:txBody>
      </p:sp>
    </p:spTree>
    <p:extLst>
      <p:ext uri="{BB962C8B-B14F-4D97-AF65-F5344CB8AC3E}">
        <p14:creationId xmlns:p14="http://schemas.microsoft.com/office/powerpoint/2010/main" val="2046853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今天要介绍的内容，更多的是从计算机领域视角，来看量子计算怎么进入现有的计算体系。</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56957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2min</a:t>
            </a:r>
          </a:p>
          <a:p>
            <a:r>
              <a:rPr lang="zh-CN" altLang="zh-CN" dirty="0"/>
              <a:t>接下来整个报告，我主要围绕三个问题展开。</a:t>
            </a:r>
            <a:endParaRPr lang="en-US" altLang="zh-CN" dirty="0"/>
          </a:p>
          <a:p>
            <a:r>
              <a:rPr lang="zh-CN" altLang="zh-CN" b="1" dirty="0"/>
              <a:t>第一个问题：</a:t>
            </a:r>
            <a:r>
              <a:rPr lang="zh-CN" altLang="en-US" b="1" dirty="0"/>
              <a:t>量子算法如何设计</a:t>
            </a:r>
            <a:r>
              <a:rPr lang="zh-CN" altLang="zh-CN" b="1" dirty="0"/>
              <a:t>？</a:t>
            </a:r>
            <a:endParaRPr lang="zh-CN" altLang="zh-CN" dirty="0"/>
          </a:p>
          <a:p>
            <a:r>
              <a:rPr lang="zh-CN" altLang="zh-CN" dirty="0"/>
              <a:t>这一部分我们先简单看一下量子计算和经典计算在计算模型上的区别</a:t>
            </a:r>
            <a:r>
              <a:rPr lang="zh-CN" altLang="en-US" dirty="0"/>
              <a:t>、现有的一些量子算法，</a:t>
            </a:r>
            <a:r>
              <a:rPr lang="zh-CN" altLang="zh-CN" dirty="0"/>
              <a:t>然后通过</a:t>
            </a:r>
            <a:r>
              <a:rPr lang="zh-CN" altLang="en-US" dirty="0"/>
              <a:t>一个量子算法的例子</a:t>
            </a:r>
            <a:r>
              <a:rPr lang="zh-CN" altLang="zh-CN" dirty="0"/>
              <a:t>，看一个实际问题是</a:t>
            </a:r>
            <a:r>
              <a:rPr lang="zh-CN" altLang="en-US" dirty="0"/>
              <a:t>对应到量子算法求解的</a:t>
            </a:r>
            <a:r>
              <a:rPr lang="zh-CN" altLang="zh-CN" dirty="0"/>
              <a:t>。</a:t>
            </a:r>
            <a:endParaRPr lang="en-US" altLang="zh-CN" dirty="0"/>
          </a:p>
          <a:p>
            <a:r>
              <a:rPr lang="zh-CN" altLang="en-US" dirty="0"/>
              <a:t>第二个问题是</a:t>
            </a:r>
            <a:r>
              <a:rPr lang="zh-CN" altLang="zh-CN" b="1" dirty="0"/>
              <a:t>量子程序如何在真实 QPU 上执行？</a:t>
            </a:r>
            <a:endParaRPr lang="zh-CN" altLang="zh-CN" dirty="0"/>
          </a:p>
          <a:p>
            <a:r>
              <a:rPr lang="zh-CN" altLang="en-US" dirty="0"/>
              <a:t>我们还是以同样的例子来看，算法怎么写成量子程序，怎么经过</a:t>
            </a:r>
            <a:r>
              <a:rPr lang="zh-CN" altLang="zh-CN" dirty="0"/>
              <a:t>编译、映射、路由、指令转换，以及运行时和控制系统</a:t>
            </a:r>
            <a:r>
              <a:rPr lang="zh-CN" altLang="en-US" dirty="0"/>
              <a:t>，最终提交到真机上去运行</a:t>
            </a:r>
            <a:r>
              <a:rPr lang="zh-CN" altLang="zh-CN" dirty="0"/>
              <a:t>。</a:t>
            </a:r>
            <a:endParaRPr lang="en-US" altLang="zh-CN" dirty="0"/>
          </a:p>
          <a:p>
            <a:r>
              <a:rPr lang="zh-CN" altLang="zh-CN" b="1" dirty="0"/>
              <a:t>第三个问题：QPU 如何融入高性能计算系统？</a:t>
            </a:r>
            <a:endParaRPr lang="zh-CN" altLang="zh-CN" dirty="0"/>
          </a:p>
          <a:p>
            <a:r>
              <a:rPr lang="zh-CN" altLang="zh-CN" dirty="0"/>
              <a:t>当一个应用同时包含 CPU、GPU 和 QPU 计算以后，我们面对的就不再只是单独的量子编译问题</a:t>
            </a:r>
            <a:r>
              <a:rPr lang="zh-CN" altLang="en-US" dirty="0"/>
              <a:t>或者经典编译问题</a:t>
            </a:r>
            <a:r>
              <a:rPr lang="zh-CN" altLang="zh-CN" dirty="0"/>
              <a:t>，而是一个完整的异构计算系统问题，包括统一编译、资源管理、任务调度和协同执行。</a:t>
            </a:r>
            <a:r>
              <a:rPr lang="zh-CN" altLang="en-US" dirty="0"/>
              <a:t>这个时候我们需要做什么工作。</a:t>
            </a:r>
            <a:endParaRPr lang="en-US" altLang="zh-CN" dirty="0"/>
          </a:p>
          <a:p>
            <a:endParaRPr lang="en-US" altLang="zh-CN" dirty="0"/>
          </a:p>
          <a:p>
            <a:r>
              <a:rPr lang="zh-CN" altLang="en-US" dirty="0"/>
              <a:t>总的来说，大家可以理解成我们要一起来看，量子计算“怎么算”、“怎么跑”和“怎么融”的问题。今天时间关系可能不会那么深入、全面地来探讨，</a:t>
            </a:r>
            <a:endParaRPr lang="zh-CN" altLang="zh-CN" dirty="0"/>
          </a:p>
          <a:p>
            <a:endParaRPr lang="zh-CN" altLang="zh-CN" dirty="0"/>
          </a:p>
          <a:p>
            <a:endParaRPr lang="en-US" altLang="zh-CN" dirty="0"/>
          </a:p>
          <a:p>
            <a:endParaRPr lang="zh-CN"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F529F5-FAB8-4CBB-917D-47B82247512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8671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EC801-A313-A981-3E62-EFC03F82D3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D68B65-2E0B-0011-0A04-98F345F8AD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5224FF-CBB1-B029-C568-1BE46DA2C41B}"/>
              </a:ext>
            </a:extLst>
          </p:cNvPr>
          <p:cNvSpPr>
            <a:spLocks noGrp="1"/>
          </p:cNvSpPr>
          <p:nvPr>
            <p:ph type="body" idx="1"/>
          </p:nvPr>
        </p:nvSpPr>
        <p:spPr/>
        <p:txBody>
          <a:bodyPr/>
          <a:lstStyle/>
          <a:p>
            <a:r>
              <a:rPr lang="en-US" altLang="zh-CN" dirty="0"/>
              <a:t>5min</a:t>
            </a:r>
          </a:p>
          <a:p>
            <a:r>
              <a:rPr lang="zh-CN" altLang="zh-CN" dirty="0"/>
              <a:t>首先，我想从计算机系统的视角，简单回顾一下量子计算的发展。整体来看，我觉得可以把它概括成三个阶段。</a:t>
            </a:r>
          </a:p>
          <a:p>
            <a:r>
              <a:rPr lang="zh-CN" altLang="zh-CN" b="1" dirty="0"/>
              <a:t>第一个阶段，是量子计算的物理实现阶段。</a:t>
            </a:r>
            <a:r>
              <a:rPr lang="zh-CN" altLang="zh-CN" dirty="0"/>
              <a:t>这个阶段</a:t>
            </a:r>
            <a:r>
              <a:rPr lang="zh-CN" altLang="en-US" dirty="0"/>
              <a:t>主要是物理学领域的专家在研究</a:t>
            </a:r>
            <a:r>
              <a:rPr lang="zh-CN" altLang="zh-CN" dirty="0"/>
              <a:t>：量子比特到底怎么实现？怎么操控？怎么实现高保真的量子门？围绕这些问题，也逐渐形成了超导、离子阱、光量子等不同的硬件技术路线。所以这个阶段最核心的问题，可以简单概括成一句话：</a:t>
            </a:r>
            <a:r>
              <a:rPr lang="zh-CN" altLang="zh-CN" b="1" dirty="0"/>
              <a:t>怎么把 QPU“造出来”。</a:t>
            </a:r>
            <a:endParaRPr lang="zh-CN" altLang="zh-CN" dirty="0"/>
          </a:p>
          <a:p>
            <a:endParaRPr lang="zh-CN" altLang="zh-CN" dirty="0"/>
          </a:p>
          <a:p>
            <a:r>
              <a:rPr lang="zh-CN" altLang="zh-CN" b="1" dirty="0"/>
              <a:t>到了 2016 年前后，一个很重要的变化开始出现。</a:t>
            </a:r>
            <a:r>
              <a:rPr lang="zh-CN" altLang="zh-CN" dirty="0"/>
              <a:t>以 IBM Quantum Experience 为代表，真实的量子计算机开始通过云平台向用户开放。这意味着，我们不一定需要自己搭建量子实验装置，也可以写一段量子程序，通过云平台提交到真实的 QPU 上执行。也就是说，量子计算开始从实验室里的物理装置，逐渐变成一台</a:t>
            </a:r>
            <a:r>
              <a:rPr lang="zh-CN" altLang="zh-CN" b="1" dirty="0"/>
              <a:t>可编程、可远程访问、可以真正运行程序的计算机</a:t>
            </a:r>
            <a:r>
              <a:rPr lang="zh-CN" altLang="zh-CN" dirty="0"/>
              <a:t>。而这个变化也带来了</a:t>
            </a:r>
            <a:r>
              <a:rPr lang="zh-CN" altLang="zh-CN" b="1" dirty="0"/>
              <a:t>参与人群的变化</a:t>
            </a:r>
            <a:r>
              <a:rPr lang="zh-CN" altLang="zh-CN" dirty="0"/>
              <a:t>。除了物理学和量子信息领域的研究者之外，越来越多</a:t>
            </a:r>
            <a:r>
              <a:rPr lang="zh-CN" altLang="zh-CN" b="1" dirty="0"/>
              <a:t>计算机科学、软件和算法领域的研究者</a:t>
            </a:r>
            <a:r>
              <a:rPr lang="zh-CN" altLang="zh-CN" dirty="0"/>
              <a:t>开始进入量子计算。因为一旦 QPU 可以运行程序，很多问题马上就变成了我们非常熟悉的计算机问题：</a:t>
            </a:r>
            <a:r>
              <a:rPr lang="zh-CN" altLang="zh-CN" b="1" dirty="0"/>
              <a:t>程序怎么表示？怎么编译和优化？怎么映射到具体硬件？多个任务来了以后怎么调度？</a:t>
            </a:r>
            <a:endParaRPr lang="zh-CN" altLang="zh-CN" dirty="0"/>
          </a:p>
          <a:p>
            <a:r>
              <a:rPr lang="zh-CN" altLang="zh-CN" dirty="0"/>
              <a:t>与此同时，量子化学、组合优化、机器学习等领域的研究者，也开始尝试把自己的应用放到真实量子计算机上进行验证。所以第二个阶段关注的问题，就从单纯的</a:t>
            </a:r>
            <a:r>
              <a:rPr lang="zh-CN" altLang="zh-CN" b="1" dirty="0"/>
              <a:t>“怎么造”</a:t>
            </a:r>
            <a:r>
              <a:rPr lang="zh-CN" altLang="zh-CN" dirty="0"/>
              <a:t>，进一步发展到了：</a:t>
            </a:r>
            <a:r>
              <a:rPr lang="zh-CN" altLang="zh-CN" b="1" dirty="0"/>
              <a:t>怎么让量子程序真正“跑起来”。</a:t>
            </a:r>
            <a:endParaRPr lang="zh-CN" altLang="zh-CN" dirty="0"/>
          </a:p>
          <a:p>
            <a:endParaRPr lang="zh-CN" altLang="zh-CN" dirty="0"/>
          </a:p>
          <a:p>
            <a:r>
              <a:rPr lang="zh-CN" altLang="zh-CN" b="1" dirty="0"/>
              <a:t>而现在，我们正在进一步进入第三个阶段——系统融合。</a:t>
            </a:r>
            <a:r>
              <a:rPr lang="zh-CN" altLang="zh-CN" dirty="0"/>
              <a:t>随着量子计算机规模和质量不断提升，以及软件和应用生态的发展，一个很重要的趋势是：</a:t>
            </a:r>
            <a:r>
              <a:rPr lang="zh-CN" altLang="zh-CN" b="1" dirty="0"/>
              <a:t>QPU 开始被看作一种新的计算资源，尝试加入 CPU、GPU 等共同组成的异构高性能计算体系。</a:t>
            </a:r>
            <a:r>
              <a:rPr lang="zh-CN" altLang="zh-CN" dirty="0"/>
              <a:t>这时候，参与进来的就不仅仅是量子计算研究者了。</a:t>
            </a:r>
            <a:r>
              <a:rPr lang="zh-CN" altLang="zh-CN" b="1" dirty="0"/>
              <a:t>高性能计算、计算机体系结构、操作系统、编译、分布式系统等领域的研究者</a:t>
            </a:r>
            <a:r>
              <a:rPr lang="zh-CN" altLang="zh-CN" dirty="0"/>
              <a:t>，都会开始遇到和 QPU 有关的问题。因为未来很可能不是整个应用都运行在 QPU 上，而是 CPU、GPU 负责程序控制、经典计算和数据处理，把其中适合量子计算的部分交给 QPU。于是一个应用可能需要在 </a:t>
            </a:r>
            <a:r>
              <a:rPr lang="zh-CN" altLang="zh-CN" b="1" dirty="0"/>
              <a:t>CPU、GPU 和 QPU 之间协同执行</a:t>
            </a:r>
            <a:r>
              <a:rPr lang="zh-CN" altLang="zh-CN" dirty="0"/>
              <a:t>，形成经典—量子混合计算。</a:t>
            </a:r>
            <a:endParaRPr lang="en-US" altLang="zh-CN" dirty="0"/>
          </a:p>
          <a:p>
            <a:r>
              <a:rPr lang="zh-CN" altLang="zh-CN" dirty="0"/>
              <a:t>现在这种融合也已经开始进入实际的系统探索和部署，比如 IBM 推进 Quantum-Centric Supercomputing，欧洲在探索 QPU 与超级计算基础设施的融合，国内也已经出现量子计算与超级计算融合的平台。</a:t>
            </a:r>
            <a:endParaRPr lang="en-US" altLang="zh-CN" b="1" dirty="0"/>
          </a:p>
          <a:p>
            <a:r>
              <a:rPr lang="zh-CN" altLang="zh-CN" dirty="0"/>
              <a:t>所以这个阶段的问题就进一步变成：</a:t>
            </a:r>
          </a:p>
          <a:p>
            <a:r>
              <a:rPr lang="zh-CN" altLang="zh-CN" b="1" dirty="0"/>
              <a:t>怎么让 QPU 真正“用起来”，并融入现有计算系统。</a:t>
            </a:r>
            <a:endParaRPr lang="zh-CN" altLang="zh-CN" dirty="0"/>
          </a:p>
          <a:p>
            <a:r>
              <a:rPr lang="zh-CN" altLang="zh-CN" dirty="0"/>
              <a:t>这也是今天报告最终希望讨论的问题。</a:t>
            </a:r>
          </a:p>
          <a:p>
            <a:r>
              <a:rPr lang="zh-CN" altLang="zh-CN" dirty="0"/>
              <a:t>但是在讨论 QPU 怎么进入 HPC 之前，我们首先得回答一个最基本的问题：</a:t>
            </a:r>
          </a:p>
          <a:p>
            <a:r>
              <a:rPr lang="zh-CN" altLang="zh-CN" b="1" dirty="0"/>
              <a:t>量子计算到底是怎么计算的？</a:t>
            </a:r>
            <a:endParaRPr lang="zh-CN" altLang="zh-CN" dirty="0"/>
          </a:p>
        </p:txBody>
      </p:sp>
      <p:sp>
        <p:nvSpPr>
          <p:cNvPr id="4" name="灯片编号占位符 3">
            <a:extLst>
              <a:ext uri="{FF2B5EF4-FFF2-40B4-BE49-F238E27FC236}">
                <a16:creationId xmlns:a16="http://schemas.microsoft.com/office/drawing/2014/main" id="{62945997-3804-50C4-F95D-98F49D3E8B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1281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9D458-256E-197F-EA36-3FFC4C335D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374AB7-C85E-2CC4-8C87-FB1E9F12F20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8941CE87-534F-02C6-2EBC-C18DF7F2FE27}"/>
                  </a:ext>
                </a:extLst>
              </p:cNvPr>
              <p:cNvSpPr>
                <a:spLocks noGrp="1"/>
              </p:cNvSpPr>
              <p:nvPr>
                <p:ph type="body" idx="1"/>
              </p:nvPr>
            </p:nvSpPr>
            <p:spPr/>
            <p:txBody>
              <a:bodyPr/>
              <a:lstStyle/>
              <a:p>
                <a:r>
                  <a:rPr lang="en-US" altLang="zh-CN" dirty="0"/>
                  <a:t>2min</a:t>
                </a:r>
              </a:p>
              <a:p>
                <a:r>
                  <a:rPr lang="zh-CN" altLang="en-US" dirty="0"/>
                  <a:t>在讲这个问题之前，我们还是来看一下量子计算、量子算法是怎么解决问题的，所谓的量子计算的优势是来源于什么。</a:t>
                </a:r>
                <a:endParaRPr lang="en-US" altLang="zh-CN" dirty="0"/>
              </a:p>
              <a:p>
                <a:r>
                  <a:rPr lang="zh-CN" altLang="en-US" dirty="0"/>
                  <a:t>首先，从信息表示上，</a:t>
                </a:r>
                <a:r>
                  <a:rPr lang="zh-CN" altLang="zh-CN" dirty="0"/>
                  <a:t>经典比特只能处在确定的 0 或者 1，而量子比特可以处在 </a:t>
                </a:r>
                <a:r>
                  <a:rPr lang="zh-CN" altLang="zh-CN" b="1" dirty="0"/>
                  <a:t>0 和 1 的叠加状态</a:t>
                </a:r>
                <a:r>
                  <a:rPr lang="zh-CN" altLang="zh-CN" dirty="0"/>
                  <a:t>。</a:t>
                </a:r>
                <a:r>
                  <a:rPr lang="zh-CN" altLang="en-US" dirty="0"/>
                  <a:t>我们可以借助球体来表示量子比特，</a:t>
                </a:r>
                <a:r>
                  <a:rPr lang="zh-CN" altLang="zh-CN" b="1" dirty="0"/>
                  <a:t>球的两个极点分别对应 </a:t>
                </a:r>
                <a14:m>
                  <m:oMath xmlns:m="http://schemas.openxmlformats.org/officeDocument/2006/math">
                    <m:d>
                      <m:dPr>
                        <m:begChr m:val=""/>
                        <m:endChr m:val="⟩"/>
                        <m:ctrlPr>
                          <a:rPr lang="zh-CN" altLang="en-US" sz="1200" kern="1200">
                            <a:solidFill>
                              <a:schemeClr val="tx1"/>
                            </a:solidFill>
                            <a:latin typeface="Cambria Math" panose="02040503050406030204" pitchFamily="18" charset="0"/>
                            <a:ea typeface="+mn-ea"/>
                            <a:cs typeface="+mn-cs"/>
                          </a:rPr>
                        </m:ctrlPr>
                      </m:dPr>
                      <m:e>
                        <m:r>
                          <a:rPr lang="zh-CN" altLang="en-US" sz="1200" kern="1200">
                            <a:solidFill>
                              <a:schemeClr val="tx1"/>
                            </a:solidFill>
                            <a:latin typeface="Cambria Math" panose="02040503050406030204" pitchFamily="18" charset="0"/>
                            <a:ea typeface="+mn-ea"/>
                            <a:cs typeface="+mn-cs"/>
                          </a:rPr>
                          <m:t>∣</m:t>
                        </m:r>
                        <m:r>
                          <a:rPr lang="en-US" altLang="zh-CN" sz="1200" i="0" kern="1200">
                            <a:solidFill>
                              <a:schemeClr val="tx1"/>
                            </a:solidFill>
                            <a:latin typeface="Cambria Math" panose="02040503050406030204" pitchFamily="18" charset="0"/>
                            <a:ea typeface="+mn-ea"/>
                            <a:cs typeface="+mn-cs"/>
                          </a:rPr>
                          <m:t>0</m:t>
                        </m:r>
                      </m:e>
                    </m:d>
                  </m:oMath>
                </a14:m>
                <a:r>
                  <a:rPr lang="zh-CN" altLang="zh-CN" b="1" dirty="0"/>
                  <a:t>和 </a:t>
                </a:r>
                <a14:m>
                  <m:oMath xmlns:m="http://schemas.openxmlformats.org/officeDocument/2006/math">
                    <m:d>
                      <m:dPr>
                        <m:begChr m:val=""/>
                        <m:endChr m:val="⟩"/>
                        <m:ctrlPr>
                          <a:rPr lang="zh-CN" altLang="en-US" sz="1200" kern="1200">
                            <a:solidFill>
                              <a:schemeClr val="tx1"/>
                            </a:solidFill>
                            <a:latin typeface="Cambria Math" panose="02040503050406030204" pitchFamily="18" charset="0"/>
                            <a:ea typeface="+mn-ea"/>
                            <a:cs typeface="+mn-cs"/>
                          </a:rPr>
                        </m:ctrlPr>
                      </m:dPr>
                      <m:e>
                        <m:r>
                          <a:rPr lang="zh-CN" altLang="en-US" sz="1200" kern="1200">
                            <a:solidFill>
                              <a:schemeClr val="tx1"/>
                            </a:solidFill>
                            <a:latin typeface="Cambria Math" panose="02040503050406030204" pitchFamily="18" charset="0"/>
                            <a:ea typeface="+mn-ea"/>
                            <a:cs typeface="+mn-cs"/>
                          </a:rPr>
                          <m:t>∣</m:t>
                        </m:r>
                        <m:r>
                          <a:rPr lang="en-US" altLang="zh-CN" sz="1200" i="0" kern="1200">
                            <a:solidFill>
                              <a:schemeClr val="tx1"/>
                            </a:solidFill>
                            <a:latin typeface="Cambria Math" panose="02040503050406030204" pitchFamily="18" charset="0"/>
                            <a:ea typeface="+mn-ea"/>
                            <a:cs typeface="+mn-cs"/>
                          </a:rPr>
                          <m:t>1</m:t>
                        </m:r>
                      </m:e>
                    </m:d>
                  </m:oMath>
                </a14:m>
                <a:r>
                  <a:rPr lang="zh-CN" altLang="zh-CN" b="1" dirty="0"/>
                  <a:t>，而球面上的其他位置就可以表示不同的叠加状态</a:t>
                </a:r>
                <a:r>
                  <a:rPr lang="zh-CN" altLang="zh-CN" dirty="0"/>
                  <a:t>。</a:t>
                </a:r>
                <a:endParaRPr lang="en-US" altLang="zh-CN" dirty="0"/>
              </a:p>
              <a:p>
                <a:r>
                  <a:rPr lang="zh-CN" altLang="zh-CN" dirty="0"/>
                  <a:t>当量子比特数量增加以后，能够描述的状态空间会快速扩大。比如 1 个量子比特对应 2 个基本状态，到了 </a:t>
                </a:r>
                <a:r>
                  <a:rPr lang="zh-CN" altLang="zh-CN" b="1" dirty="0"/>
                  <a:t>n 个量子比特，就对应 </a:t>
                </a:r>
                <a14:m>
                  <m:oMath xmlns:m="http://schemas.openxmlformats.org/officeDocument/2006/math">
                    <m:sSup>
                      <m:sSupPr>
                        <m:ctrlPr>
                          <a:rPr lang="en-US" altLang="zh-CN" sz="1200" kern="1200">
                            <a:solidFill>
                              <a:schemeClr val="tx1"/>
                            </a:solidFill>
                            <a:latin typeface="Cambria Math" panose="02040503050406030204" pitchFamily="18" charset="0"/>
                            <a:ea typeface="+mn-ea"/>
                            <a:cs typeface="+mn-cs"/>
                          </a:rPr>
                        </m:ctrlPr>
                      </m:sSupPr>
                      <m:e>
                        <m:r>
                          <a:rPr lang="en-US" altLang="zh-CN" sz="1200" kern="1200">
                            <a:solidFill>
                              <a:schemeClr val="tx1"/>
                            </a:solidFill>
                            <a:latin typeface="Cambria Math" panose="02040503050406030204" pitchFamily="18" charset="0"/>
                            <a:ea typeface="+mn-ea"/>
                            <a:cs typeface="+mn-cs"/>
                          </a:rPr>
                          <m:t>2</m:t>
                        </m:r>
                      </m:e>
                      <m:sup>
                        <m:r>
                          <a:rPr lang="zh-CN" altLang="en-US" sz="1200" i="1" kern="1200">
                            <a:solidFill>
                              <a:schemeClr val="tx1"/>
                            </a:solidFill>
                            <a:latin typeface="Cambria Math" panose="02040503050406030204" pitchFamily="18" charset="0"/>
                            <a:ea typeface="+mn-ea"/>
                            <a:cs typeface="+mn-cs"/>
                          </a:rPr>
                          <m:t>𝑛</m:t>
                        </m:r>
                      </m:sup>
                    </m:sSup>
                  </m:oMath>
                </a14:m>
                <a:r>
                  <a:rPr lang="zh-CN" altLang="zh-CN" b="1" dirty="0"/>
                  <a:t>个基本状态</a:t>
                </a:r>
                <a:r>
                  <a:rPr lang="zh-CN" altLang="zh-CN" dirty="0"/>
                  <a:t>。而利用叠加态，量子系统可以处在这些基本状态共同构成的叠加状态中。</a:t>
                </a:r>
                <a:endParaRPr lang="en-US" altLang="zh-CN" dirty="0"/>
              </a:p>
              <a:p>
                <a:r>
                  <a:rPr lang="zh-CN" altLang="zh-CN" dirty="0"/>
                  <a:t>有了量子状态以后，我们通过量子线路中的各种操作，去改变不同状态的</a:t>
                </a:r>
                <a:r>
                  <a:rPr lang="zh-CN" altLang="zh-CN" b="1" dirty="0"/>
                  <a:t>振幅和相位</a:t>
                </a:r>
                <a:r>
                  <a:rPr lang="zh-CN" altLang="zh-CN" dirty="0"/>
                  <a:t>。大家可以把这个过程简单理解成：我们在不断调整各个结果最终出现的可能性。</a:t>
                </a:r>
              </a:p>
              <a:p>
                <a:r>
                  <a:rPr lang="zh-CN" altLang="zh-CN" dirty="0"/>
                  <a:t>经过一系列量子操作以后，再对量子比特进行</a:t>
                </a:r>
                <a:r>
                  <a:rPr lang="zh-CN" altLang="zh-CN" b="1" dirty="0"/>
                  <a:t>测量</a:t>
                </a:r>
                <a:r>
                  <a:rPr lang="zh-CN" altLang="zh-CN" dirty="0"/>
                  <a:t>。测量一次得到的是一个确定结果，所以通常会把量子线路运行很多次，最后统计出右边这样的</a:t>
                </a:r>
                <a:r>
                  <a:rPr lang="zh-CN" altLang="zh-CN" b="1" dirty="0"/>
                  <a:t>概率分布</a:t>
                </a:r>
                <a:r>
                  <a:rPr lang="zh-CN" altLang="zh-CN" dirty="0"/>
                  <a:t>。</a:t>
                </a:r>
                <a:endParaRPr lang="en-US" altLang="zh-CN" dirty="0"/>
              </a:p>
              <a:p>
                <a:r>
                  <a:rPr lang="zh-CN" altLang="zh-CN" dirty="0"/>
                  <a:t>量子计算并不是一次把 </a:t>
                </a:r>
                <a14:m>
                  <m:oMath xmlns:m="http://schemas.openxmlformats.org/officeDocument/2006/math">
                    <m:sSup>
                      <m:sSupPr>
                        <m:ctrlPr>
                          <a:rPr lang="en-US" altLang="zh-CN" sz="1200" kern="1200">
                            <a:solidFill>
                              <a:schemeClr val="tx1"/>
                            </a:solidFill>
                            <a:latin typeface="Cambria Math" panose="02040503050406030204" pitchFamily="18" charset="0"/>
                            <a:ea typeface="+mn-ea"/>
                            <a:cs typeface="+mn-cs"/>
                          </a:rPr>
                        </m:ctrlPr>
                      </m:sSupPr>
                      <m:e>
                        <m:r>
                          <a:rPr lang="en-US" altLang="zh-CN" sz="1200" kern="1200">
                            <a:solidFill>
                              <a:schemeClr val="tx1"/>
                            </a:solidFill>
                            <a:latin typeface="Cambria Math" panose="02040503050406030204" pitchFamily="18" charset="0"/>
                            <a:ea typeface="+mn-ea"/>
                            <a:cs typeface="+mn-cs"/>
                          </a:rPr>
                          <m:t>2</m:t>
                        </m:r>
                      </m:e>
                      <m:sup>
                        <m:r>
                          <a:rPr lang="zh-CN" altLang="en-US" sz="1200" i="1" kern="1200">
                            <a:solidFill>
                              <a:schemeClr val="tx1"/>
                            </a:solidFill>
                            <a:latin typeface="Cambria Math" panose="02040503050406030204" pitchFamily="18" charset="0"/>
                            <a:ea typeface="+mn-ea"/>
                            <a:cs typeface="+mn-cs"/>
                          </a:rPr>
                          <m:t>𝑛</m:t>
                        </m:r>
                      </m:sup>
                    </m:sSup>
                  </m:oMath>
                </a14:m>
                <a:r>
                  <a:rPr lang="zh-CN" altLang="zh-CN" dirty="0"/>
                  <a:t>个答案全部读出来，而是利用叠加、相位和干涉，重新塑造结果的概率分布，让我们想要的结果更容易在测量中出现。</a:t>
                </a:r>
                <a:endParaRPr lang="en-US" altLang="zh-CN" dirty="0"/>
              </a:p>
              <a:p>
                <a:endParaRPr lang="en-US" altLang="zh-CN" dirty="0"/>
              </a:p>
              <a:p>
                <a:r>
                  <a:rPr lang="zh-CN" altLang="en-US" dirty="0"/>
                  <a:t>量子计算具有这样的处理信息的优势，而我们想要借助这种优势去解决问题，重点在于如何把问题对应到量子态上并设计这样的演化过程</a:t>
                </a:r>
              </a:p>
            </p:txBody>
          </p:sp>
        </mc:Choice>
        <mc:Fallback xmlns="">
          <p:sp>
            <p:nvSpPr>
              <p:cNvPr id="3" name="备注占位符 2">
                <a:extLst>
                  <a:ext uri="{FF2B5EF4-FFF2-40B4-BE49-F238E27FC236}">
                    <a16:creationId xmlns:a16="http://schemas.microsoft.com/office/drawing/2014/main" id="{8941CE87-534F-02C6-2EBC-C18DF7F2FE27}"/>
                  </a:ext>
                </a:extLst>
              </p:cNvPr>
              <p:cNvSpPr>
                <a:spLocks noGrp="1"/>
              </p:cNvSpPr>
              <p:nvPr>
                <p:ph type="body" idx="1"/>
              </p:nvPr>
            </p:nvSpPr>
            <p:spPr/>
            <p:txBody>
              <a:bodyPr/>
              <a:lstStyle/>
              <a:p>
                <a:r>
                  <a:rPr lang="en-US" altLang="zh-CN" dirty="0"/>
                  <a:t>2min</a:t>
                </a:r>
              </a:p>
              <a:p>
                <a:r>
                  <a:rPr lang="zh-CN" altLang="en-US" dirty="0"/>
                  <a:t>在讲这个问题之前，我们还是来看一下量子计算、量子算法是怎么解决问题的，所谓的量子计算的优势是来源于什么。</a:t>
                </a:r>
                <a:endParaRPr lang="en-US" altLang="zh-CN" dirty="0"/>
              </a:p>
              <a:p>
                <a:r>
                  <a:rPr lang="zh-CN" altLang="en-US" dirty="0"/>
                  <a:t>首先，从信息表示上，</a:t>
                </a:r>
                <a:r>
                  <a:rPr lang="zh-CN" altLang="zh-CN" dirty="0"/>
                  <a:t>经典比特只能处在确定的 0 或者 1，而量子比特可以处在 </a:t>
                </a:r>
                <a:r>
                  <a:rPr lang="zh-CN" altLang="zh-CN" b="1" dirty="0"/>
                  <a:t>0 和 1 的叠加状态</a:t>
                </a:r>
                <a:r>
                  <a:rPr lang="zh-CN" altLang="zh-CN" dirty="0"/>
                  <a:t>。</a:t>
                </a:r>
                <a:r>
                  <a:rPr lang="zh-CN" altLang="en-US" dirty="0"/>
                  <a:t>我们可以借助球体来表示量子比特，</a:t>
                </a:r>
                <a:r>
                  <a:rPr lang="zh-CN" altLang="zh-CN" b="1" dirty="0"/>
                  <a:t>球的两个极点分别对应 </a:t>
                </a:r>
                <a:r>
                  <a:rPr lang="zh-CN" altLang="en-US" sz="1200" i="0" kern="1200">
                    <a:solidFill>
                      <a:schemeClr val="tx1"/>
                    </a:solidFill>
                    <a:latin typeface="Cambria Math" panose="02040503050406030204" pitchFamily="18" charset="0"/>
                    <a:ea typeface="+mn-ea"/>
                    <a:cs typeface="+mn-cs"/>
                  </a:rPr>
                  <a:t>├ ∣</a:t>
                </a:r>
                <a:r>
                  <a:rPr lang="en-US" altLang="zh-CN" sz="1200" i="0" kern="1200">
                    <a:solidFill>
                      <a:schemeClr val="tx1"/>
                    </a:solidFill>
                    <a:latin typeface="Cambria Math" panose="02040503050406030204" pitchFamily="18" charset="0"/>
                    <a:ea typeface="+mn-ea"/>
                    <a:cs typeface="+mn-cs"/>
                  </a:rPr>
                  <a:t>0⟩</a:t>
                </a:r>
                <a:r>
                  <a:rPr lang="zh-CN" altLang="zh-CN" b="1" dirty="0"/>
                  <a:t>和 </a:t>
                </a:r>
                <a:r>
                  <a:rPr lang="zh-CN" altLang="en-US" sz="1200" i="0" kern="1200">
                    <a:solidFill>
                      <a:schemeClr val="tx1"/>
                    </a:solidFill>
                    <a:latin typeface="Cambria Math" panose="02040503050406030204" pitchFamily="18" charset="0"/>
                    <a:ea typeface="+mn-ea"/>
                    <a:cs typeface="+mn-cs"/>
                  </a:rPr>
                  <a:t>├ ∣</a:t>
                </a:r>
                <a:r>
                  <a:rPr lang="en-US" altLang="zh-CN" sz="1200" i="0" kern="1200">
                    <a:solidFill>
                      <a:schemeClr val="tx1"/>
                    </a:solidFill>
                    <a:latin typeface="Cambria Math" panose="02040503050406030204" pitchFamily="18" charset="0"/>
                    <a:ea typeface="+mn-ea"/>
                    <a:cs typeface="+mn-cs"/>
                  </a:rPr>
                  <a:t>1⟩</a:t>
                </a:r>
                <a:r>
                  <a:rPr lang="zh-CN" altLang="zh-CN" b="1" dirty="0"/>
                  <a:t>，而球面上的其他位置就可以表示不同的叠加状态</a:t>
                </a:r>
                <a:r>
                  <a:rPr lang="zh-CN" altLang="zh-CN" dirty="0"/>
                  <a:t>。</a:t>
                </a:r>
                <a:endParaRPr lang="en-US" altLang="zh-CN" dirty="0"/>
              </a:p>
              <a:p>
                <a:r>
                  <a:rPr lang="zh-CN" altLang="zh-CN" dirty="0"/>
                  <a:t>当量子比特数量增加以后，能够描述的状态空间会快速扩大。比如 1 个量子比特对应 2 个基本状态，到了 </a:t>
                </a:r>
                <a:r>
                  <a:rPr lang="zh-CN" altLang="zh-CN" b="1" dirty="0"/>
                  <a:t>n 个量子比特，就对应 </a:t>
                </a:r>
                <a:r>
                  <a:rPr lang="en-US" altLang="zh-CN" sz="1200" i="0" kern="1200">
                    <a:solidFill>
                      <a:schemeClr val="tx1"/>
                    </a:solidFill>
                    <a:latin typeface="Cambria Math" panose="02040503050406030204" pitchFamily="18" charset="0"/>
                    <a:ea typeface="+mn-ea"/>
                    <a:cs typeface="+mn-cs"/>
                  </a:rPr>
                  <a:t>2^</a:t>
                </a:r>
                <a:r>
                  <a:rPr lang="zh-CN" altLang="en-US" sz="1200" i="0" kern="1200">
                    <a:solidFill>
                      <a:schemeClr val="tx1"/>
                    </a:solidFill>
                    <a:latin typeface="Cambria Math" panose="02040503050406030204" pitchFamily="18" charset="0"/>
                    <a:ea typeface="+mn-ea"/>
                    <a:cs typeface="+mn-cs"/>
                  </a:rPr>
                  <a:t>𝑛</a:t>
                </a:r>
                <a:r>
                  <a:rPr lang="zh-CN" altLang="zh-CN" b="1" dirty="0"/>
                  <a:t>个基本状态</a:t>
                </a:r>
                <a:r>
                  <a:rPr lang="zh-CN" altLang="zh-CN" dirty="0"/>
                  <a:t>。而利用叠加态，量子系统可以处在这些基本状态共同构成的叠加状态中。</a:t>
                </a:r>
                <a:endParaRPr lang="en-US" altLang="zh-CN" dirty="0"/>
              </a:p>
              <a:p>
                <a:r>
                  <a:rPr lang="zh-CN" altLang="zh-CN" dirty="0"/>
                  <a:t>有了量子状态以后，我们通过量子线路中的各种操作，去改变不同状态的</a:t>
                </a:r>
                <a:r>
                  <a:rPr lang="zh-CN" altLang="zh-CN" b="1" dirty="0"/>
                  <a:t>振幅和相位</a:t>
                </a:r>
                <a:r>
                  <a:rPr lang="zh-CN" altLang="zh-CN" dirty="0"/>
                  <a:t>。大家可以把这个过程简单理解成：我们在不断调整各个结果最终出现的可能性。</a:t>
                </a:r>
              </a:p>
              <a:p>
                <a:r>
                  <a:rPr lang="zh-CN" altLang="zh-CN" dirty="0"/>
                  <a:t>经过一系列量子操作以后，再对量子比特进行</a:t>
                </a:r>
                <a:r>
                  <a:rPr lang="zh-CN" altLang="zh-CN" b="1" dirty="0"/>
                  <a:t>测量</a:t>
                </a:r>
                <a:r>
                  <a:rPr lang="zh-CN" altLang="zh-CN" dirty="0"/>
                  <a:t>。测量一次得到的是一个确定结果，所以通常会把量子线路运行很多次，最后统计出右边这样的</a:t>
                </a:r>
                <a:r>
                  <a:rPr lang="zh-CN" altLang="zh-CN" b="1" dirty="0"/>
                  <a:t>概率分布</a:t>
                </a:r>
                <a:r>
                  <a:rPr lang="zh-CN" altLang="zh-CN" dirty="0"/>
                  <a:t>。</a:t>
                </a:r>
                <a:endParaRPr lang="en-US" altLang="zh-CN" dirty="0"/>
              </a:p>
              <a:p>
                <a:r>
                  <a:rPr lang="zh-CN" altLang="zh-CN" dirty="0"/>
                  <a:t>量子计算并不是一次把 </a:t>
                </a:r>
                <a:r>
                  <a:rPr lang="en-US" altLang="zh-CN" sz="1200" i="0" kern="1200">
                    <a:solidFill>
                      <a:schemeClr val="tx1"/>
                    </a:solidFill>
                    <a:latin typeface="Cambria Math" panose="02040503050406030204" pitchFamily="18" charset="0"/>
                    <a:ea typeface="+mn-ea"/>
                    <a:cs typeface="+mn-cs"/>
                  </a:rPr>
                  <a:t>2^</a:t>
                </a:r>
                <a:r>
                  <a:rPr lang="zh-CN" altLang="en-US" sz="1200" i="0" kern="1200">
                    <a:solidFill>
                      <a:schemeClr val="tx1"/>
                    </a:solidFill>
                    <a:latin typeface="Cambria Math" panose="02040503050406030204" pitchFamily="18" charset="0"/>
                    <a:ea typeface="+mn-ea"/>
                    <a:cs typeface="+mn-cs"/>
                  </a:rPr>
                  <a:t>𝑛</a:t>
                </a:r>
                <a:r>
                  <a:rPr lang="zh-CN" altLang="zh-CN" dirty="0"/>
                  <a:t>个答案全部读出来，而是利用叠加、相位和干涉，重新塑造结果的概率分布，让我们想要的结果更容易在测量中出现。</a:t>
                </a:r>
                <a:endParaRPr lang="en-US" altLang="zh-CN" dirty="0"/>
              </a:p>
              <a:p>
                <a:endParaRPr lang="en-US" altLang="zh-CN" dirty="0"/>
              </a:p>
              <a:p>
                <a:r>
                  <a:rPr lang="zh-CN" altLang="en-US" dirty="0"/>
                  <a:t>量子计算具有这样的处理信息的优势，而我们想要借助这种优势去解决问题，重点在于如何把问题对应到量子态上并设计这样的演化过程</a:t>
                </a:r>
              </a:p>
            </p:txBody>
          </p:sp>
        </mc:Fallback>
      </mc:AlternateContent>
      <p:sp>
        <p:nvSpPr>
          <p:cNvPr id="4" name="灯片编号占位符 3">
            <a:extLst>
              <a:ext uri="{FF2B5EF4-FFF2-40B4-BE49-F238E27FC236}">
                <a16:creationId xmlns:a16="http://schemas.microsoft.com/office/drawing/2014/main" id="{F2C3734E-D540-88AC-7015-6E3F433451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85204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3D898-8531-FCE8-DB63-E0DC238FB6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3D135C-1175-3312-1D70-9D11FCA16B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923C0C-FBD5-82AC-9D40-EC947D875631}"/>
              </a:ext>
            </a:extLst>
          </p:cNvPr>
          <p:cNvSpPr>
            <a:spLocks noGrp="1"/>
          </p:cNvSpPr>
          <p:nvPr>
            <p:ph type="body" idx="1"/>
          </p:nvPr>
        </p:nvSpPr>
        <p:spPr/>
        <p:txBody>
          <a:bodyPr/>
          <a:lstStyle/>
          <a:p>
            <a:r>
              <a:rPr lang="en-US" altLang="zh-CN" dirty="0"/>
              <a:t>3min</a:t>
            </a:r>
          </a:p>
          <a:p>
            <a:r>
              <a:rPr lang="zh-CN" altLang="zh-CN" dirty="0"/>
              <a:t>基于</a:t>
            </a:r>
            <a:r>
              <a:rPr lang="zh-CN" altLang="en-US" dirty="0"/>
              <a:t>这个思路，</a:t>
            </a:r>
            <a:r>
              <a:rPr lang="zh-CN" altLang="zh-CN" dirty="0"/>
              <a:t>围绕不同的问题结构，现在已经发展出了很多不同类型的量子算法。</a:t>
            </a:r>
            <a:r>
              <a:rPr lang="zh-CN" altLang="en-US" dirty="0"/>
              <a:t>我们可以概括性地来看一下。</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b="1" dirty="0"/>
              <a:t>第一类是周期、相位以及代数结构相关的问题。</a:t>
            </a:r>
            <a:r>
              <a:rPr lang="zh-CN" altLang="zh-CN" dirty="0"/>
              <a:t>比较典型的就是 </a:t>
            </a:r>
            <a:r>
              <a:rPr lang="zh-CN" altLang="en-US" dirty="0"/>
              <a:t>大家知道比较多的</a:t>
            </a:r>
            <a:r>
              <a:rPr lang="zh-CN" altLang="zh-CN" b="1" dirty="0"/>
              <a:t>Shor 算法和量子相位估计</a:t>
            </a:r>
            <a:r>
              <a:rPr lang="zh-CN" altLang="en-US" b="1" dirty="0"/>
              <a:t>等</a:t>
            </a:r>
            <a:r>
              <a:rPr lang="zh-CN" altLang="zh-CN" dirty="0"/>
              <a:t>。Shor 算法可以利用周期结构来解决整数分解问题。</a:t>
            </a:r>
            <a:r>
              <a:rPr lang="zh-CN" altLang="zh-CN" b="1" dirty="0"/>
              <a:t>第二类，是搜索和概率估计。</a:t>
            </a:r>
            <a:r>
              <a:rPr lang="zh-CN" altLang="zh-CN" dirty="0"/>
              <a:t>最典型的是 </a:t>
            </a:r>
            <a:r>
              <a:rPr lang="zh-CN" altLang="zh-CN" b="1" dirty="0"/>
              <a:t>Grover 算法</a:t>
            </a:r>
            <a:r>
              <a:rPr lang="zh-CN" altLang="en-US" b="1" dirty="0"/>
              <a:t>，</a:t>
            </a:r>
            <a:r>
              <a:rPr lang="zh-CN" altLang="zh-CN" dirty="0"/>
              <a:t>利用我们</a:t>
            </a:r>
            <a:r>
              <a:rPr lang="zh-CN" altLang="en-US" dirty="0"/>
              <a:t>刚才</a:t>
            </a:r>
            <a:r>
              <a:rPr lang="zh-CN" altLang="zh-CN" dirty="0"/>
              <a:t>讲到的振幅放大，提高目标状态被测量到的概率</a:t>
            </a:r>
            <a:r>
              <a:rPr lang="zh-CN" altLang="en-US" dirty="0"/>
              <a:t>，把搜索复杂度从</a:t>
            </a:r>
            <a:r>
              <a:rPr lang="en-US" altLang="zh-CN" dirty="0"/>
              <a:t>n</a:t>
            </a:r>
            <a:r>
              <a:rPr lang="zh-CN" altLang="en-US" dirty="0"/>
              <a:t>降低到根号</a:t>
            </a:r>
            <a:r>
              <a:rPr lang="en-US" altLang="zh-CN" dirty="0"/>
              <a:t>n</a:t>
            </a:r>
            <a:r>
              <a:rPr lang="zh-CN" altLang="en-US" dirty="0"/>
              <a:t>的级别</a:t>
            </a:r>
            <a:r>
              <a:rPr lang="zh-CN" altLang="zh-CN" dirty="0"/>
              <a:t>。在这个基础上还有</a:t>
            </a:r>
            <a:r>
              <a:rPr lang="zh-CN" altLang="zh-CN" b="1" dirty="0"/>
              <a:t>振幅估计</a:t>
            </a:r>
            <a:r>
              <a:rPr lang="zh-CN" altLang="zh-CN" dirty="0"/>
              <a:t>，可以进一步用于概率</a:t>
            </a:r>
            <a:r>
              <a:rPr lang="zh-CN" altLang="en-US" dirty="0"/>
              <a:t>估计</a:t>
            </a:r>
            <a:r>
              <a:rPr lang="zh-CN" altLang="zh-CN" dirty="0"/>
              <a:t>以及</a:t>
            </a:r>
            <a:r>
              <a:rPr lang="zh-CN" altLang="en-US" dirty="0"/>
              <a:t>蒙特卡洛</a:t>
            </a:r>
            <a:r>
              <a:rPr lang="zh-CN" altLang="zh-CN" dirty="0"/>
              <a:t>等问题。</a:t>
            </a:r>
            <a:endParaRPr lang="en-US" altLang="zh-CN" dirty="0"/>
          </a:p>
          <a:p>
            <a:r>
              <a:rPr lang="zh-CN" altLang="zh-CN" dirty="0"/>
              <a:t>这</a:t>
            </a:r>
            <a:r>
              <a:rPr lang="zh-CN" altLang="en-US" dirty="0"/>
              <a:t>两类</a:t>
            </a:r>
            <a:r>
              <a:rPr lang="zh-CN" altLang="zh-CN" dirty="0"/>
              <a:t>算法已经有比较清楚的理论复杂度优势</a:t>
            </a:r>
            <a:r>
              <a:rPr lang="zh-CN" altLang="en-US" dirty="0"/>
              <a:t>，但是受限于当前真机水平还没有在真机上验证优势</a:t>
            </a:r>
            <a:r>
              <a:rPr lang="zh-CN" altLang="zh-CN" dirty="0"/>
              <a:t>。</a:t>
            </a:r>
            <a:endParaRPr lang="en-US" altLang="zh-CN" dirty="0"/>
          </a:p>
          <a:p>
            <a:endParaRPr lang="zh-CN" altLang="zh-CN" dirty="0"/>
          </a:p>
          <a:p>
            <a:r>
              <a:rPr lang="zh-CN" altLang="zh-CN" b="1" dirty="0"/>
              <a:t>第三类，是量子系统模拟。</a:t>
            </a:r>
            <a:r>
              <a:rPr lang="zh-CN" altLang="zh-CN" dirty="0"/>
              <a:t>这其实是量子计算非常自然的一类应用，因为我们本身就是利用一个可控的量子系统，去模拟另外一个复杂的量子系统。比如在量子化学、材料以及多体物理问题中，可以使用</a:t>
            </a:r>
            <a:r>
              <a:rPr lang="zh-CN" altLang="en-US" dirty="0"/>
              <a:t>哈密顿量模拟等</a:t>
            </a:r>
            <a:r>
              <a:rPr lang="zh-CN" altLang="zh-CN" dirty="0"/>
              <a:t>。</a:t>
            </a:r>
            <a:r>
              <a:rPr lang="zh-CN" altLang="zh-CN" b="1" dirty="0"/>
              <a:t>第四类是优化、科学计算以及机器学习。</a:t>
            </a:r>
            <a:r>
              <a:rPr lang="zh-CN" altLang="zh-CN" dirty="0"/>
              <a:t>比如组合优化</a:t>
            </a:r>
            <a:r>
              <a:rPr lang="zh-CN" altLang="en-US" dirty="0"/>
              <a:t>问题</a:t>
            </a:r>
            <a:r>
              <a:rPr lang="zh-CN" altLang="zh-CN" dirty="0"/>
              <a:t>中的 QAOA，线性代数中的 HHL，以及 Quantum Kernel、Quantum Neural Network 等量子机器学习方法。</a:t>
            </a:r>
            <a:endParaRPr lang="en-US" altLang="zh-CN" dirty="0"/>
          </a:p>
          <a:p>
            <a:r>
              <a:rPr lang="zh-CN" altLang="en-US" dirty="0"/>
              <a:t>这两类算法是目前研究比较活跃，一部分可以在真机上去运行的算法，但是</a:t>
            </a:r>
            <a:r>
              <a:rPr lang="zh-CN" altLang="zh-CN" dirty="0"/>
              <a:t>在广泛的实际问题上，能不能</a:t>
            </a:r>
            <a:r>
              <a:rPr lang="zh-CN" altLang="en-US" dirty="0"/>
              <a:t>相比</a:t>
            </a:r>
            <a:r>
              <a:rPr lang="zh-CN" altLang="zh-CN" dirty="0"/>
              <a:t>经典算法</a:t>
            </a:r>
            <a:r>
              <a:rPr lang="zh-CN" altLang="en-US" dirty="0"/>
              <a:t>体现优势</a:t>
            </a:r>
            <a:r>
              <a:rPr lang="zh-CN" altLang="zh-CN" dirty="0"/>
              <a:t>，仍然是</a:t>
            </a:r>
            <a:r>
              <a:rPr lang="zh-CN" altLang="en-US" dirty="0"/>
              <a:t>还在探索的</a:t>
            </a:r>
            <a:r>
              <a:rPr lang="zh-CN" altLang="zh-CN" dirty="0"/>
              <a:t>问题。</a:t>
            </a:r>
            <a:endParaRPr lang="en-US" altLang="zh-CN" dirty="0"/>
          </a:p>
          <a:p>
            <a:endParaRPr lang="en-US" altLang="zh-CN" b="1" dirty="0"/>
          </a:p>
          <a:p>
            <a:r>
              <a:rPr lang="zh-CN" altLang="zh-CN" dirty="0"/>
              <a:t>但是对于我们今天这个报告来说，</a:t>
            </a:r>
            <a:r>
              <a:rPr lang="zh-CN" altLang="en-US" dirty="0"/>
              <a:t>从</a:t>
            </a:r>
            <a:r>
              <a:rPr lang="zh-CN" altLang="zh-CN" b="1" dirty="0"/>
              <a:t>计算机系统的角度，</a:t>
            </a:r>
            <a:r>
              <a:rPr lang="zh-CN" altLang="en-US" b="1" dirty="0"/>
              <a:t>更关心的是，经典问题怎么映射到量子程序的输入，量子算法对应的程序怎么写，结果的输出怎么分析</a:t>
            </a:r>
            <a:r>
              <a:rPr lang="zh-CN" altLang="zh-CN" b="1" dirty="0"/>
              <a:t>。</a:t>
            </a:r>
            <a:r>
              <a:rPr lang="zh-CN" altLang="en-US" b="1" dirty="0"/>
              <a:t>下面我们就以其中一种量子算法“</a:t>
            </a:r>
            <a:r>
              <a:rPr lang="en-US" altLang="zh-CN" b="1" dirty="0"/>
              <a:t>QAOA</a:t>
            </a:r>
            <a:r>
              <a:rPr lang="zh-CN" altLang="en-US" b="1" dirty="0"/>
              <a:t>”来看，量子算法到量子线路到量子程序的过程。</a:t>
            </a:r>
            <a:endParaRPr lang="zh-CN" altLang="zh-CN" dirty="0"/>
          </a:p>
        </p:txBody>
      </p:sp>
      <p:sp>
        <p:nvSpPr>
          <p:cNvPr id="4" name="灯片编号占位符 3">
            <a:extLst>
              <a:ext uri="{FF2B5EF4-FFF2-40B4-BE49-F238E27FC236}">
                <a16:creationId xmlns:a16="http://schemas.microsoft.com/office/drawing/2014/main" id="{1A46A86E-F7DB-1623-D25A-C8C79C619D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21222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CFB8-FB4F-8968-D925-36D378E02E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5F30A9-6BF4-7741-55A0-A0745CDC61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288DF0-9380-1856-E68B-205F6EC9994D}"/>
              </a:ext>
            </a:extLst>
          </p:cNvPr>
          <p:cNvSpPr>
            <a:spLocks noGrp="1"/>
          </p:cNvSpPr>
          <p:nvPr>
            <p:ph type="body" idx="1"/>
          </p:nvPr>
        </p:nvSpPr>
        <p:spPr/>
        <p:txBody>
          <a:bodyPr/>
          <a:lstStyle/>
          <a:p>
            <a:r>
              <a:rPr lang="en-US" altLang="zh-CN" dirty="0"/>
              <a:t>3min</a:t>
            </a:r>
          </a:p>
          <a:p>
            <a:r>
              <a:rPr lang="zh-CN" altLang="zh-CN" dirty="0"/>
              <a:t>这里我们选择一个组合优化问题</a:t>
            </a:r>
            <a:r>
              <a:rPr lang="zh-CN" altLang="zh-CN" b="1" dirty="0"/>
              <a:t>，也就是最大割问题</a:t>
            </a:r>
            <a:r>
              <a:rPr lang="zh-CN" altLang="zh-CN" dirty="0"/>
              <a:t>。问题本身非常直观。给定一个图，我们希望把这些节点分成两组，使两组之间跨越的边尽可能多。</a:t>
            </a:r>
            <a:r>
              <a:rPr lang="zh-CN" altLang="en-US" dirty="0"/>
              <a:t>如果每个节点</a:t>
            </a:r>
            <a:r>
              <a:rPr lang="en-US" altLang="zh-CN" dirty="0"/>
              <a:t>0</a:t>
            </a:r>
            <a:r>
              <a:rPr lang="zh-CN" altLang="en-US" dirty="0"/>
              <a:t>表示它在组</a:t>
            </a:r>
            <a:r>
              <a:rPr lang="en-US" altLang="zh-CN" dirty="0"/>
              <a:t>A</a:t>
            </a:r>
            <a:r>
              <a:rPr lang="zh-CN" altLang="en-US" dirty="0"/>
              <a:t>，</a:t>
            </a:r>
            <a:r>
              <a:rPr lang="en-US" altLang="zh-CN" dirty="0"/>
              <a:t>1</a:t>
            </a:r>
            <a:r>
              <a:rPr lang="zh-CN" altLang="en-US" dirty="0"/>
              <a:t>表示在组</a:t>
            </a:r>
            <a:r>
              <a:rPr lang="en-US" altLang="zh-CN" dirty="0"/>
              <a:t>B</a:t>
            </a:r>
            <a:r>
              <a:rPr lang="zh-CN" altLang="en-US" dirty="0"/>
              <a:t>，那么可能的方案有</a:t>
            </a:r>
            <a:r>
              <a:rPr lang="en-US" altLang="zh-CN" dirty="0"/>
              <a:t>2</a:t>
            </a:r>
            <a:r>
              <a:rPr lang="zh-CN" altLang="en-US" dirty="0"/>
              <a:t>的</a:t>
            </a:r>
            <a:r>
              <a:rPr lang="en-US" altLang="zh-CN" dirty="0"/>
              <a:t>n</a:t>
            </a:r>
            <a:r>
              <a:rPr lang="zh-CN" altLang="en-US" dirty="0"/>
              <a:t>次方种。要找到最大割结果是一个</a:t>
            </a:r>
            <a:r>
              <a:rPr lang="en-US" altLang="zh-CN" dirty="0"/>
              <a:t>NP</a:t>
            </a:r>
            <a:r>
              <a:rPr lang="zh-CN" altLang="en-US" dirty="0"/>
              <a:t>问题。</a:t>
            </a:r>
            <a:endParaRPr lang="en-US" altLang="zh-CN" dirty="0"/>
          </a:p>
          <a:p>
            <a:r>
              <a:rPr lang="zh-CN" altLang="en-US" dirty="0"/>
              <a:t>为什么为发展出量子算法，因为</a:t>
            </a:r>
            <a:r>
              <a:rPr lang="en-US" altLang="zh-CN" dirty="0"/>
              <a:t>……</a:t>
            </a:r>
            <a:r>
              <a:rPr lang="zh-CN" altLang="en-US" dirty="0"/>
              <a:t>。所以针对这个问题，很快发展出了量子算法叫做</a:t>
            </a:r>
            <a:r>
              <a:rPr lang="en-US" altLang="zh-CN" dirty="0"/>
              <a:t>QAOA</a:t>
            </a:r>
            <a:r>
              <a:rPr lang="zh-CN" altLang="en-US" dirty="0"/>
              <a:t>量子随机游走算法。</a:t>
            </a:r>
            <a:endParaRPr lang="en-US" altLang="zh-CN" dirty="0"/>
          </a:p>
          <a:p>
            <a:r>
              <a:rPr lang="zh-CN" altLang="en-US" b="1" dirty="0"/>
              <a:t>这个算法的思路大概是这样的：</a:t>
            </a:r>
            <a:endParaRPr lang="en-US" altLang="zh-CN" b="1" dirty="0"/>
          </a:p>
          <a:p>
            <a:r>
              <a:rPr lang="zh-CN" altLang="zh-CN" b="1" dirty="0"/>
              <a:t>第一步</a:t>
            </a:r>
            <a:r>
              <a:rPr lang="zh-CN" altLang="en-US" b="1" dirty="0"/>
              <a:t>是</a:t>
            </a:r>
            <a:r>
              <a:rPr lang="zh-CN" altLang="zh-CN" b="1" dirty="0"/>
              <a:t>编码。</a:t>
            </a:r>
            <a:r>
              <a:rPr lang="zh-CN" altLang="zh-CN" dirty="0"/>
              <a:t>。在 QAOA 里，一般会先通过 H 门构造初始状态。</a:t>
            </a:r>
            <a:r>
              <a:rPr lang="zh-CN" altLang="en-US" dirty="0"/>
              <a:t>在这个状态下，每个</a:t>
            </a:r>
            <a:endParaRPr lang="zh-CN" altLang="zh-CN" dirty="0"/>
          </a:p>
          <a:p>
            <a:r>
              <a:rPr lang="zh-CN" altLang="zh-CN" b="1" dirty="0"/>
              <a:t>第二步，</a:t>
            </a:r>
            <a:r>
              <a:rPr lang="zh-CN" altLang="en-US" b="1" dirty="0"/>
              <a:t>是</a:t>
            </a:r>
            <a:r>
              <a:rPr lang="zh-CN" altLang="zh-CN" b="1" dirty="0"/>
              <a:t>改变候选解的概率分布。</a:t>
            </a:r>
            <a:endParaRPr lang="en-US" altLang="zh-CN" b="1" dirty="0"/>
          </a:p>
          <a:p>
            <a:r>
              <a:rPr lang="zh-CN" altLang="en-US" b="1" dirty="0"/>
              <a:t>这个问题不详细介绍了，总的来说就是在量子线路中编码问题结构和解评价函数、构造演化层，使得高质量解概率更高。最终通过测量会得到这样的概率分布，然后我们在经典计算机上去评估各个候选解。</a:t>
            </a:r>
            <a:endParaRPr lang="en-US" altLang="zh-CN" b="1" dirty="0"/>
          </a:p>
          <a:p>
            <a:endParaRPr lang="en-US" altLang="zh-CN" b="1" dirty="0"/>
          </a:p>
          <a:p>
            <a:r>
              <a:rPr lang="zh-CN" altLang="zh-CN" dirty="0"/>
              <a:t>另外，QAOA 并不是执行一次线路就得到最优解，而是一个</a:t>
            </a:r>
            <a:r>
              <a:rPr lang="zh-CN" altLang="zh-CN" b="1" dirty="0"/>
              <a:t>经典—量子迭代优化过程</a:t>
            </a:r>
            <a:r>
              <a:rPr lang="zh-CN" altLang="zh-CN" dirty="0"/>
              <a:t>。QPU 根据当前参数执行量子线路并多次采样，CPU 根据测量结果评估目标函数，再利用经典优化器更新参数。如此反复迭代，直到满足停止条件，最终得到一组优化参数，并从测量结果中获得</a:t>
            </a:r>
            <a:r>
              <a:rPr lang="zh-CN" altLang="zh-CN" b="1" dirty="0"/>
              <a:t>高质量候选解</a:t>
            </a:r>
            <a:r>
              <a:rPr lang="zh-CN" altLang="zh-CN" dirty="0"/>
              <a:t>。</a:t>
            </a:r>
            <a:endParaRPr lang="en-US" altLang="zh-CN" dirty="0"/>
          </a:p>
          <a:p>
            <a:r>
              <a:rPr lang="zh-CN" altLang="en-US" dirty="0"/>
              <a:t>而参数的调整是通过</a:t>
            </a:r>
            <a:r>
              <a:rPr lang="zh-CN" altLang="zh-CN" b="1" dirty="0"/>
              <a:t>经典计算机</a:t>
            </a:r>
            <a:r>
              <a:rPr lang="zh-CN" altLang="en-US" b="1" dirty="0"/>
              <a:t>完成的</a:t>
            </a:r>
            <a:r>
              <a:rPr lang="zh-CN" altLang="zh-CN" b="1" dirty="0"/>
              <a:t>。</a:t>
            </a:r>
            <a:r>
              <a:rPr lang="zh-CN" altLang="zh-CN" dirty="0"/>
              <a:t>所以 QAOA 天然就是一个非常典型的</a:t>
            </a:r>
            <a:r>
              <a:rPr lang="zh-CN" altLang="zh-CN" b="1" dirty="0"/>
              <a:t>经典—量子混合计算过程。</a:t>
            </a:r>
            <a:endParaRPr lang="zh-CN" altLang="zh-CN" dirty="0"/>
          </a:p>
          <a:p>
            <a:endParaRPr lang="zh-CN" altLang="zh-CN" dirty="0"/>
          </a:p>
          <a:p>
            <a:r>
              <a:rPr lang="zh-CN" altLang="zh-CN" dirty="0"/>
              <a:t>现在算法已经有了，下一步就是：</a:t>
            </a:r>
            <a:r>
              <a:rPr lang="zh-CN" altLang="zh-CN" b="1" dirty="0"/>
              <a:t>怎么把它真正写成程序？</a:t>
            </a:r>
            <a:endParaRPr lang="zh-CN" altLang="zh-CN" dirty="0"/>
          </a:p>
          <a:p>
            <a:endParaRPr lang="en-US" altLang="zh-CN" dirty="0"/>
          </a:p>
        </p:txBody>
      </p:sp>
      <p:sp>
        <p:nvSpPr>
          <p:cNvPr id="4" name="灯片编号占位符 3">
            <a:extLst>
              <a:ext uri="{FF2B5EF4-FFF2-40B4-BE49-F238E27FC236}">
                <a16:creationId xmlns:a16="http://schemas.microsoft.com/office/drawing/2014/main" id="{BB36D24C-EE9D-3E1E-8C52-12ACE4D426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97221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463A2-D2ED-5534-8F36-C0A9149872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FD3C35-E49E-CF97-F35D-5AC41CB1BF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F06369-D0D4-7498-B4AA-96B99D9FE98A}"/>
              </a:ext>
            </a:extLst>
          </p:cNvPr>
          <p:cNvSpPr>
            <a:spLocks noGrp="1"/>
          </p:cNvSpPr>
          <p:nvPr>
            <p:ph type="body" idx="1"/>
          </p:nvPr>
        </p:nvSpPr>
        <p:spPr/>
        <p:txBody>
          <a:bodyPr/>
          <a:lstStyle/>
          <a:p>
            <a:r>
              <a:rPr lang="en-US" altLang="zh-CN" dirty="0"/>
              <a:t>2min30s</a:t>
            </a:r>
          </a:p>
          <a:p>
            <a:r>
              <a:rPr lang="zh-CN" altLang="en-US" dirty="0"/>
              <a:t>如果没有接触过量子程序，</a:t>
            </a:r>
            <a:r>
              <a:rPr lang="zh-CN" altLang="zh-CN" dirty="0"/>
              <a:t>大家可能首先会有一个直觉：量子计算采用了完全不同的计算模型，那是不是也需要重新设计一套完全不同的编程语言？</a:t>
            </a:r>
          </a:p>
          <a:p>
            <a:r>
              <a:rPr lang="zh-CN" altLang="zh-CN" dirty="0"/>
              <a:t>实际上，目前主流的量子程序开发并没有完全脱离我们现有的经典软件体系。</a:t>
            </a:r>
            <a:endParaRPr lang="en-US" altLang="zh-CN" dirty="0"/>
          </a:p>
          <a:p>
            <a:r>
              <a:rPr lang="zh-CN" altLang="zh-CN" dirty="0"/>
              <a:t>大多数情况下，我们仍然使用非常熟悉的经典编程语言，尤其是 Python，也包括 C++。在这些经典语言的基础上，通过量子计算 SDK 或者编程框架，引入 qubit、quantum gate、quantum circuit、measurement 这些新的量子计算抽象。</a:t>
            </a:r>
            <a:endParaRPr lang="en-US" altLang="zh-CN" dirty="0"/>
          </a:p>
          <a:p>
            <a:r>
              <a:rPr lang="zh-CN" altLang="zh-CN" dirty="0"/>
              <a:t>所以从程序员的角度看，</a:t>
            </a:r>
            <a:r>
              <a:rPr lang="zh-CN" altLang="en-US" dirty="0"/>
              <a:t>写量子程序实际上就是</a:t>
            </a:r>
            <a:r>
              <a:rPr lang="zh-CN" altLang="zh-CN" dirty="0"/>
              <a:t>通过相应的 API 去构造量子比特和量子门，最终形成一条 Quantum Circuit。</a:t>
            </a:r>
            <a:endParaRPr lang="en-US" altLang="zh-CN" dirty="0"/>
          </a:p>
          <a:p>
            <a:r>
              <a:rPr lang="zh-CN" altLang="zh-CN" dirty="0"/>
              <a:t>目前已经有很多这样的量子程序开发框架。比如 IBM 的 </a:t>
            </a:r>
            <a:r>
              <a:rPr lang="zh-CN" altLang="zh-CN" b="1" dirty="0"/>
              <a:t>Qiskit</a:t>
            </a:r>
            <a:r>
              <a:rPr lang="zh-CN" altLang="zh-CN" dirty="0"/>
              <a:t>，主要通过 Python 构造和编译量子线路；</a:t>
            </a:r>
            <a:r>
              <a:rPr lang="zh-CN" altLang="en-US" dirty="0"/>
              <a:t>以</a:t>
            </a:r>
            <a:r>
              <a:rPr lang="zh-CN" altLang="zh-CN" b="1" dirty="0"/>
              <a:t>QAOA</a:t>
            </a:r>
            <a:r>
              <a:rPr lang="zh-CN" altLang="en-US" b="1" dirty="0"/>
              <a:t>线路为例，它写成量子程序就是这样的表示</a:t>
            </a:r>
            <a:r>
              <a:rPr lang="zh-CN" altLang="zh-CN" b="1" dirty="0"/>
              <a:t>，</a:t>
            </a:r>
            <a:r>
              <a:rPr lang="zh-CN" altLang="en-US" b="1" dirty="0"/>
              <a:t>开头是导入</a:t>
            </a:r>
            <a:r>
              <a:rPr lang="en-US" altLang="zh-CN" b="1" dirty="0" err="1"/>
              <a:t>Qiskit</a:t>
            </a:r>
            <a:r>
              <a:rPr lang="zh-CN" altLang="en-US" b="1" dirty="0"/>
              <a:t>的包，然后使用提供的构造量子线路的</a:t>
            </a:r>
            <a:r>
              <a:rPr lang="en-US" altLang="zh-CN" b="1" dirty="0"/>
              <a:t>API</a:t>
            </a:r>
            <a:r>
              <a:rPr lang="zh-CN" altLang="en-US" b="1" dirty="0"/>
              <a:t>，构造一个量子线路对象，在其中添加对应比特上的量子门操作、测量操作构建成一个</a:t>
            </a:r>
            <a:r>
              <a:rPr lang="en-US" altLang="zh-CN" b="1" dirty="0"/>
              <a:t>QAOA</a:t>
            </a:r>
            <a:r>
              <a:rPr lang="zh-CN" altLang="en-US" b="1" dirty="0"/>
              <a:t>算法对应的线路</a:t>
            </a:r>
            <a:r>
              <a:rPr lang="zh-CN" altLang="zh-CN" b="1" dirty="0"/>
              <a:t>。</a:t>
            </a:r>
            <a:endParaRPr lang="en-US" altLang="zh-CN" b="1" dirty="0"/>
          </a:p>
          <a:p>
            <a:r>
              <a:rPr lang="zh-CN" altLang="en-US" b="1" dirty="0"/>
              <a:t>构建好线路之后，可以通过</a:t>
            </a:r>
            <a:r>
              <a:rPr lang="en-US" altLang="zh-CN" b="1" dirty="0" err="1"/>
              <a:t>Qiskit</a:t>
            </a:r>
            <a:r>
              <a:rPr lang="zh-CN" altLang="en-US" b="1" dirty="0"/>
              <a:t>提供的编译的</a:t>
            </a:r>
            <a:r>
              <a:rPr lang="en-US" altLang="zh-CN" b="1" dirty="0"/>
              <a:t>API</a:t>
            </a:r>
            <a:r>
              <a:rPr lang="zh-CN" altLang="en-US" b="1" dirty="0"/>
              <a:t>、提交到真机上的</a:t>
            </a:r>
            <a:r>
              <a:rPr lang="en-US" altLang="zh-CN" b="1" dirty="0"/>
              <a:t>API</a:t>
            </a:r>
            <a:r>
              <a:rPr lang="zh-CN" altLang="en-US" b="1" dirty="0"/>
              <a:t>、或者是提交到模拟器上的</a:t>
            </a:r>
            <a:r>
              <a:rPr lang="en-US" altLang="zh-CN" b="1" dirty="0"/>
              <a:t>API</a:t>
            </a:r>
            <a:r>
              <a:rPr lang="zh-CN" altLang="en-US" b="1" dirty="0"/>
              <a:t>去提交运行并得到结果。得到的结果我们刚才讲概率分布，实际上表示成数据就是一个字典，</a:t>
            </a:r>
            <a:r>
              <a:rPr lang="en-US" altLang="zh-CN" b="1" dirty="0"/>
              <a:t>key</a:t>
            </a:r>
            <a:r>
              <a:rPr lang="zh-CN" altLang="en-US" b="1" dirty="0"/>
              <a:t>是</a:t>
            </a:r>
            <a:r>
              <a:rPr lang="en-US" altLang="zh-CN" b="1" dirty="0"/>
              <a:t>01</a:t>
            </a:r>
            <a:r>
              <a:rPr lang="zh-CN" altLang="en-US" b="1" dirty="0"/>
              <a:t>比特串，</a:t>
            </a:r>
            <a:r>
              <a:rPr lang="en-US" altLang="zh-CN" b="1" dirty="0"/>
              <a:t>value</a:t>
            </a:r>
            <a:r>
              <a:rPr lang="zh-CN" altLang="en-US" b="1" dirty="0"/>
              <a:t>是对应的概率值。</a:t>
            </a:r>
            <a:endParaRPr lang="en-US" altLang="zh-CN" b="1" dirty="0"/>
          </a:p>
          <a:p>
            <a:endParaRPr lang="en-US" altLang="zh-CN" b="1" dirty="0"/>
          </a:p>
          <a:p>
            <a:r>
              <a:rPr lang="zh-CN" altLang="en-US" dirty="0"/>
              <a:t>那我们在经典计算机上基于</a:t>
            </a:r>
            <a:r>
              <a:rPr lang="zh-CN" altLang="zh-CN" b="1" dirty="0"/>
              <a:t>Python 中构造出来的这条 QuantumCircuit，</a:t>
            </a:r>
            <a:r>
              <a:rPr lang="zh-CN" altLang="en-US" b="1" dirty="0"/>
              <a:t>怎么</a:t>
            </a:r>
            <a:r>
              <a:rPr lang="zh-CN" altLang="zh-CN" b="1" dirty="0"/>
              <a:t>到真实 QPU 上</a:t>
            </a:r>
            <a:r>
              <a:rPr lang="zh-CN" altLang="en-US" b="1" dirty="0"/>
              <a:t>去运行</a:t>
            </a:r>
            <a:r>
              <a:rPr lang="zh-CN" altLang="zh-CN" b="1" dirty="0"/>
              <a:t>？</a:t>
            </a:r>
            <a:r>
              <a:rPr lang="zh-CN" altLang="zh-CN" dirty="0"/>
              <a:t>这里有一个很容易产生的误解：我们写完这段量子程序以后，是不是就像运行普通程序一样，把 Python 代码直接发送给量子处理器执行？</a:t>
            </a:r>
            <a:r>
              <a:rPr lang="zh-CN" altLang="en-US" dirty="0"/>
              <a:t>实际上的执行过程是什么样的</a:t>
            </a:r>
            <a:endParaRPr lang="zh-CN" altLang="zh-CN" dirty="0"/>
          </a:p>
        </p:txBody>
      </p:sp>
      <p:sp>
        <p:nvSpPr>
          <p:cNvPr id="4" name="灯片编号占位符 3">
            <a:extLst>
              <a:ext uri="{FF2B5EF4-FFF2-40B4-BE49-F238E27FC236}">
                <a16:creationId xmlns:a16="http://schemas.microsoft.com/office/drawing/2014/main" id="{E4A9FE18-C7F2-3CCD-1E43-2942049F05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72659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32A49-1976-A806-AA63-18047910EF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BFD40F-5429-2492-9E2A-33F844DC47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52FCC1-5B76-F2AF-3993-B0BD8B90AA61}"/>
              </a:ext>
            </a:extLst>
          </p:cNvPr>
          <p:cNvSpPr>
            <a:spLocks noGrp="1"/>
          </p:cNvSpPr>
          <p:nvPr>
            <p:ph type="body" idx="1"/>
          </p:nvPr>
        </p:nvSpPr>
        <p:spPr/>
        <p:txBody>
          <a:bodyPr/>
          <a:lstStyle/>
          <a:p>
            <a:r>
              <a:rPr lang="en-US" altLang="zh-CN" dirty="0"/>
              <a:t>3min30s</a:t>
            </a:r>
          </a:p>
          <a:p>
            <a:r>
              <a:rPr lang="zh-CN" altLang="zh-CN" dirty="0"/>
              <a:t>如果我们把整个系统展开来看，会发现从程序编写到真正的量子计算，中间仍然有非常多的经典计算设备。</a:t>
            </a:r>
            <a:endParaRPr lang="en-US" altLang="zh-CN" dirty="0"/>
          </a:p>
          <a:p>
            <a:r>
              <a:rPr lang="zh-CN" altLang="en-US" dirty="0"/>
              <a:t>一个常见的连接关系是这样的：我们的个人终端可以访问量子厂商提供的云平台服务器，这个服务器连接量子厂商的量子计算设备，可能是不同物理路线的设备，比如超导量子计算机、离子阱量子计算机和光量子计算机等等。</a:t>
            </a:r>
            <a:endParaRPr lang="en-US" altLang="zh-CN" dirty="0"/>
          </a:p>
          <a:p>
            <a:r>
              <a:rPr lang="zh-CN" altLang="en-US" dirty="0"/>
              <a:t>在我们的个人终端上，部署着编程所需要的</a:t>
            </a:r>
            <a:r>
              <a:rPr lang="en-US" altLang="zh-CN" dirty="0"/>
              <a:t>SDK……</a:t>
            </a:r>
            <a:r>
              <a:rPr lang="zh-CN" altLang="en-US" dirty="0"/>
              <a:t>，云平台服务器</a:t>
            </a:r>
            <a:r>
              <a:rPr lang="en-US" altLang="zh-CN" dirty="0"/>
              <a:t>……</a:t>
            </a:r>
            <a:r>
              <a:rPr lang="zh-CN" altLang="en-US" dirty="0"/>
              <a:t>。</a:t>
            </a:r>
            <a:endParaRPr lang="en-US" altLang="zh-CN" dirty="0"/>
          </a:p>
          <a:p>
            <a:r>
              <a:rPr lang="zh-CN" altLang="en-US" dirty="0"/>
              <a:t>在编程提交的过程中，</a:t>
            </a:r>
            <a:r>
              <a:rPr lang="zh-CN" altLang="zh-CN" dirty="0"/>
              <a:t>量子程序目前仍然是在经典计算机上编写的。因此下一步仍然是在经典计算资源上完成量子程序的编译。</a:t>
            </a:r>
            <a:r>
              <a:rPr lang="zh-CN" altLang="en-US" dirty="0"/>
              <a:t>编译可以通过个人终端上的编译器完成，也可以在云平台上完成，</a:t>
            </a:r>
            <a:r>
              <a:rPr lang="zh-CN" altLang="zh-CN" dirty="0"/>
              <a:t>编译器会获得目标 QPU 的信息，例如它有哪些物理 qubit、qubit 之间怎样连接、支持哪些原生量子门等等。把我们的抽象线路转换成一条与目标硬件相关的、满足目标 QPU 指令集约束的线路。所以到这里，我们得到第二种中间产物——面向目标硬件的 ISA Circuit。注意，到这一步为止，实际上仍然全部是经典计算。</a:t>
            </a:r>
          </a:p>
          <a:p>
            <a:r>
              <a:rPr lang="zh-CN" altLang="zh-CN" dirty="0"/>
              <a:t>接下来，这个编译后的任务会进入 Runtime 和任务调度系统。在实际的云量子计算平台中，这里可能还涉及用户提交任务、任务排队、选择具体 QPU、绑定参数等。</a:t>
            </a:r>
            <a:r>
              <a:rPr lang="zh-CN" altLang="en-US" dirty="0"/>
              <a:t>当</a:t>
            </a:r>
            <a:r>
              <a:rPr lang="zh-CN" altLang="zh-CN" dirty="0"/>
              <a:t>任务真正轮到 QPU 执行时，它会继续进入经典控制系统。这里又发生了一次非常重要的表示转换。QPU 本身并不认识 Python，也不认识我们在线路图中画出来的方框。控制系统需要进一步把这些量子指令转换成具有严格时间关系的底层控制操作，然后由 FPGA、AWG、DAC 等经典电子设备产生实际的物理控制信号。根据不同的量子硬件平台，这些控制信号可能是微波脉冲、激光脉冲或者其他物理信号。</a:t>
            </a:r>
            <a:r>
              <a:rPr lang="zh-CN" altLang="en-US" dirty="0"/>
              <a:t>然后执行的结果沿着路线返回到用户手中。对于我们刚才介绍的存在多轮的经典</a:t>
            </a:r>
            <a:r>
              <a:rPr lang="en-US" altLang="zh-CN" dirty="0"/>
              <a:t>-</a:t>
            </a:r>
            <a:r>
              <a:rPr lang="zh-CN" altLang="en-US" dirty="0"/>
              <a:t>量子迭代的</a:t>
            </a:r>
            <a:r>
              <a:rPr lang="en-US" altLang="zh-CN" dirty="0" err="1"/>
              <a:t>qaoa</a:t>
            </a:r>
            <a:r>
              <a:rPr lang="zh-CN" altLang="en-US" dirty="0"/>
              <a:t>来说，这个过程可能会迭代很多次。</a:t>
            </a:r>
            <a:endParaRPr lang="en-US" altLang="zh-CN" dirty="0"/>
          </a:p>
          <a:p>
            <a:endParaRPr lang="zh-CN" altLang="zh-CN" dirty="0"/>
          </a:p>
          <a:p>
            <a:r>
              <a:rPr lang="zh-CN" altLang="en-US" dirty="0"/>
              <a:t>在这个系统中，</a:t>
            </a:r>
            <a:r>
              <a:rPr lang="zh-CN" altLang="zh-CN" b="1" dirty="0"/>
              <a:t>经典程序负责描述问题，经典编译器负责适配硬件，经典运行时负责调度，经典控制电子学负责产生物理信号，QPU 负责完成量子态的演化和测量，然后结果重新回到经典计算系统。</a:t>
            </a:r>
            <a:endParaRPr lang="en-US" altLang="zh-CN" dirty="0"/>
          </a:p>
          <a:p>
            <a:endParaRPr lang="zh-CN" altLang="zh-CN" dirty="0"/>
          </a:p>
          <a:p>
            <a:r>
              <a:rPr lang="zh-CN" altLang="en-US" dirty="0"/>
              <a:t>接下来我们要看的就是从量子程序到量子汇编指令这个编译的过程。</a:t>
            </a:r>
          </a:p>
        </p:txBody>
      </p:sp>
      <p:sp>
        <p:nvSpPr>
          <p:cNvPr id="4" name="灯片编号占位符 3">
            <a:extLst>
              <a:ext uri="{FF2B5EF4-FFF2-40B4-BE49-F238E27FC236}">
                <a16:creationId xmlns:a16="http://schemas.microsoft.com/office/drawing/2014/main" id="{3FBF4B33-B3B1-A221-D3A4-231E84CC1B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95463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2AD76-BE32-68EF-E6EF-816ED75A02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C0DC62-AED4-0450-02B1-4A853B3DBF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79C0B3-1009-9B29-0AD5-5677BCF3A78F}"/>
              </a:ext>
            </a:extLst>
          </p:cNvPr>
          <p:cNvSpPr>
            <a:spLocks noGrp="1"/>
          </p:cNvSpPr>
          <p:nvPr>
            <p:ph type="body" idx="1"/>
          </p:nvPr>
        </p:nvSpPr>
        <p:spPr/>
        <p:txBody>
          <a:bodyPr/>
          <a:lstStyle/>
          <a:p>
            <a:r>
              <a:rPr lang="en-US" altLang="zh-CN" dirty="0"/>
              <a:t>3min</a:t>
            </a:r>
          </a:p>
          <a:p>
            <a:r>
              <a:rPr lang="zh-CN" altLang="zh-CN" dirty="0"/>
              <a:t>那么量子编译到底在做什么？</a:t>
            </a:r>
            <a:endParaRPr lang="en-US" altLang="zh-CN" dirty="0"/>
          </a:p>
          <a:p>
            <a:r>
              <a:rPr lang="zh-CN" altLang="en-US" dirty="0"/>
              <a:t>以</a:t>
            </a:r>
            <a:r>
              <a:rPr lang="zh-CN" altLang="zh-CN" b="1" dirty="0"/>
              <a:t>经典编译</a:t>
            </a:r>
            <a:r>
              <a:rPr lang="zh-CN" altLang="en-US" b="1" dirty="0"/>
              <a:t>来类比的话</a:t>
            </a:r>
            <a:r>
              <a:rPr lang="zh-CN" altLang="zh-CN" b="1" dirty="0"/>
              <a:t>。</a:t>
            </a:r>
            <a:r>
              <a:rPr lang="zh-CN" altLang="zh-CN" dirty="0"/>
              <a:t>比如我们写了一段 C 程序</a:t>
            </a:r>
            <a:r>
              <a:rPr lang="zh-CN" altLang="en-US" dirty="0"/>
              <a:t>，在编译成可执行文件的过程中，</a:t>
            </a:r>
            <a:r>
              <a:rPr lang="zh-CN" altLang="zh-CN" dirty="0"/>
              <a:t>编译器前端会对源程序进行解析，形成 AST，并进一步转换成 LLVM IR 这样的中间表示。</a:t>
            </a:r>
            <a:r>
              <a:rPr lang="zh-CN" altLang="en-US" dirty="0"/>
              <a:t>在中间表示上，</a:t>
            </a:r>
            <a:r>
              <a:rPr lang="zh-CN" altLang="zh-CN" dirty="0"/>
              <a:t>编译器可以进行一系列与目标相对独立的程序分析和优化。</a:t>
            </a:r>
            <a:r>
              <a:rPr lang="zh-CN" altLang="en-US" dirty="0"/>
              <a:t>会进行指令选择和寄存器分配</a:t>
            </a:r>
            <a:r>
              <a:rPr lang="zh-CN" altLang="zh-CN" dirty="0"/>
              <a:t>，把比较抽象的操作转换成目标处理器能够支持的指令；</a:t>
            </a:r>
            <a:r>
              <a:rPr lang="zh-CN" altLang="en-US" dirty="0"/>
              <a:t>通过寄存器分配</a:t>
            </a:r>
            <a:r>
              <a:rPr lang="zh-CN" altLang="zh-CN" dirty="0"/>
              <a:t>把程序里面大量的 virtual register 映射到真实 CPU 中数量有限的 physical register。</a:t>
            </a:r>
            <a:r>
              <a:rPr lang="zh-CN" altLang="en-US" dirty="0"/>
              <a:t>最终生成机器码。</a:t>
            </a:r>
            <a:endParaRPr lang="zh-CN" altLang="zh-CN" dirty="0"/>
          </a:p>
          <a:p>
            <a:endParaRPr lang="en-US" altLang="zh-CN" dirty="0"/>
          </a:p>
          <a:p>
            <a:r>
              <a:rPr lang="zh-CN" altLang="zh-CN" dirty="0"/>
              <a:t>那么量子编译其实也是非常类似的逻辑</a:t>
            </a:r>
            <a:r>
              <a:rPr lang="zh-CN" altLang="en-US" dirty="0"/>
              <a:t>，对于用高级编程语言缩写的量子程序，首先转化成中间表示，在这个中间表示上也要进行和目标平台无关的优化，主要目的是降低门个数和线路深度。</a:t>
            </a:r>
            <a:endParaRPr lang="en-US" altLang="zh-CN" dirty="0"/>
          </a:p>
          <a:p>
            <a:r>
              <a:rPr lang="zh-CN" altLang="en-US" dirty="0"/>
              <a:t>在从中间表示到目标量子汇编、指令的生成中，也要进行类似于指令选择和寄存器分配的过程，指令选择就是把程序中所写的量子门操作转换成目标平台支持的有限的基础门操作，另外一个不同于经典计算中的寄存器的问题是“比特映射和路由”的问题。逻辑量子比特要对应到物理量子比特上，现有的量子处理器上物理的量子比特之间的连接关系、可操作关系又是受限的，因此需要进行量子比特的交换路由。最终由目标量子汇编指令转换为控制量子处理器的物理信号。</a:t>
            </a:r>
            <a:endParaRPr lang="zh-CN" altLang="zh-CN" dirty="0"/>
          </a:p>
          <a:p>
            <a:r>
              <a:rPr lang="zh-CN" altLang="en-US" dirty="0"/>
              <a:t>但是总体上来说</a:t>
            </a:r>
            <a:r>
              <a:rPr lang="zh-CN" altLang="zh-CN" dirty="0"/>
              <a:t>：</a:t>
            </a:r>
          </a:p>
          <a:p>
            <a:r>
              <a:rPr lang="zh-CN" altLang="zh-CN" b="1" dirty="0"/>
              <a:t>量子编译并不是一个完全陌生的问题，它仍然遵循“高级抽象 → 中间表示 → 硬件映射 → 目标指令”这样一个非常经典的编译逻辑。</a:t>
            </a:r>
            <a:endParaRPr lang="zh-CN" altLang="zh-CN" dirty="0"/>
          </a:p>
          <a:p>
            <a:r>
              <a:rPr lang="zh-CN" altLang="zh-CN" dirty="0"/>
              <a:t>真正变化的是——</a:t>
            </a:r>
            <a:r>
              <a:rPr lang="zh-CN" altLang="zh-CN" b="1" dirty="0"/>
              <a:t>目标硬件从 CPU 变成了 QPU，因此编译器需要处理一组新的硬件约束。</a:t>
            </a:r>
            <a:endParaRPr lang="zh-CN" altLang="en-US" dirty="0"/>
          </a:p>
        </p:txBody>
      </p:sp>
      <p:sp>
        <p:nvSpPr>
          <p:cNvPr id="4" name="灯片编号占位符 3">
            <a:extLst>
              <a:ext uri="{FF2B5EF4-FFF2-40B4-BE49-F238E27FC236}">
                <a16:creationId xmlns:a16="http://schemas.microsoft.com/office/drawing/2014/main" id="{AD14904E-1B5D-D471-F063-3B938E5DD5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37841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E5E5A-ADBE-E3B3-52A4-8EC3E3104F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73AE3E-B2FC-B28B-11BF-B4CF3E5121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9E6114-B6B0-2EEC-B692-A239727C04F5}"/>
              </a:ext>
            </a:extLst>
          </p:cNvPr>
          <p:cNvSpPr>
            <a:spLocks noGrp="1"/>
          </p:cNvSpPr>
          <p:nvPr>
            <p:ph type="body" idx="1"/>
          </p:nvPr>
        </p:nvSpPr>
        <p:spPr/>
        <p:txBody>
          <a:bodyPr/>
          <a:lstStyle/>
          <a:p>
            <a:r>
              <a:rPr lang="en-US" altLang="zh-CN" dirty="0"/>
              <a:t>1min40s</a:t>
            </a:r>
          </a:p>
          <a:p>
            <a:r>
              <a:rPr lang="zh-CN" altLang="en-US" dirty="0"/>
              <a:t>我们以刚才的</a:t>
            </a:r>
            <a:r>
              <a:rPr lang="en-US" altLang="zh-CN" dirty="0" err="1"/>
              <a:t>qaoa</a:t>
            </a:r>
            <a:r>
              <a:rPr lang="zh-CN" altLang="en-US" dirty="0"/>
              <a:t>程序的转换来看这个过程。</a:t>
            </a:r>
            <a:endParaRPr lang="en-US" altLang="zh-CN" dirty="0"/>
          </a:p>
          <a:p>
            <a:r>
              <a:rPr lang="zh-CN" altLang="en-US" dirty="0"/>
              <a:t>在原程序中，我们构造了线路，写了一些量子门操作、比如</a:t>
            </a:r>
            <a:r>
              <a:rPr lang="en-US" altLang="zh-CN" dirty="0"/>
              <a:t>h</a:t>
            </a:r>
            <a:r>
              <a:rPr lang="zh-CN" altLang="en-US" dirty="0"/>
              <a:t>、</a:t>
            </a:r>
            <a:r>
              <a:rPr lang="en-US" altLang="zh-CN" dirty="0" err="1"/>
              <a:t>rzz</a:t>
            </a:r>
            <a:r>
              <a:rPr lang="zh-CN" altLang="en-US" dirty="0"/>
              <a:t>、</a:t>
            </a:r>
            <a:r>
              <a:rPr lang="en-US" altLang="zh-CN" dirty="0" err="1"/>
              <a:t>rz</a:t>
            </a:r>
            <a:r>
              <a:rPr lang="zh-CN" altLang="en-US" dirty="0"/>
              <a:t>门，但是在目标平台上所支持的是有限的基础门操作，并且目标平台的物理比特的拓扑之间的连接并不是两两相连的，两比特门操作只能在相邻比特上进行。</a:t>
            </a:r>
            <a:endParaRPr lang="en-US" altLang="zh-CN" dirty="0"/>
          </a:p>
          <a:p>
            <a:r>
              <a:rPr lang="zh-CN" altLang="en-US" dirty="0"/>
              <a:t>那么在编译过程中程序就会经过门分解、比特映射路由和最终目标代码生成的过程。</a:t>
            </a:r>
            <a:endParaRPr lang="en-US" altLang="zh-CN" dirty="0"/>
          </a:p>
          <a:p>
            <a:r>
              <a:rPr lang="zh-CN" altLang="en-US" dirty="0"/>
              <a:t>在门分解时会先把比如</a:t>
            </a:r>
            <a:r>
              <a:rPr lang="en-US" altLang="zh-CN" dirty="0" err="1"/>
              <a:t>rzz</a:t>
            </a:r>
            <a:r>
              <a:rPr lang="zh-CN" altLang="en-US" dirty="0"/>
              <a:t>这种复杂的门分解成一些在中间表示采用的常见的基础门的操作，比如黄色标注的地方就是一个</a:t>
            </a:r>
            <a:r>
              <a:rPr lang="en-US" altLang="zh-CN" dirty="0" err="1"/>
              <a:t>rzz</a:t>
            </a:r>
            <a:r>
              <a:rPr lang="zh-CN" altLang="en-US" dirty="0"/>
              <a:t>门分解成了三个基础门；</a:t>
            </a:r>
            <a:endParaRPr lang="en-US" altLang="zh-CN" dirty="0"/>
          </a:p>
          <a:p>
            <a:r>
              <a:rPr lang="zh-CN" altLang="en-US" dirty="0"/>
              <a:t>在比特映射和路由过程中，为了满足比特拓扑关系，会插入一些交换操作来把需要同时操控的两个比特移动到相邻位置上，最终还要把中间表示的基础操作转换成目标量子指令、汇编</a:t>
            </a:r>
            <a:endParaRPr lang="en-US" altLang="zh-CN" dirty="0"/>
          </a:p>
          <a:p>
            <a:endParaRPr lang="en-US" altLang="zh-CN" dirty="0"/>
          </a:p>
          <a:p>
            <a:r>
              <a:rPr lang="zh-CN" altLang="en-US" dirty="0"/>
              <a:t>这里我们给出的还只是</a:t>
            </a:r>
            <a:r>
              <a:rPr lang="en-US" altLang="zh-CN" dirty="0" err="1"/>
              <a:t>qaoa</a:t>
            </a:r>
            <a:r>
              <a:rPr lang="zh-CN" altLang="en-US" dirty="0"/>
              <a:t>程序中的量子线路的部分。</a:t>
            </a:r>
            <a:endParaRPr lang="en-US" altLang="zh-CN" dirty="0"/>
          </a:p>
        </p:txBody>
      </p:sp>
      <p:sp>
        <p:nvSpPr>
          <p:cNvPr id="4" name="灯片编号占位符 3">
            <a:extLst>
              <a:ext uri="{FF2B5EF4-FFF2-40B4-BE49-F238E27FC236}">
                <a16:creationId xmlns:a16="http://schemas.microsoft.com/office/drawing/2014/main" id="{A8504182-6881-7577-0057-358BAA995C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4929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35D3-9363-F313-EE7A-3AE453D4DF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F72FCC-8446-87CC-E057-910BE75139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079F2B-7ECD-B1A8-630B-ADD9F3B81309}"/>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FB07922-48D0-A6AA-5644-1F36005EC7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63650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E6D4F-EFF7-D909-1567-0EA895ED6B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92DD20-9769-8643-0857-F56F946553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8EFD9B-3489-AD28-8A39-E71BAA251545}"/>
              </a:ext>
            </a:extLst>
          </p:cNvPr>
          <p:cNvSpPr>
            <a:spLocks noGrp="1"/>
          </p:cNvSpPr>
          <p:nvPr>
            <p:ph type="body" idx="1"/>
          </p:nvPr>
        </p:nvSpPr>
        <p:spPr/>
        <p:txBody>
          <a:bodyPr/>
          <a:lstStyle/>
          <a:p>
            <a:pPr>
              <a:defRPr/>
            </a:pPr>
            <a:r>
              <a:rPr lang="zh-CN" altLang="en-US" dirty="0"/>
              <a:t>要进行量子门分解，是因为</a:t>
            </a:r>
            <a:r>
              <a:rPr lang="en-US" altLang="zh-CN" dirty="0"/>
              <a:t>XX</a:t>
            </a:r>
            <a:endParaRPr lang="zh-CN" altLang="en-US" dirty="0"/>
          </a:p>
          <a:p>
            <a:pPr>
              <a:defRPr/>
            </a:pPr>
            <a:r>
              <a:rPr lang="zh-CN" altLang="en-US" dirty="0"/>
              <a:t>门分解的本质是矩阵分解</a:t>
            </a:r>
          </a:p>
          <a:p>
            <a:pPr>
              <a:defRPr/>
            </a:pPr>
            <a:r>
              <a:rPr lang="zh-CN" altLang="en-US" dirty="0"/>
              <a:t>现有编译器多采用</a:t>
            </a:r>
            <a:r>
              <a:rPr lang="en-US" altLang="zh-CN" dirty="0"/>
              <a:t>XX</a:t>
            </a:r>
            <a:r>
              <a:rPr lang="zh-CN" altLang="en-US" dirty="0"/>
              <a:t>，例如</a:t>
            </a:r>
            <a:r>
              <a:rPr lang="en-US" altLang="zh-CN" dirty="0"/>
              <a:t>XX</a:t>
            </a:r>
            <a:r>
              <a:rPr lang="zh-CN" altLang="en-US" dirty="0"/>
              <a:t>。</a:t>
            </a:r>
          </a:p>
          <a:p>
            <a:pPr>
              <a:defRPr/>
            </a:pPr>
            <a:r>
              <a:rPr lang="zh-CN" altLang="en-US" dirty="0"/>
              <a:t>而量子香农分解是目前已知的最有效方法，生成门个数是</a:t>
            </a:r>
            <a:r>
              <a:rPr lang="en-US" altLang="zh-CN" dirty="0"/>
              <a:t>XX</a:t>
            </a:r>
            <a:r>
              <a:rPr lang="zh-CN" altLang="en-US" dirty="0"/>
              <a:t>。</a:t>
            </a:r>
          </a:p>
          <a:p>
            <a:pPr>
              <a:defRPr/>
            </a:pPr>
            <a:r>
              <a:rPr lang="zh-CN" altLang="en-US" dirty="0"/>
              <a:t>那么现有编译器采用通用分解方法，分解后门个数为指数级</a:t>
            </a:r>
            <a:endParaRPr lang="en-US" altLang="zh-CN" dirty="0"/>
          </a:p>
        </p:txBody>
      </p:sp>
      <p:sp>
        <p:nvSpPr>
          <p:cNvPr id="4" name="灯片编号占位符 3">
            <a:extLst>
              <a:ext uri="{FF2B5EF4-FFF2-40B4-BE49-F238E27FC236}">
                <a16:creationId xmlns:a16="http://schemas.microsoft.com/office/drawing/2014/main" id="{4D710F3E-CDBF-FA74-B23B-CA5B7B0BA5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66564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7404B-7A66-548B-E0CE-A01E616381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8F7514-4093-1485-D6B8-B3C0B7C96C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367742-7438-F266-6D05-BC019DB23841}"/>
              </a:ext>
            </a:extLst>
          </p:cNvPr>
          <p:cNvSpPr>
            <a:spLocks noGrp="1"/>
          </p:cNvSpPr>
          <p:nvPr>
            <p:ph type="body" idx="1"/>
          </p:nvPr>
        </p:nvSpPr>
        <p:spPr/>
        <p:txBody>
          <a:bodyPr/>
          <a:lstStyle/>
          <a:p>
            <a:pPr>
              <a:defRPr/>
            </a:pPr>
            <a:r>
              <a:rPr lang="zh-CN" altLang="zh-CN" dirty="0"/>
              <a:t>先介绍一下量子比特映射及路由问题</a:t>
            </a:r>
            <a:endParaRPr lang="en-US" altLang="zh-CN" dirty="0"/>
          </a:p>
          <a:p>
            <a:pPr>
              <a:defRPr/>
            </a:pPr>
            <a:r>
              <a:rPr lang="zh-CN" altLang="zh-CN" dirty="0"/>
              <a:t>由于</a:t>
            </a:r>
            <a:r>
              <a:rPr lang="en-US" altLang="zh-CN" dirty="0"/>
              <a:t>XX</a:t>
            </a:r>
            <a:r>
              <a:rPr lang="zh-CN" altLang="zh-CN" dirty="0"/>
              <a:t>，线路要映射到物理拓扑上，</a:t>
            </a:r>
            <a:r>
              <a:rPr lang="en-US" altLang="zh-CN" dirty="0"/>
              <a:t>XX</a:t>
            </a:r>
            <a:r>
              <a:rPr lang="zh-CN" altLang="zh-CN" dirty="0"/>
              <a:t>。</a:t>
            </a:r>
            <a:endParaRPr lang="en-US" altLang="zh-CN" dirty="0"/>
          </a:p>
          <a:p>
            <a:pPr>
              <a:defRPr/>
            </a:pPr>
            <a:r>
              <a:rPr lang="zh-CN" altLang="zh-CN" dirty="0"/>
              <a:t>现有研究围绕最优</a:t>
            </a:r>
            <a:r>
              <a:rPr lang="en-US" altLang="zh-CN" dirty="0"/>
              <a:t>XX</a:t>
            </a:r>
            <a:r>
              <a:rPr lang="zh-CN" altLang="zh-CN" dirty="0"/>
              <a:t>等目标对这个问题进行求解</a:t>
            </a:r>
            <a:endParaRPr lang="en-US" altLang="zh-CN" dirty="0"/>
          </a:p>
          <a:p>
            <a:pPr>
              <a:defRPr/>
            </a:pPr>
            <a:r>
              <a:rPr lang="zh-CN" altLang="zh-CN" dirty="0"/>
              <a:t>最优方案求解已经被证明是</a:t>
            </a:r>
            <a:r>
              <a:rPr lang="en-US" altLang="zh-CN" dirty="0"/>
              <a:t>NP</a:t>
            </a:r>
            <a:r>
              <a:rPr lang="zh-CN" altLang="zh-CN" dirty="0"/>
              <a:t>难问题，现有</a:t>
            </a:r>
            <a:r>
              <a:rPr lang="en-US" altLang="zh-CN" dirty="0"/>
              <a:t>XX</a:t>
            </a:r>
            <a:r>
              <a:rPr lang="zh-CN" altLang="zh-CN" dirty="0"/>
              <a:t>，其中，</a:t>
            </a:r>
            <a:r>
              <a:rPr lang="en-US" altLang="zh-CN" dirty="0"/>
              <a:t>XX</a:t>
            </a:r>
            <a:r>
              <a:rPr lang="zh-CN" altLang="zh-CN" dirty="0"/>
              <a:t>。</a:t>
            </a:r>
            <a:endParaRPr lang="en-US" altLang="zh-CN" dirty="0"/>
          </a:p>
          <a:p>
            <a:pPr>
              <a:defRPr/>
            </a:pPr>
            <a:r>
              <a:rPr lang="zh-CN" altLang="zh-CN" dirty="0"/>
              <a:t>本课题研究面向特定结构线路和拓扑的专用映射方法</a:t>
            </a:r>
            <a:endParaRPr lang="en-US" altLang="zh-CN" dirty="0"/>
          </a:p>
          <a:p>
            <a:pPr>
              <a:defRPr/>
            </a:pPr>
            <a:endParaRPr lang="en-US" altLang="zh-CN" dirty="0"/>
          </a:p>
          <a:p>
            <a:pPr>
              <a:defRPr/>
            </a:pPr>
            <a:endParaRPr lang="en-US" altLang="zh-CN" dirty="0"/>
          </a:p>
        </p:txBody>
      </p:sp>
      <p:sp>
        <p:nvSpPr>
          <p:cNvPr id="4" name="灯片编号占位符 3">
            <a:extLst>
              <a:ext uri="{FF2B5EF4-FFF2-40B4-BE49-F238E27FC236}">
                <a16:creationId xmlns:a16="http://schemas.microsoft.com/office/drawing/2014/main" id="{B0F6AF09-08D3-0FBD-DFD4-3B8D7F003D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85958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6D29F-DBF8-3F68-3CFE-0C00E2F990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07619B-6010-C88C-3A7B-A45E20B55E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827B02-47F2-8B9D-515C-8635B4A40472}"/>
              </a:ext>
            </a:extLst>
          </p:cNvPr>
          <p:cNvSpPr>
            <a:spLocks noGrp="1"/>
          </p:cNvSpPr>
          <p:nvPr>
            <p:ph type="body" idx="1"/>
          </p:nvPr>
        </p:nvSpPr>
        <p:spPr/>
        <p:txBody>
          <a:bodyPr/>
          <a:lstStyle/>
          <a:p>
            <a:r>
              <a:rPr lang="en-US" altLang="zh-CN" dirty="0"/>
              <a:t>2min</a:t>
            </a:r>
          </a:p>
          <a:p>
            <a:r>
              <a:rPr lang="zh-CN" altLang="zh-CN" dirty="0"/>
              <a:t>我们重新回到完整的</a:t>
            </a:r>
            <a:r>
              <a:rPr lang="en-US" altLang="zh-CN" dirty="0"/>
              <a:t>QAOA</a:t>
            </a:r>
            <a:r>
              <a:rPr lang="zh-CN" altLang="zh-CN" dirty="0"/>
              <a:t>应用程序，会发现一个问题：真正的应用程序并不是只有这一条 Quantum Circuit。</a:t>
            </a:r>
            <a:r>
              <a:rPr lang="en-US" altLang="zh-CN" dirty="0" err="1"/>
              <a:t>Qaoa</a:t>
            </a:r>
            <a:r>
              <a:rPr lang="zh-CN" altLang="en-US" dirty="0"/>
              <a:t>算法的完整过程包括：</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问题定义</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数据准备、</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参数优化（经典算法</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）、构建并执行参数化量子线路（编译后的</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ISA Circuit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）、测量结果、结果评估与参数更新，这个过程也是迭代进行的。</a:t>
            </a:r>
            <a:endParaRPr lang="zh-CN" altLang="zh-CN" dirty="0"/>
          </a:p>
          <a:p>
            <a:r>
              <a:rPr lang="zh-CN" altLang="zh-CN" dirty="0"/>
              <a:t>这就把编译问题进一步扩大了。前面的问题是：“怎样把 Quantum Circuit 编译到一台 QPU？”</a:t>
            </a:r>
          </a:p>
          <a:p>
            <a:r>
              <a:rPr lang="zh-CN" altLang="zh-CN" dirty="0"/>
              <a:t>现在的问题变成：“怎样把一个包含经典代码和量子代码的完整程序，编译成一个 CPU 和 QPU 能够协同执行的应用？”</a:t>
            </a:r>
          </a:p>
          <a:p>
            <a:r>
              <a:rPr lang="zh-CN" altLang="zh-CN" dirty="0"/>
              <a:t>这就是 classical–quantum co-compilation，也就是经典–量子协同编译。</a:t>
            </a:r>
            <a:endParaRPr lang="en-US" altLang="zh-CN" dirty="0"/>
          </a:p>
          <a:p>
            <a:r>
              <a:rPr lang="zh-CN" altLang="en-US" dirty="0"/>
              <a:t>对于</a:t>
            </a:r>
            <a:r>
              <a:rPr lang="zh-CN" altLang="zh-CN" dirty="0"/>
              <a:t>一部分代码运行在 CPU 上，一部分 quantum kernel 运行在 QPU 上</a:t>
            </a:r>
            <a:r>
              <a:rPr lang="zh-CN" altLang="en-US" dirty="0"/>
              <a:t>的混合程序</a:t>
            </a:r>
            <a:r>
              <a:rPr lang="zh-CN" altLang="zh-CN" dirty="0"/>
              <a:t>，</a:t>
            </a:r>
            <a:r>
              <a:rPr lang="zh-CN" altLang="en-US" dirty="0"/>
              <a:t>要处理的</a:t>
            </a:r>
            <a:r>
              <a:rPr lang="zh-CN" altLang="zh-CN" dirty="0"/>
              <a:t>两者之间还需要传递参数和测量结果。</a:t>
            </a:r>
            <a:endParaRPr lang="en-US" altLang="zh-CN" dirty="0"/>
          </a:p>
          <a:p>
            <a:r>
              <a:rPr lang="zh-CN" altLang="en-US" dirty="0"/>
              <a:t>对于</a:t>
            </a:r>
            <a:r>
              <a:rPr lang="en-US" altLang="zh-CN" dirty="0" err="1"/>
              <a:t>qaoa</a:t>
            </a:r>
            <a:r>
              <a:rPr lang="zh-CN" altLang="en-US" dirty="0"/>
              <a:t>这样的简单的程序来说，支持这样的“经典</a:t>
            </a:r>
            <a:r>
              <a:rPr lang="en-US" altLang="zh-CN" dirty="0"/>
              <a:t>+</a:t>
            </a:r>
            <a:r>
              <a:rPr lang="zh-CN" altLang="en-US" dirty="0"/>
              <a:t>量子”协同编译还是比较简单的。</a:t>
            </a:r>
            <a:endParaRPr lang="en-US" altLang="zh-CN" dirty="0"/>
          </a:p>
          <a:p>
            <a:r>
              <a:rPr lang="zh-CN" altLang="en-US" dirty="0"/>
              <a:t>因为它的经典计算部分是非常简单的，如果我们有一个</a:t>
            </a:r>
            <a:r>
              <a:rPr lang="en-US" altLang="zh-CN" dirty="0"/>
              <a:t>HPC-QC</a:t>
            </a:r>
            <a:r>
              <a:rPr lang="zh-CN" altLang="en-US" dirty="0"/>
              <a:t>混合计算的应用，在编译上如何处理？</a:t>
            </a:r>
          </a:p>
        </p:txBody>
      </p:sp>
      <p:sp>
        <p:nvSpPr>
          <p:cNvPr id="4" name="灯片编号占位符 3">
            <a:extLst>
              <a:ext uri="{FF2B5EF4-FFF2-40B4-BE49-F238E27FC236}">
                <a16:creationId xmlns:a16="http://schemas.microsoft.com/office/drawing/2014/main" id="{F30F47BA-C556-7D53-7B79-412266F5843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01953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FFBA8-021F-6BAC-2606-FB00249992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9A73FD-B815-3157-A90F-6C3484F813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4843AE-72E0-D3E8-88C4-2BA3A7AED839}"/>
              </a:ext>
            </a:extLst>
          </p:cNvPr>
          <p:cNvSpPr>
            <a:spLocks noGrp="1"/>
          </p:cNvSpPr>
          <p:nvPr>
            <p:ph type="body" idx="1"/>
          </p:nvPr>
        </p:nvSpPr>
        <p:spPr/>
        <p:txBody>
          <a:bodyPr/>
          <a:lstStyle/>
          <a:p>
            <a:r>
              <a:rPr lang="zh-CN" altLang="zh-CN" sz="1200" b="0" i="0" kern="1200" dirty="0">
                <a:solidFill>
                  <a:schemeClr val="tx1"/>
                </a:solidFill>
                <a:effectLst/>
                <a:latin typeface="+mn-lt"/>
                <a:ea typeface="+mn-ea"/>
                <a:cs typeface="+mn-cs"/>
              </a:rPr>
              <a:t>从国际高性能计算会议的议程变化，也可以看到量子计算在 HPC 中的位置正在发生变化。</a:t>
            </a:r>
          </a:p>
          <a:p>
            <a:r>
              <a:rPr lang="zh-CN" altLang="zh-CN" sz="1200" b="0" i="0" kern="1200" dirty="0">
                <a:solidFill>
                  <a:schemeClr val="tx1"/>
                </a:solidFill>
                <a:effectLst/>
                <a:latin typeface="+mn-lt"/>
                <a:ea typeface="+mn-ea"/>
                <a:cs typeface="+mn-cs"/>
              </a:rPr>
              <a:t>ISC 最重要的 HPC 会议之一。2026 年会议</a:t>
            </a:r>
            <a:r>
              <a:rPr lang="zh-CN" altLang="en-US" sz="1200" b="0" i="0" kern="1200" dirty="0">
                <a:solidFill>
                  <a:schemeClr val="tx1"/>
                </a:solidFill>
                <a:effectLst/>
                <a:latin typeface="+mn-lt"/>
                <a:ea typeface="+mn-ea"/>
                <a:cs typeface="+mn-cs"/>
              </a:rPr>
              <a:t>的</a:t>
            </a:r>
            <a:r>
              <a:rPr lang="zh-CN" altLang="zh-CN" sz="1200" b="0" i="0" kern="1200" dirty="0">
                <a:solidFill>
                  <a:schemeClr val="tx1"/>
                </a:solidFill>
                <a:effectLst/>
                <a:latin typeface="+mn-lt"/>
                <a:ea typeface="+mn-ea"/>
                <a:cs typeface="+mn-cs"/>
              </a:rPr>
              <a:t>主题</a:t>
            </a:r>
            <a:r>
              <a:rPr lang="zh-CN" altLang="en-US" sz="1200" b="0" i="0" kern="1200" dirty="0">
                <a:solidFill>
                  <a:schemeClr val="tx1"/>
                </a:solidFill>
                <a:effectLst/>
                <a:latin typeface="+mn-lt"/>
                <a:ea typeface="+mn-ea"/>
                <a:cs typeface="+mn-cs"/>
              </a:rPr>
              <a:t>为</a:t>
            </a:r>
            <a:r>
              <a:rPr lang="zh-CN" altLang="zh-CN" sz="1200" b="0" i="0" kern="1200" dirty="0">
                <a:solidFill>
                  <a:schemeClr val="tx1"/>
                </a:solidFill>
                <a:effectLst/>
                <a:latin typeface="+mn-lt"/>
                <a:ea typeface="+mn-ea"/>
                <a:cs typeface="+mn-cs"/>
              </a:rPr>
              <a:t> “HPC, AI, Quantum: Powering Innovation and Sustainability”。也就是说，Quantum 已经和 HPC、AI 并列成为大会的核心关键词。说明量子计算正在从一个相对独立的前沿方向，进入高性能计算的主流视野。对于 HPC 来说，QPU 未来更可能作为一种新型异构加速资源，与 CPU、GPU、模拟器和调度系统协同工作。</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在会议的开场报告中，报告人也阐述了</a:t>
            </a:r>
            <a:r>
              <a:rPr lang="zh-CN" altLang="zh-CN" sz="1200" b="0" i="0" kern="1200" dirty="0">
                <a:solidFill>
                  <a:schemeClr val="tx1"/>
                </a:solidFill>
                <a:effectLst/>
                <a:latin typeface="+mn-lt"/>
                <a:ea typeface="+mn-ea"/>
                <a:cs typeface="+mn-cs"/>
              </a:rPr>
              <a:t>量子计算在 HPC 中的重要性，不只体现在硬件突破上，更体现在软件栈、编译器、运行时和系统集成能力上。</a:t>
            </a:r>
          </a:p>
          <a:p>
            <a:endParaRPr lang="en-US" altLang="zh-CN" sz="700" i="0" dirty="0"/>
          </a:p>
        </p:txBody>
      </p:sp>
      <p:sp>
        <p:nvSpPr>
          <p:cNvPr id="4" name="灯片编号占位符 3">
            <a:extLst>
              <a:ext uri="{FF2B5EF4-FFF2-40B4-BE49-F238E27FC236}">
                <a16:creationId xmlns:a16="http://schemas.microsoft.com/office/drawing/2014/main" id="{CB9C3AFC-A70A-A122-04DE-31160D67AE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15393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EE944-6068-E300-721E-A635F76B37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6C5780-62B6-878D-F579-1E07607E1F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2A6369-279B-E094-354B-0CC00672B794}"/>
              </a:ext>
            </a:extLst>
          </p:cNvPr>
          <p:cNvSpPr>
            <a:spLocks noGrp="1"/>
          </p:cNvSpPr>
          <p:nvPr>
            <p:ph type="body" idx="1"/>
          </p:nvPr>
        </p:nvSpPr>
        <p:spPr/>
        <p:txBody>
          <a:bodyPr/>
          <a:lstStyle/>
          <a:p>
            <a:r>
              <a:rPr lang="en-US" altLang="zh-CN" dirty="0"/>
              <a:t>2min 30s</a:t>
            </a:r>
          </a:p>
          <a:p>
            <a:r>
              <a:rPr lang="zh-CN" altLang="zh-CN" dirty="0"/>
              <a:t>如果我们把量子计算真正放到高性能计算场景里，情况会复杂很多。一个真实的 HPC 应用里面，可能同时包含几类计算。</a:t>
            </a:r>
            <a:endParaRPr lang="en-US" altLang="zh-CN" dirty="0"/>
          </a:p>
          <a:p>
            <a:r>
              <a:rPr lang="zh-CN" altLang="en-US" dirty="0"/>
              <a:t>这个</a:t>
            </a:r>
            <a:r>
              <a:rPr lang="en-US" altLang="zh-CN" dirty="0" err="1"/>
              <a:t>dag</a:t>
            </a:r>
            <a:r>
              <a:rPr lang="zh-CN" altLang="en-US" dirty="0"/>
              <a:t>图就是一个混合计算任务的示意图，蓝色点表示经典计算任务，黄色点表示量子计算任务，边表示依赖关系。</a:t>
            </a:r>
            <a:endParaRPr lang="en-US" altLang="zh-CN" dirty="0"/>
          </a:p>
          <a:p>
            <a:r>
              <a:rPr lang="zh-CN" altLang="en-US" dirty="0"/>
              <a:t>这里面：</a:t>
            </a:r>
            <a:r>
              <a:rPr lang="zh-CN" altLang="zh-CN" dirty="0"/>
              <a:t>问题构建和任务控制运行在 CPU 上；大规模数值计算或者并行计算可能运行在 GPU 上；其中某一个适合量子计算的子问题，再交给 QPU。</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那么，这个时候“</a:t>
            </a:r>
            <a:r>
              <a:rPr lang="en-US" altLang="zh-CN" b="1" dirty="0" err="1"/>
              <a:t>hpc+qc</a:t>
            </a:r>
            <a:r>
              <a:rPr lang="zh-CN" altLang="en-US" b="1" dirty="0"/>
              <a:t>”的软件栈应该如何支撑？</a:t>
            </a:r>
            <a:r>
              <a:rPr lang="zh-CN" altLang="en-US" sz="1200" dirty="0">
                <a:latin typeface="微软雅黑" panose="020B0503020204020204" pitchFamily="34" charset="-122"/>
                <a:ea typeface="微软雅黑" panose="020B0503020204020204" pitchFamily="34" charset="-122"/>
              </a:rPr>
              <a:t>一个同时包含</a:t>
            </a:r>
            <a:r>
              <a:rPr lang="en-US" altLang="zh-CN" sz="1200" dirty="0">
                <a:latin typeface="微软雅黑" panose="020B0503020204020204" pitchFamily="34" charset="-122"/>
                <a:ea typeface="微软雅黑" panose="020B0503020204020204" pitchFamily="34" charset="-122"/>
              </a:rPr>
              <a:t>CPU</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GPU</a:t>
            </a:r>
            <a:r>
              <a:rPr lang="zh-CN" altLang="en-US" sz="1200" dirty="0">
                <a:latin typeface="微软雅黑" panose="020B0503020204020204" pitchFamily="34" charset="-122"/>
                <a:ea typeface="微软雅黑" panose="020B0503020204020204" pitchFamily="34" charset="-122"/>
              </a:rPr>
              <a:t>和</a:t>
            </a:r>
            <a:r>
              <a:rPr lang="en-US" altLang="zh-CN" sz="1200" dirty="0">
                <a:latin typeface="微软雅黑" panose="020B0503020204020204" pitchFamily="34" charset="-122"/>
                <a:ea typeface="微软雅黑" panose="020B0503020204020204" pitchFamily="34" charset="-122"/>
              </a:rPr>
              <a:t>QPU</a:t>
            </a:r>
            <a:r>
              <a:rPr lang="zh-CN" altLang="en-US" sz="1200" dirty="0">
                <a:latin typeface="微软雅黑" panose="020B0503020204020204" pitchFamily="34" charset="-122"/>
                <a:ea typeface="微软雅黑" panose="020B0503020204020204" pitchFamily="34" charset="-122"/>
              </a:rPr>
              <a:t>计算的程序，应该如何统一表示、编译和执行？</a:t>
            </a:r>
          </a:p>
          <a:p>
            <a:r>
              <a:rPr lang="zh-CN" altLang="zh-CN" dirty="0"/>
              <a:t>上层程序本身也可能包含不同的编程模型和程序表示。比如 C/C++、MPI、CUDA，以及 Quantum QASM 或者其他 Quantum IR。</a:t>
            </a:r>
          </a:p>
          <a:p>
            <a:r>
              <a:rPr lang="zh-CN" altLang="en-US" dirty="0"/>
              <a:t>那么应该有一个统一的异构编译器，</a:t>
            </a:r>
            <a:r>
              <a:rPr lang="zh-CN" altLang="zh-CN" dirty="0"/>
              <a:t>不同来源的程序进入异构编译器以后，通过统一或者能够互操作的中间表示，进一步完成跨设备分析、目标映射、代码生成以及 Runtime 接口生成。最后分别生成面向 CPU、GPU 和 QPU 的代码，并形成一个能够协同执行的 Hybrid Executable。</a:t>
            </a:r>
          </a:p>
          <a:p>
            <a:r>
              <a:rPr lang="zh-CN" altLang="zh-CN" dirty="0"/>
              <a:t>所以问题从上一页的：</a:t>
            </a:r>
            <a:r>
              <a:rPr lang="zh-CN" altLang="zh-CN" b="1" dirty="0"/>
              <a:t>经典+量子协同编译</a:t>
            </a:r>
            <a:r>
              <a:rPr lang="zh-CN" altLang="zh-CN" dirty="0"/>
              <a:t>进一步扩展成：</a:t>
            </a:r>
            <a:r>
              <a:rPr lang="zh-CN" altLang="zh-CN" b="1" dirty="0"/>
              <a:t>高性能计算+量子计算的统一异构编译。</a:t>
            </a:r>
            <a:endParaRPr lang="zh-CN" altLang="zh-CN" dirty="0"/>
          </a:p>
          <a:p>
            <a:r>
              <a:rPr lang="zh-CN" altLang="zh-CN" dirty="0"/>
              <a:t>那么要构建这样一个编译框架，</a:t>
            </a:r>
            <a:r>
              <a:rPr lang="zh-CN" altLang="en-US" dirty="0"/>
              <a:t>应该怎么去实现</a:t>
            </a:r>
            <a:r>
              <a:rPr lang="zh-CN" altLang="zh-CN" b="1" dirty="0"/>
              <a:t>？</a:t>
            </a:r>
            <a:endParaRPr lang="zh-CN" altLang="zh-CN" dirty="0"/>
          </a:p>
          <a:p>
            <a:endParaRPr lang="zh-CN" altLang="en-US" dirty="0"/>
          </a:p>
        </p:txBody>
      </p:sp>
      <p:sp>
        <p:nvSpPr>
          <p:cNvPr id="4" name="灯片编号占位符 3">
            <a:extLst>
              <a:ext uri="{FF2B5EF4-FFF2-40B4-BE49-F238E27FC236}">
                <a16:creationId xmlns:a16="http://schemas.microsoft.com/office/drawing/2014/main" id="{094DE109-CF61-CCEF-57E0-24BEDC6F48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15350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F57F5-6FC4-D8BB-BE09-C40241641D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4FA5F9-8AE2-0283-F539-43040F1A54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C466F9-6353-18D9-2220-B74E33BA9422}"/>
              </a:ext>
            </a:extLst>
          </p:cNvPr>
          <p:cNvSpPr>
            <a:spLocks noGrp="1"/>
          </p:cNvSpPr>
          <p:nvPr>
            <p:ph type="body" idx="1"/>
          </p:nvPr>
        </p:nvSpPr>
        <p:spPr/>
        <p:txBody>
          <a:bodyPr/>
          <a:lstStyle/>
          <a:p>
            <a:r>
              <a:rPr lang="en-US" altLang="zh-CN" dirty="0"/>
              <a:t>2min30s</a:t>
            </a:r>
          </a:p>
          <a:p>
            <a:r>
              <a:rPr lang="zh-CN" altLang="zh-CN" dirty="0"/>
              <a:t>基于前面的问题，我们</a:t>
            </a:r>
            <a:r>
              <a:rPr lang="zh-CN" altLang="en-US" dirty="0"/>
              <a:t>认为需要</a:t>
            </a:r>
            <a:r>
              <a:rPr lang="zh-CN" altLang="zh-CN" dirty="0"/>
              <a:t>进一步探索一个面向高性能计算和量子计算的系统编译框架，</a:t>
            </a:r>
            <a:r>
              <a:rPr lang="zh-CN" altLang="en-US" dirty="0"/>
              <a:t>我们团队开发了一个高性能</a:t>
            </a:r>
            <a:r>
              <a:rPr lang="en-US" altLang="zh-CN" dirty="0"/>
              <a:t>-</a:t>
            </a:r>
            <a:r>
              <a:rPr lang="zh-CN" altLang="en-US" dirty="0"/>
              <a:t>量子系统编译框架，</a:t>
            </a:r>
            <a:r>
              <a:rPr lang="en-US" altLang="zh-CN" dirty="0"/>
              <a:t>QLLVM</a:t>
            </a:r>
            <a:r>
              <a:rPr lang="zh-CN" altLang="zh-CN" dirty="0"/>
              <a:t>。</a:t>
            </a:r>
            <a:endParaRPr lang="en-US" altLang="zh-CN" dirty="0"/>
          </a:p>
          <a:p>
            <a:r>
              <a:rPr lang="zh-CN" altLang="en-US" dirty="0"/>
              <a:t>这个框架中包括统一的前端、中间表示和后端代码生成。重点在于“统一中间表示的选择上”，我们选择了</a:t>
            </a:r>
            <a:r>
              <a:rPr lang="en-US" altLang="zh-CN" dirty="0"/>
              <a:t>MLIR+LLVM IR</a:t>
            </a:r>
            <a:r>
              <a:rPr lang="zh-CN" altLang="en-US" dirty="0"/>
              <a:t>的路线。</a:t>
            </a:r>
            <a:endParaRPr lang="zh-CN" altLang="zh-CN" dirty="0"/>
          </a:p>
          <a:p>
            <a:r>
              <a:rPr lang="zh-CN" altLang="zh-CN" dirty="0"/>
              <a:t>为什么会考虑 LLVM 这一类编译基础设施？</a:t>
            </a:r>
          </a:p>
          <a:p>
            <a:r>
              <a:rPr lang="zh-CN" altLang="zh-CN" dirty="0"/>
              <a:t>大家可以先看下面这张表。</a:t>
            </a:r>
          </a:p>
          <a:p>
            <a:r>
              <a:rPr lang="zh-CN" altLang="zh-CN" dirty="0"/>
              <a:t>HPC 领域本身就不是只有一种编程模型。</a:t>
            </a:r>
          </a:p>
          <a:p>
            <a:r>
              <a:rPr lang="zh-CN" altLang="zh-CN" dirty="0"/>
              <a:t>我们会遇到 CUDA、MPI、OpenMP、HIP、SYCL 等不同的编程模型和工具体系。</a:t>
            </a:r>
          </a:p>
          <a:p>
            <a:r>
              <a:rPr lang="zh-CN" altLang="zh-CN" dirty="0"/>
              <a:t>如果现在再加入 Quantum，那么我们面临的问题不是简单地“再做一个量子编译器”，而是：</a:t>
            </a:r>
          </a:p>
          <a:p>
            <a:r>
              <a:rPr lang="zh-CN" altLang="zh-CN" b="1" dirty="0"/>
              <a:t>怎样让量子程序进入现有的异构编译体系。</a:t>
            </a:r>
            <a:endParaRPr lang="zh-CN" altLang="zh-CN" dirty="0"/>
          </a:p>
          <a:p>
            <a:r>
              <a:rPr lang="zh-CN" altLang="zh-CN" dirty="0"/>
              <a:t>所以我们希望解决的是一个更统一的问题：</a:t>
            </a:r>
          </a:p>
          <a:p>
            <a:r>
              <a:rPr lang="zh-CN" altLang="zh-CN" dirty="0"/>
              <a:t>上层可以存在不同的编程模型和程序表示；</a:t>
            </a:r>
          </a:p>
          <a:p>
            <a:r>
              <a:rPr lang="zh-CN" altLang="zh-CN" dirty="0"/>
              <a:t>中间通过编译基础设施完成程序分析和逐层 lowering；</a:t>
            </a:r>
          </a:p>
          <a:p>
            <a:r>
              <a:rPr lang="zh-CN" altLang="zh-CN" dirty="0"/>
              <a:t>底层再分别面向 CPU、GPU 和 QPU 生成目标代码。</a:t>
            </a:r>
          </a:p>
          <a:p>
            <a:r>
              <a:rPr lang="zh-CN" altLang="zh-CN" dirty="0"/>
              <a:t>也就是说，我们关注的不是孤立的 QPU 编译，而是：</a:t>
            </a:r>
          </a:p>
          <a:p>
            <a:r>
              <a:rPr lang="zh-CN" altLang="zh-CN" b="1" dirty="0"/>
              <a:t>面向 CPU、GPU、QPU 的统一异构编译能力。</a:t>
            </a:r>
            <a:endParaRPr lang="en-US" altLang="zh-CN" b="1" dirty="0"/>
          </a:p>
          <a:p>
            <a:r>
              <a:rPr lang="zh-CN" altLang="en-US" b="1" dirty="0"/>
              <a:t>所以在</a:t>
            </a:r>
            <a:r>
              <a:rPr lang="en-US" altLang="zh-CN" b="1" dirty="0"/>
              <a:t>MLIR</a:t>
            </a:r>
            <a:r>
              <a:rPr lang="zh-CN" altLang="en-US" b="1" dirty="0"/>
              <a:t>的框架中加入对量子程序表示的支持，是会让融合更加充分的。</a:t>
            </a:r>
            <a:endParaRPr lang="zh-CN" altLang="en-US" dirty="0"/>
          </a:p>
        </p:txBody>
      </p:sp>
      <p:sp>
        <p:nvSpPr>
          <p:cNvPr id="4" name="灯片编号占位符 3">
            <a:extLst>
              <a:ext uri="{FF2B5EF4-FFF2-40B4-BE49-F238E27FC236}">
                <a16:creationId xmlns:a16="http://schemas.microsoft.com/office/drawing/2014/main" id="{06458811-A1DD-9192-3B4A-6042B025D1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46731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A8E48-3F6D-669A-20A9-6F2E98BA58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77EF95-6325-9D33-6B6C-12F44D0DA2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663AAC-63E5-A72B-63B3-5A94EE8D10B7}"/>
              </a:ext>
            </a:extLst>
          </p:cNvPr>
          <p:cNvSpPr>
            <a:spLocks noGrp="1"/>
          </p:cNvSpPr>
          <p:nvPr>
            <p:ph type="body" idx="1"/>
          </p:nvPr>
        </p:nvSpPr>
        <p:spPr/>
        <p:txBody>
          <a:bodyPr/>
          <a:lstStyle/>
          <a:p>
            <a:r>
              <a:rPr lang="en-US" altLang="zh-CN" dirty="0"/>
              <a:t>1min30</a:t>
            </a:r>
            <a:endParaRPr lang="zh-CN" altLang="en-US" dirty="0"/>
          </a:p>
        </p:txBody>
      </p:sp>
      <p:sp>
        <p:nvSpPr>
          <p:cNvPr id="4" name="灯片编号占位符 3">
            <a:extLst>
              <a:ext uri="{FF2B5EF4-FFF2-40B4-BE49-F238E27FC236}">
                <a16:creationId xmlns:a16="http://schemas.microsoft.com/office/drawing/2014/main" id="{D6A14AFD-A277-A0E6-AFCA-16ED218BE2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55982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9A667-EEF3-D4F6-4C41-C1063E8F6B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C4A655-4B67-8BED-8F71-E566625648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2F342E-5D9A-0BDE-BDEB-63D14383077B}"/>
              </a:ext>
            </a:extLst>
          </p:cNvPr>
          <p:cNvSpPr>
            <a:spLocks noGrp="1"/>
          </p:cNvSpPr>
          <p:nvPr>
            <p:ph type="body" idx="1"/>
          </p:nvPr>
        </p:nvSpPr>
        <p:spPr/>
        <p:txBody>
          <a:bodyPr/>
          <a:lstStyle/>
          <a:p>
            <a:r>
              <a:rPr lang="en-US" altLang="zh-CN" dirty="0"/>
              <a:t>1min30</a:t>
            </a:r>
          </a:p>
          <a:p>
            <a:r>
              <a:rPr lang="zh-CN" altLang="zh-CN" dirty="0"/>
              <a:t>前面我们基本都在回答一个问题：</a:t>
            </a:r>
          </a:p>
          <a:p>
            <a:r>
              <a:rPr lang="zh-CN" altLang="zh-CN" b="1" dirty="0"/>
              <a:t>程序怎么编译。</a:t>
            </a:r>
            <a:endParaRPr lang="zh-CN" altLang="zh-CN" dirty="0"/>
          </a:p>
          <a:p>
            <a:r>
              <a:rPr lang="zh-CN" altLang="zh-CN" dirty="0"/>
              <a:t>但当 QPU 真正进入 HPC 系统以后，仅仅把程序编译出来是不够的。</a:t>
            </a:r>
          </a:p>
          <a:p>
            <a:r>
              <a:rPr lang="zh-CN" altLang="zh-CN" dirty="0"/>
              <a:t>接下来系统还必须回答：</a:t>
            </a:r>
          </a:p>
          <a:p>
            <a:r>
              <a:rPr lang="zh-CN" altLang="zh-CN" b="1" dirty="0"/>
              <a:t>这个程序到底怎么执行？</a:t>
            </a:r>
            <a:endParaRPr lang="zh-CN" altLang="zh-CN" dirty="0"/>
          </a:p>
          <a:p>
            <a:r>
              <a:rPr lang="zh-CN" altLang="zh-CN" dirty="0"/>
              <a:t>这里至少会出现四类问题。</a:t>
            </a:r>
          </a:p>
          <a:p>
            <a:r>
              <a:rPr lang="zh-CN" altLang="zh-CN" dirty="0"/>
              <a:t>第一类是</a:t>
            </a:r>
            <a:r>
              <a:rPr lang="zh-CN" altLang="zh-CN" b="1" dirty="0"/>
              <a:t>资源抽象</a:t>
            </a:r>
            <a:r>
              <a:rPr lang="zh-CN" altLang="zh-CN" dirty="0"/>
              <a:t>。</a:t>
            </a:r>
          </a:p>
          <a:p>
            <a:r>
              <a:rPr lang="zh-CN" altLang="zh-CN" dirty="0"/>
              <a:t>CPU 有核，GPU 有计算单元和显存，那么 QPU 进入系统以后，我们应该怎样描述它？</a:t>
            </a:r>
          </a:p>
          <a:p>
            <a:r>
              <a:rPr lang="zh-CN" altLang="zh-CN" dirty="0"/>
              <a:t>它应该向上层软件暴露什么样的资源接口？</a:t>
            </a:r>
          </a:p>
          <a:p>
            <a:r>
              <a:rPr lang="zh-CN" altLang="zh-CN" dirty="0"/>
              <a:t>第二类是</a:t>
            </a:r>
            <a:r>
              <a:rPr lang="zh-CN" altLang="zh-CN" b="1" dirty="0"/>
              <a:t>资源分配</a:t>
            </a:r>
            <a:r>
              <a:rPr lang="zh-CN" altLang="zh-CN" dirty="0"/>
              <a:t>。</a:t>
            </a:r>
          </a:p>
          <a:p>
            <a:r>
              <a:rPr lang="zh-CN" altLang="zh-CN" dirty="0"/>
              <a:t>QPU 和普通 CPU 资源不完全一样，而且通常是一种比较有限的计算资源。</a:t>
            </a:r>
          </a:p>
          <a:p>
            <a:r>
              <a:rPr lang="zh-CN" altLang="zh-CN" dirty="0"/>
              <a:t>如果多个程序同时需要使用 QPU，那么 QPU 应该分配给谁？</a:t>
            </a:r>
          </a:p>
          <a:p>
            <a:r>
              <a:rPr lang="zh-CN" altLang="zh-CN" dirty="0"/>
              <a:t>怎么进行隔离和共享？</a:t>
            </a:r>
          </a:p>
          <a:p>
            <a:r>
              <a:rPr lang="zh-CN" altLang="zh-CN" dirty="0"/>
              <a:t>第三类是</a:t>
            </a:r>
            <a:r>
              <a:rPr lang="zh-CN" altLang="zh-CN" b="1" dirty="0"/>
              <a:t>异构任务调度</a:t>
            </a:r>
            <a:r>
              <a:rPr lang="zh-CN" altLang="zh-CN" dirty="0"/>
              <a:t>。</a:t>
            </a:r>
          </a:p>
          <a:p>
            <a:r>
              <a:rPr lang="zh-CN" altLang="zh-CN" dirty="0"/>
              <a:t>一个应用里面可能同时存在 CPU、GPU 和 QPU 任务。</a:t>
            </a:r>
          </a:p>
          <a:p>
            <a:r>
              <a:rPr lang="zh-CN" altLang="zh-CN" dirty="0"/>
              <a:t>它们之间可能还有数据依赖和控制依赖。</a:t>
            </a:r>
          </a:p>
          <a:p>
            <a:r>
              <a:rPr lang="zh-CN" altLang="zh-CN" dirty="0"/>
              <a:t>那谁先执行？什么时候调用 GPU？什么时候调用 QPU？CPU 是阻塞等待，还是继续执行其他任务？</a:t>
            </a:r>
          </a:p>
          <a:p>
            <a:r>
              <a:rPr lang="zh-CN" altLang="zh-CN" dirty="0"/>
              <a:t>这些都会进入调度系统需要考虑的范围。</a:t>
            </a:r>
          </a:p>
          <a:p>
            <a:r>
              <a:rPr lang="zh-CN" altLang="zh-CN" dirty="0"/>
              <a:t>第四类，也是量子计算非常典型的一个问题，就是</a:t>
            </a:r>
            <a:r>
              <a:rPr lang="zh-CN" altLang="zh-CN" b="1" dirty="0"/>
              <a:t>协同执行</a:t>
            </a:r>
            <a:r>
              <a:rPr lang="zh-CN" altLang="zh-CN" dirty="0"/>
              <a:t>。</a:t>
            </a:r>
          </a:p>
          <a:p>
            <a:r>
              <a:rPr lang="zh-CN" altLang="zh-CN" dirty="0"/>
              <a:t>我们刚才已经通过 QAOA 看到了：</a:t>
            </a:r>
          </a:p>
          <a:p>
            <a:r>
              <a:rPr lang="zh-CN" altLang="zh-CN" dirty="0"/>
              <a:t>CPU 给 QPU 参数；</a:t>
            </a:r>
          </a:p>
          <a:p>
            <a:r>
              <a:rPr lang="zh-CN" altLang="zh-CN" dirty="0"/>
              <a:t>QPU 执行；</a:t>
            </a:r>
          </a:p>
          <a:p>
            <a:r>
              <a:rPr lang="zh-CN" altLang="zh-CN" dirty="0"/>
              <a:t>测量结果返回 CPU；</a:t>
            </a:r>
          </a:p>
          <a:p>
            <a:r>
              <a:rPr lang="zh-CN" altLang="zh-CN" dirty="0"/>
              <a:t>CPU 更新参数；</a:t>
            </a:r>
          </a:p>
          <a:p>
            <a:r>
              <a:rPr lang="zh-CN" altLang="zh-CN" dirty="0"/>
              <a:t>然后再次调用 QPU。</a:t>
            </a:r>
          </a:p>
          <a:p>
            <a:r>
              <a:rPr lang="zh-CN" altLang="zh-CN" dirty="0"/>
              <a:t>所以经典计算和量子计算之间存在非常频繁的同步、通信和反馈。</a:t>
            </a:r>
          </a:p>
          <a:p>
            <a:r>
              <a:rPr lang="zh-CN" altLang="zh-CN" dirty="0"/>
              <a:t>于是到最后，我们真正面对的问题已经从：</a:t>
            </a:r>
          </a:p>
          <a:p>
            <a:r>
              <a:rPr lang="zh-CN" altLang="zh-CN" b="1" dirty="0"/>
              <a:t>“怎么运行一条量子线路？”</a:t>
            </a:r>
            <a:endParaRPr lang="zh-CN" altLang="zh-CN" dirty="0"/>
          </a:p>
          <a:p>
            <a:r>
              <a:rPr lang="zh-CN" altLang="zh-CN" dirty="0"/>
              <a:t>逐渐变成了：</a:t>
            </a:r>
          </a:p>
          <a:p>
            <a:r>
              <a:rPr lang="zh-CN" altLang="zh-CN" b="1" dirty="0"/>
              <a:t>“谁来统一管理 CPU、GPU、QPU 这些异构资源，并协调整个应用程序的执行？”</a:t>
            </a:r>
            <a:endParaRPr lang="zh-CN" altLang="zh-CN" dirty="0"/>
          </a:p>
          <a:p>
            <a:endParaRPr lang="zh-CN" altLang="en-US" dirty="0"/>
          </a:p>
        </p:txBody>
      </p:sp>
      <p:sp>
        <p:nvSpPr>
          <p:cNvPr id="4" name="灯片编号占位符 3">
            <a:extLst>
              <a:ext uri="{FF2B5EF4-FFF2-40B4-BE49-F238E27FC236}">
                <a16:creationId xmlns:a16="http://schemas.microsoft.com/office/drawing/2014/main" id="{686D5A49-2BF4-B6F5-4035-33A01A087D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1FFA3-0EA4-44E6-8181-C4602F553C1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81362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646753" y="1726880"/>
            <a:ext cx="8585847" cy="1783082"/>
          </a:xfrm>
          <a:prstGeom prst="rect">
            <a:avLst/>
          </a:prstGeom>
        </p:spPr>
        <p:txBody>
          <a:bodyPr anchor="b"/>
          <a:lstStyle>
            <a:lvl1pPr algn="ctr">
              <a:defRPr sz="4000" b="1">
                <a:solidFill>
                  <a:schemeClr val="accent1">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1646752" y="3705101"/>
            <a:ext cx="8585847" cy="1552698"/>
          </a:xfrm>
        </p:spPr>
        <p:txBody>
          <a:bodyPr>
            <a:normAutofit/>
          </a:bodyPr>
          <a:lstStyle>
            <a:lvl1pPr marL="0" indent="0" algn="ctr">
              <a:buNone/>
              <a:defRPr sz="2800" b="0">
                <a:solidFill>
                  <a:srgbClr val="4B649F"/>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382A3CAD-76BE-422E-B8F6-EDB512BFEC95}" type="datetime1">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pic>
        <p:nvPicPr>
          <p:cNvPr id="7" name="图片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68644" y="4757740"/>
            <a:ext cx="4399359"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9"/>
          <p:cNvSpPr/>
          <p:nvPr userDrawn="1"/>
        </p:nvSpPr>
        <p:spPr>
          <a:xfrm>
            <a:off x="1468754" y="1701661"/>
            <a:ext cx="8918627" cy="365089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nvGrpSpPr>
          <p:cNvPr id="10" name="Group 1"/>
          <p:cNvGrpSpPr/>
          <p:nvPr userDrawn="1"/>
        </p:nvGrpSpPr>
        <p:grpSpPr>
          <a:xfrm>
            <a:off x="10031385" y="4810119"/>
            <a:ext cx="558403" cy="528638"/>
            <a:chOff x="10637838" y="3171860"/>
            <a:chExt cx="744537" cy="704850"/>
          </a:xfrm>
        </p:grpSpPr>
        <p:sp>
          <p:nvSpPr>
            <p:cNvPr id="11" name="矩形 21"/>
            <p:cNvSpPr/>
            <p:nvPr/>
          </p:nvSpPr>
          <p:spPr>
            <a:xfrm>
              <a:off x="10906125" y="3400460"/>
              <a:ext cx="476250" cy="4762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2" name="矩形 22"/>
            <p:cNvSpPr/>
            <p:nvPr/>
          </p:nvSpPr>
          <p:spPr>
            <a:xfrm>
              <a:off x="10637838" y="3171860"/>
              <a:ext cx="474662" cy="474662"/>
            </a:xfrm>
            <a:prstGeom prst="rect">
              <a:avLst/>
            </a:prstGeom>
            <a:solidFill>
              <a:schemeClr val="accent6">
                <a:lumMod val="60000"/>
                <a:lumOff val="4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grpSp>
        <p:nvGrpSpPr>
          <p:cNvPr id="13" name="Group 3"/>
          <p:cNvGrpSpPr/>
          <p:nvPr userDrawn="1"/>
        </p:nvGrpSpPr>
        <p:grpSpPr>
          <a:xfrm>
            <a:off x="1354455" y="1612580"/>
            <a:ext cx="470297" cy="470297"/>
            <a:chOff x="1308100" y="1397035"/>
            <a:chExt cx="627063" cy="627062"/>
          </a:xfrm>
        </p:grpSpPr>
        <p:sp>
          <p:nvSpPr>
            <p:cNvPr id="14" name="矩形 24"/>
            <p:cNvSpPr/>
            <p:nvPr/>
          </p:nvSpPr>
          <p:spPr>
            <a:xfrm>
              <a:off x="1308100" y="1397035"/>
              <a:ext cx="474663" cy="4746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5" name="矩形 25"/>
            <p:cNvSpPr/>
            <p:nvPr/>
          </p:nvSpPr>
          <p:spPr>
            <a:xfrm>
              <a:off x="1460500" y="1549435"/>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spTree>
    <p:extLst>
      <p:ext uri="{BB962C8B-B14F-4D97-AF65-F5344CB8AC3E}">
        <p14:creationId xmlns:p14="http://schemas.microsoft.com/office/powerpoint/2010/main" val="3488539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标题 1"/>
          <p:cNvSpPr txBox="1"/>
          <p:nvPr userDrawn="1"/>
        </p:nvSpPr>
        <p:spPr>
          <a:xfrm>
            <a:off x="-1556395" y="0"/>
            <a:ext cx="8585847" cy="2047869"/>
          </a:xfrm>
          <a:prstGeom prst="rect">
            <a:avLst/>
          </a:prstGeom>
        </p:spPr>
        <p:txBody>
          <a:bodyPr vert="horz" lIns="91440" tIns="45720" rIns="91440" bIns="45720" rtlCol="0" anchor="ctr" anchorCtr="0">
            <a:normAutofit/>
          </a:bodyPr>
          <a:lstStyle>
            <a:lvl1pPr algn="ctr" defTabSz="914400" rtl="0" eaLnBrk="1" latinLnBrk="0" hangingPunct="1">
              <a:lnSpc>
                <a:spcPct val="90000"/>
              </a:lnSpc>
              <a:spcBef>
                <a:spcPct val="0"/>
              </a:spcBef>
              <a:buNone/>
              <a:defRPr sz="4000" b="1" kern="1200">
                <a:solidFill>
                  <a:schemeClr val="accent1">
                    <a:lumMod val="50000"/>
                  </a:schemeClr>
                </a:solidFill>
                <a:latin typeface="微软雅黑" panose="020B0503020204020204" pitchFamily="34" charset="-122"/>
                <a:ea typeface="微软雅黑" panose="020B0503020204020204" pitchFamily="34" charset="-122"/>
                <a:cs typeface="+mj-cs"/>
              </a:defRPr>
            </a:lvl1pPr>
          </a:lstStyle>
          <a:p>
            <a:endParaRPr lang="zh-CN" altLang="en-US" dirty="0"/>
          </a:p>
        </p:txBody>
      </p:sp>
      <p:pic>
        <p:nvPicPr>
          <p:cNvPr id="8" name="图片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30543" y="4057650"/>
            <a:ext cx="4399359"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9"/>
          <p:cNvSpPr/>
          <p:nvPr userDrawn="1"/>
        </p:nvSpPr>
        <p:spPr>
          <a:xfrm>
            <a:off x="1468754" y="2419350"/>
            <a:ext cx="8918627" cy="207645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nvGrpSpPr>
          <p:cNvPr id="10" name="Group 1"/>
          <p:cNvGrpSpPr/>
          <p:nvPr userDrawn="1"/>
        </p:nvGrpSpPr>
        <p:grpSpPr>
          <a:xfrm>
            <a:off x="9993285" y="4295769"/>
            <a:ext cx="558403" cy="528638"/>
            <a:chOff x="10637838" y="3171860"/>
            <a:chExt cx="744537" cy="704850"/>
          </a:xfrm>
        </p:grpSpPr>
        <p:sp>
          <p:nvSpPr>
            <p:cNvPr id="11" name="矩形 21"/>
            <p:cNvSpPr/>
            <p:nvPr/>
          </p:nvSpPr>
          <p:spPr>
            <a:xfrm>
              <a:off x="10906125" y="3400460"/>
              <a:ext cx="476250" cy="4762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2" name="矩形 22"/>
            <p:cNvSpPr/>
            <p:nvPr/>
          </p:nvSpPr>
          <p:spPr>
            <a:xfrm>
              <a:off x="10637838" y="3171860"/>
              <a:ext cx="474662" cy="474662"/>
            </a:xfrm>
            <a:prstGeom prst="rect">
              <a:avLst/>
            </a:prstGeom>
            <a:solidFill>
              <a:schemeClr val="accent6">
                <a:lumMod val="60000"/>
                <a:lumOff val="4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grpSp>
        <p:nvGrpSpPr>
          <p:cNvPr id="13" name="Group 3"/>
          <p:cNvGrpSpPr/>
          <p:nvPr userDrawn="1"/>
        </p:nvGrpSpPr>
        <p:grpSpPr>
          <a:xfrm>
            <a:off x="1411604" y="2184201"/>
            <a:ext cx="470297" cy="470297"/>
            <a:chOff x="1308100" y="1397035"/>
            <a:chExt cx="627063" cy="627062"/>
          </a:xfrm>
        </p:grpSpPr>
        <p:sp>
          <p:nvSpPr>
            <p:cNvPr id="14" name="矩形 24"/>
            <p:cNvSpPr/>
            <p:nvPr/>
          </p:nvSpPr>
          <p:spPr>
            <a:xfrm>
              <a:off x="1308100" y="1397035"/>
              <a:ext cx="474663" cy="4746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5" name="矩形 25"/>
            <p:cNvSpPr/>
            <p:nvPr/>
          </p:nvSpPr>
          <p:spPr>
            <a:xfrm>
              <a:off x="1460500" y="1549435"/>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sp>
        <p:nvSpPr>
          <p:cNvPr id="24" name="标题 1"/>
          <p:cNvSpPr>
            <a:spLocks noGrp="1"/>
          </p:cNvSpPr>
          <p:nvPr>
            <p:ph type="ctrTitle"/>
          </p:nvPr>
        </p:nvSpPr>
        <p:spPr>
          <a:xfrm>
            <a:off x="1646753" y="2546030"/>
            <a:ext cx="8585847" cy="1783082"/>
          </a:xfrm>
          <a:prstGeom prst="rect">
            <a:avLst/>
          </a:prstGeom>
        </p:spPr>
        <p:txBody>
          <a:bodyPr anchor="ctr" anchorCtr="0"/>
          <a:lstStyle>
            <a:lvl1pPr algn="ctr">
              <a:defRPr sz="4000" b="1">
                <a:solidFill>
                  <a:schemeClr val="accent1">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18314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4" name="Footer Placeholder 3"/>
          <p:cNvSpPr>
            <a:spLocks noGrp="1"/>
          </p:cNvSpPr>
          <p:nvPr>
            <p:ph type="ftr" sz="quarter" idx="11"/>
          </p:nvPr>
        </p:nvSpPr>
        <p:spPr/>
        <p:txBody>
          <a:bodyPr/>
          <a:lstStyle/>
          <a:p>
            <a:endParaRPr lang="zh-CN" altLang="en-US" dirty="0"/>
          </a:p>
        </p:txBody>
      </p:sp>
      <p:sp>
        <p:nvSpPr>
          <p:cNvPr id="7" name="Content Placeholder 6"/>
          <p:cNvSpPr>
            <a:spLocks noGrp="1"/>
          </p:cNvSpPr>
          <p:nvPr>
            <p:ph sz="quarter" idx="13"/>
          </p:nvPr>
        </p:nvSpPr>
        <p:spPr>
          <a:xfrm>
            <a:off x="190005" y="902526"/>
            <a:ext cx="11792198" cy="5379522"/>
          </a:xfrm>
        </p:spPr>
        <p:txBody>
          <a:bodyPr/>
          <a:lstStyle>
            <a:lvl1pPr>
              <a:lnSpc>
                <a:spcPct val="114000"/>
              </a:lnSpc>
              <a:defRPr sz="3000" baseline="0"/>
            </a:lvl1pPr>
            <a:lvl2pPr>
              <a:lnSpc>
                <a:spcPct val="114000"/>
              </a:lnSpc>
              <a:spcAft>
                <a:spcPts val="500"/>
              </a:spcAft>
              <a:defRPr sz="2600" baseline="0"/>
            </a:lvl2pPr>
            <a:lvl3pPr>
              <a:lnSpc>
                <a:spcPct val="114000"/>
              </a:lnSpc>
              <a:defRPr sz="2400" baseline="0"/>
            </a:lvl3pPr>
            <a:lvl4pPr>
              <a:lnSpc>
                <a:spcPct val="114000"/>
              </a:lnSpc>
              <a:defRPr sz="2200" baseline="0"/>
            </a:lvl4pPr>
            <a:lvl5pPr>
              <a:lnSpc>
                <a:spcPct val="114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lvl1pPr>
              <a:lnSpc>
                <a:spcPct val="100000"/>
              </a:lnSpc>
              <a:defRPr/>
            </a:lvl1pPr>
          </a:lstStyle>
          <a:p>
            <a:r>
              <a:rPr lang="en-US" dirty="0"/>
              <a:t>Click to edit Master title style</a:t>
            </a:r>
          </a:p>
        </p:txBody>
      </p:sp>
    </p:spTree>
    <p:extLst>
      <p:ext uri="{BB962C8B-B14F-4D97-AF65-F5344CB8AC3E}">
        <p14:creationId xmlns:p14="http://schemas.microsoft.com/office/powerpoint/2010/main" val="70400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6"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p>
            <a:r>
              <a:rPr lang="en-US" dirty="0"/>
              <a:t>Click to edit Master title style</a:t>
            </a:r>
          </a:p>
        </p:txBody>
      </p:sp>
      <p:sp>
        <p:nvSpPr>
          <p:cNvPr id="9" name="椭圆 40"/>
          <p:cNvSpPr/>
          <p:nvPr userDrawn="1"/>
        </p:nvSpPr>
        <p:spPr>
          <a:xfrm>
            <a:off x="11381015" y="6310400"/>
            <a:ext cx="625930" cy="457026"/>
          </a:xfrm>
          <a:prstGeom prst="ellipse">
            <a:avLst/>
          </a:prstGeom>
          <a:solidFill>
            <a:srgbClr val="0070C0"/>
          </a:solidFill>
          <a:effectLst>
            <a:outerShdw blurRad="40005" dist="20320" dir="5400000" algn="ctr" rotWithShape="0">
              <a:schemeClr val="tx1">
                <a:alpha val="38000"/>
              </a:schemeClr>
            </a:outerShdw>
          </a:effectLst>
        </p:spPr>
        <p:style>
          <a:lnRef idx="3">
            <a:schemeClr val="lt1"/>
          </a:lnRef>
          <a:fillRef idx="1">
            <a:schemeClr val="accent1"/>
          </a:fillRef>
          <a:effectRef idx="1">
            <a:schemeClr val="accent1"/>
          </a:effectRef>
          <a:fontRef idx="minor">
            <a:schemeClr val="lt1"/>
          </a:fontRef>
        </p:style>
        <p:txBody>
          <a:bodyPr lIns="36000" tIns="36000" rIns="36000" bIns="36000" rtlCol="0" anchor="ctr"/>
          <a:lstStyle/>
          <a:p>
            <a:pPr algn="ctr" fontAlgn="auto">
              <a:spcBef>
                <a:spcPts val="0"/>
              </a:spcBef>
              <a:spcAft>
                <a:spcPts val="0"/>
              </a:spcAft>
            </a:pPr>
            <a:fld id="{90AA6819-7E7F-4C14-8B24-A68214AB9022}" type="slidenum">
              <a:rPr lang="zh-CN" altLang="en-US" sz="1200" b="1">
                <a:solidFill>
                  <a:prstClr val="white"/>
                </a:solidFill>
                <a:latin typeface="微软雅黑" panose="020B0503020204020204" pitchFamily="34" charset="-122"/>
                <a:ea typeface="微软雅黑" panose="020B0503020204020204" pitchFamily="34" charset="-122"/>
              </a:rPr>
              <a:t>‹#›</a:t>
            </a:fld>
            <a:endParaRPr lang="zh-CN" altLang="en-US" sz="12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0945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
        <p:nvSpPr>
          <p:cNvPr id="5" name="椭圆 40"/>
          <p:cNvSpPr/>
          <p:nvPr userDrawn="1"/>
        </p:nvSpPr>
        <p:spPr>
          <a:xfrm>
            <a:off x="11381015" y="6310400"/>
            <a:ext cx="625930" cy="457026"/>
          </a:xfrm>
          <a:prstGeom prst="ellipse">
            <a:avLst/>
          </a:prstGeom>
          <a:solidFill>
            <a:srgbClr val="0070C0"/>
          </a:solidFill>
          <a:effectLst>
            <a:outerShdw blurRad="40005" dist="20320" dir="5400000" algn="ctr" rotWithShape="0">
              <a:schemeClr val="tx1">
                <a:alpha val="38000"/>
              </a:schemeClr>
            </a:outerShdw>
          </a:effectLst>
        </p:spPr>
        <p:style>
          <a:lnRef idx="3">
            <a:schemeClr val="lt1"/>
          </a:lnRef>
          <a:fillRef idx="1">
            <a:schemeClr val="accent1"/>
          </a:fillRef>
          <a:effectRef idx="1">
            <a:schemeClr val="accent1"/>
          </a:effectRef>
          <a:fontRef idx="minor">
            <a:schemeClr val="lt1"/>
          </a:fontRef>
        </p:style>
        <p:txBody>
          <a:bodyPr lIns="36000" tIns="36000" rIns="36000" bIns="36000" rtlCol="0" anchor="ctr"/>
          <a:lstStyle/>
          <a:p>
            <a:pPr algn="ctr" fontAlgn="auto">
              <a:spcBef>
                <a:spcPts val="0"/>
              </a:spcBef>
              <a:spcAft>
                <a:spcPts val="0"/>
              </a:spcAft>
            </a:pPr>
            <a:fld id="{90AA6819-7E7F-4C14-8B24-A68214AB9022}" type="slidenum">
              <a:rPr lang="zh-CN" altLang="en-US" sz="1200" b="1">
                <a:solidFill>
                  <a:prstClr val="white"/>
                </a:solidFill>
                <a:latin typeface="微软雅黑" panose="020B0503020204020204" pitchFamily="34" charset="-122"/>
                <a:ea typeface="微软雅黑" panose="020B0503020204020204" pitchFamily="34" charset="-122"/>
              </a:rPr>
              <a:t>‹#›</a:t>
            </a:fld>
            <a:endParaRPr lang="zh-CN" altLang="en-US" sz="12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63795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646753" y="1726880"/>
            <a:ext cx="8585847" cy="1783082"/>
          </a:xfrm>
          <a:prstGeom prst="rect">
            <a:avLst/>
          </a:prstGeom>
        </p:spPr>
        <p:txBody>
          <a:bodyPr anchor="b"/>
          <a:lstStyle>
            <a:lvl1pPr algn="ctr">
              <a:defRPr sz="4000" b="1">
                <a:solidFill>
                  <a:schemeClr val="accent1">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1646752" y="3705101"/>
            <a:ext cx="8585847" cy="1552698"/>
          </a:xfrm>
        </p:spPr>
        <p:txBody>
          <a:bodyPr>
            <a:normAutofit/>
          </a:bodyPr>
          <a:lstStyle>
            <a:lvl1pPr marL="0" indent="0" algn="ctr">
              <a:buNone/>
              <a:defRPr sz="2800" b="0">
                <a:solidFill>
                  <a:srgbClr val="4B649F"/>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382A3CAD-76BE-422E-B8F6-EDB512BFEC95}" type="datetime1">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pic>
        <p:nvPicPr>
          <p:cNvPr id="7" name="图片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68644" y="4757740"/>
            <a:ext cx="4399359"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9"/>
          <p:cNvSpPr/>
          <p:nvPr userDrawn="1"/>
        </p:nvSpPr>
        <p:spPr>
          <a:xfrm>
            <a:off x="1468754" y="1701661"/>
            <a:ext cx="8918627" cy="365089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nvGrpSpPr>
          <p:cNvPr id="10" name="Group 1"/>
          <p:cNvGrpSpPr/>
          <p:nvPr userDrawn="1"/>
        </p:nvGrpSpPr>
        <p:grpSpPr>
          <a:xfrm>
            <a:off x="10031385" y="4810119"/>
            <a:ext cx="558403" cy="528638"/>
            <a:chOff x="10637838" y="3171860"/>
            <a:chExt cx="744537" cy="704850"/>
          </a:xfrm>
        </p:grpSpPr>
        <p:sp>
          <p:nvSpPr>
            <p:cNvPr id="11" name="矩形 21"/>
            <p:cNvSpPr/>
            <p:nvPr/>
          </p:nvSpPr>
          <p:spPr>
            <a:xfrm>
              <a:off x="10906125" y="3400460"/>
              <a:ext cx="476250" cy="4762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2" name="矩形 22"/>
            <p:cNvSpPr/>
            <p:nvPr/>
          </p:nvSpPr>
          <p:spPr>
            <a:xfrm>
              <a:off x="10637838" y="3171860"/>
              <a:ext cx="474662" cy="474662"/>
            </a:xfrm>
            <a:prstGeom prst="rect">
              <a:avLst/>
            </a:prstGeom>
            <a:solidFill>
              <a:schemeClr val="accent6">
                <a:lumMod val="60000"/>
                <a:lumOff val="4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grpSp>
        <p:nvGrpSpPr>
          <p:cNvPr id="13" name="Group 3"/>
          <p:cNvGrpSpPr/>
          <p:nvPr userDrawn="1"/>
        </p:nvGrpSpPr>
        <p:grpSpPr>
          <a:xfrm>
            <a:off x="1354455" y="1612580"/>
            <a:ext cx="470297" cy="470297"/>
            <a:chOff x="1308100" y="1397035"/>
            <a:chExt cx="627063" cy="627062"/>
          </a:xfrm>
        </p:grpSpPr>
        <p:sp>
          <p:nvSpPr>
            <p:cNvPr id="14" name="矩形 24"/>
            <p:cNvSpPr/>
            <p:nvPr/>
          </p:nvSpPr>
          <p:spPr>
            <a:xfrm>
              <a:off x="1308100" y="1397035"/>
              <a:ext cx="474663" cy="4746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5" name="矩形 25"/>
            <p:cNvSpPr/>
            <p:nvPr/>
          </p:nvSpPr>
          <p:spPr>
            <a:xfrm>
              <a:off x="1460500" y="1549435"/>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spTree>
    <p:extLst>
      <p:ext uri="{BB962C8B-B14F-4D97-AF65-F5344CB8AC3E}">
        <p14:creationId xmlns:p14="http://schemas.microsoft.com/office/powerpoint/2010/main" val="1181872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标题 1"/>
          <p:cNvSpPr txBox="1"/>
          <p:nvPr userDrawn="1"/>
        </p:nvSpPr>
        <p:spPr>
          <a:xfrm>
            <a:off x="-1556395" y="0"/>
            <a:ext cx="8585847" cy="2047869"/>
          </a:xfrm>
          <a:prstGeom prst="rect">
            <a:avLst/>
          </a:prstGeom>
        </p:spPr>
        <p:txBody>
          <a:bodyPr vert="horz" lIns="91440" tIns="45720" rIns="91440" bIns="45720" rtlCol="0" anchor="ctr" anchorCtr="0">
            <a:normAutofit/>
          </a:bodyPr>
          <a:lstStyle>
            <a:lvl1pPr algn="ctr" defTabSz="914400" rtl="0" eaLnBrk="1" latinLnBrk="0" hangingPunct="1">
              <a:lnSpc>
                <a:spcPct val="90000"/>
              </a:lnSpc>
              <a:spcBef>
                <a:spcPct val="0"/>
              </a:spcBef>
              <a:buNone/>
              <a:defRPr sz="4000" b="1" kern="1200">
                <a:solidFill>
                  <a:schemeClr val="accent1">
                    <a:lumMod val="50000"/>
                  </a:schemeClr>
                </a:solidFill>
                <a:latin typeface="微软雅黑" panose="020B0503020204020204" pitchFamily="34" charset="-122"/>
                <a:ea typeface="微软雅黑" panose="020B0503020204020204" pitchFamily="34" charset="-122"/>
                <a:cs typeface="+mj-cs"/>
              </a:defRPr>
            </a:lvl1pPr>
          </a:lstStyle>
          <a:p>
            <a:endParaRPr lang="zh-CN" altLang="en-US" dirty="0"/>
          </a:p>
        </p:txBody>
      </p:sp>
      <p:pic>
        <p:nvPicPr>
          <p:cNvPr id="8" name="图片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30543" y="4057650"/>
            <a:ext cx="4399359"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9"/>
          <p:cNvSpPr/>
          <p:nvPr userDrawn="1"/>
        </p:nvSpPr>
        <p:spPr>
          <a:xfrm>
            <a:off x="1468754" y="2419350"/>
            <a:ext cx="8918627" cy="207645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nvGrpSpPr>
          <p:cNvPr id="10" name="Group 1"/>
          <p:cNvGrpSpPr/>
          <p:nvPr userDrawn="1"/>
        </p:nvGrpSpPr>
        <p:grpSpPr>
          <a:xfrm>
            <a:off x="9993285" y="4295769"/>
            <a:ext cx="558403" cy="528638"/>
            <a:chOff x="10637838" y="3171860"/>
            <a:chExt cx="744537" cy="704850"/>
          </a:xfrm>
        </p:grpSpPr>
        <p:sp>
          <p:nvSpPr>
            <p:cNvPr id="11" name="矩形 21"/>
            <p:cNvSpPr/>
            <p:nvPr/>
          </p:nvSpPr>
          <p:spPr>
            <a:xfrm>
              <a:off x="10906125" y="3400460"/>
              <a:ext cx="476250" cy="4762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2" name="矩形 22"/>
            <p:cNvSpPr/>
            <p:nvPr/>
          </p:nvSpPr>
          <p:spPr>
            <a:xfrm>
              <a:off x="10637838" y="3171860"/>
              <a:ext cx="474662" cy="474662"/>
            </a:xfrm>
            <a:prstGeom prst="rect">
              <a:avLst/>
            </a:prstGeom>
            <a:solidFill>
              <a:schemeClr val="accent6">
                <a:lumMod val="60000"/>
                <a:lumOff val="4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grpSp>
        <p:nvGrpSpPr>
          <p:cNvPr id="13" name="Group 3"/>
          <p:cNvGrpSpPr/>
          <p:nvPr userDrawn="1"/>
        </p:nvGrpSpPr>
        <p:grpSpPr>
          <a:xfrm>
            <a:off x="1411604" y="2184201"/>
            <a:ext cx="470297" cy="470297"/>
            <a:chOff x="1308100" y="1397035"/>
            <a:chExt cx="627063" cy="627062"/>
          </a:xfrm>
        </p:grpSpPr>
        <p:sp>
          <p:nvSpPr>
            <p:cNvPr id="14" name="矩形 24"/>
            <p:cNvSpPr/>
            <p:nvPr/>
          </p:nvSpPr>
          <p:spPr>
            <a:xfrm>
              <a:off x="1308100" y="1397035"/>
              <a:ext cx="474663" cy="4746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5" name="矩形 25"/>
            <p:cNvSpPr/>
            <p:nvPr/>
          </p:nvSpPr>
          <p:spPr>
            <a:xfrm>
              <a:off x="1460500" y="1549435"/>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sp>
        <p:nvSpPr>
          <p:cNvPr id="24" name="标题 1"/>
          <p:cNvSpPr>
            <a:spLocks noGrp="1"/>
          </p:cNvSpPr>
          <p:nvPr>
            <p:ph type="ctrTitle"/>
          </p:nvPr>
        </p:nvSpPr>
        <p:spPr>
          <a:xfrm>
            <a:off x="1646753" y="2546030"/>
            <a:ext cx="8585847" cy="1783082"/>
          </a:xfrm>
          <a:prstGeom prst="rect">
            <a:avLst/>
          </a:prstGeom>
        </p:spPr>
        <p:txBody>
          <a:bodyPr anchor="ctr" anchorCtr="0"/>
          <a:lstStyle>
            <a:lvl1pPr algn="ctr">
              <a:defRPr sz="4000" b="1">
                <a:solidFill>
                  <a:schemeClr val="accent1">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501020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4" name="Footer Placeholder 3"/>
          <p:cNvSpPr>
            <a:spLocks noGrp="1"/>
          </p:cNvSpPr>
          <p:nvPr>
            <p:ph type="ftr" sz="quarter" idx="11"/>
          </p:nvPr>
        </p:nvSpPr>
        <p:spPr/>
        <p:txBody>
          <a:bodyPr/>
          <a:lstStyle/>
          <a:p>
            <a:endParaRPr lang="zh-CN" altLang="en-US" dirty="0"/>
          </a:p>
        </p:txBody>
      </p:sp>
      <p:sp>
        <p:nvSpPr>
          <p:cNvPr id="7" name="Content Placeholder 6"/>
          <p:cNvSpPr>
            <a:spLocks noGrp="1"/>
          </p:cNvSpPr>
          <p:nvPr>
            <p:ph sz="quarter" idx="13"/>
          </p:nvPr>
        </p:nvSpPr>
        <p:spPr>
          <a:xfrm>
            <a:off x="190005" y="902526"/>
            <a:ext cx="11792198" cy="5379522"/>
          </a:xfrm>
        </p:spPr>
        <p:txBody>
          <a:bodyPr/>
          <a:lstStyle>
            <a:lvl1pPr>
              <a:lnSpc>
                <a:spcPct val="114000"/>
              </a:lnSpc>
              <a:defRPr sz="3000" baseline="0"/>
            </a:lvl1pPr>
            <a:lvl2pPr>
              <a:lnSpc>
                <a:spcPct val="114000"/>
              </a:lnSpc>
              <a:spcAft>
                <a:spcPts val="500"/>
              </a:spcAft>
              <a:defRPr sz="2600" baseline="0"/>
            </a:lvl2pPr>
            <a:lvl3pPr>
              <a:lnSpc>
                <a:spcPct val="114000"/>
              </a:lnSpc>
              <a:defRPr sz="2400" baseline="0"/>
            </a:lvl3pPr>
            <a:lvl4pPr>
              <a:lnSpc>
                <a:spcPct val="114000"/>
              </a:lnSpc>
              <a:defRPr sz="2200" baseline="0"/>
            </a:lvl4pPr>
            <a:lvl5pPr>
              <a:lnSpc>
                <a:spcPct val="114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lvl1pPr>
              <a:lnSpc>
                <a:spcPct val="100000"/>
              </a:lnSpc>
              <a:defRPr/>
            </a:lvl1pPr>
          </a:lstStyle>
          <a:p>
            <a:r>
              <a:rPr lang="en-US" dirty="0"/>
              <a:t>Click to edit Master title style</a:t>
            </a:r>
          </a:p>
        </p:txBody>
      </p:sp>
    </p:spTree>
    <p:extLst>
      <p:ext uri="{BB962C8B-B14F-4D97-AF65-F5344CB8AC3E}">
        <p14:creationId xmlns:p14="http://schemas.microsoft.com/office/powerpoint/2010/main" val="99297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6"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p>
            <a:r>
              <a:rPr lang="en-US" dirty="0"/>
              <a:t>Click to edit Master title style</a:t>
            </a:r>
          </a:p>
        </p:txBody>
      </p:sp>
      <p:sp>
        <p:nvSpPr>
          <p:cNvPr id="9" name="椭圆 40"/>
          <p:cNvSpPr/>
          <p:nvPr userDrawn="1"/>
        </p:nvSpPr>
        <p:spPr>
          <a:xfrm>
            <a:off x="11381015" y="6310400"/>
            <a:ext cx="625930" cy="457026"/>
          </a:xfrm>
          <a:prstGeom prst="ellipse">
            <a:avLst/>
          </a:prstGeom>
          <a:solidFill>
            <a:srgbClr val="0070C0"/>
          </a:solidFill>
          <a:effectLst>
            <a:outerShdw blurRad="40005" dist="20320" dir="5400000" algn="ctr" rotWithShape="0">
              <a:schemeClr val="tx1">
                <a:alpha val="38000"/>
              </a:schemeClr>
            </a:outerShdw>
          </a:effectLst>
        </p:spPr>
        <p:style>
          <a:lnRef idx="3">
            <a:schemeClr val="lt1"/>
          </a:lnRef>
          <a:fillRef idx="1">
            <a:schemeClr val="accent1"/>
          </a:fillRef>
          <a:effectRef idx="1">
            <a:schemeClr val="accent1"/>
          </a:effectRef>
          <a:fontRef idx="minor">
            <a:schemeClr val="lt1"/>
          </a:fontRef>
        </p:style>
        <p:txBody>
          <a:bodyPr lIns="36000" tIns="36000" rIns="36000" bIns="36000" rtlCol="0" anchor="ctr"/>
          <a:lstStyle/>
          <a:p>
            <a:pPr algn="ctr" fontAlgn="auto">
              <a:spcBef>
                <a:spcPts val="0"/>
              </a:spcBef>
              <a:spcAft>
                <a:spcPts val="0"/>
              </a:spcAft>
            </a:pPr>
            <a:fld id="{90AA6819-7E7F-4C14-8B24-A68214AB9022}" type="slidenum">
              <a:rPr lang="zh-CN" altLang="en-US" sz="1200" b="1">
                <a:solidFill>
                  <a:prstClr val="white"/>
                </a:solidFill>
                <a:latin typeface="微软雅黑" panose="020B0503020204020204" pitchFamily="34" charset="-122"/>
                <a:ea typeface="微软雅黑" panose="020B0503020204020204" pitchFamily="34" charset="-122"/>
              </a:rPr>
              <a:t>‹#›</a:t>
            </a:fld>
            <a:endParaRPr lang="zh-CN" altLang="en-US" sz="12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0347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
        <p:nvSpPr>
          <p:cNvPr id="5" name="椭圆 40"/>
          <p:cNvSpPr/>
          <p:nvPr userDrawn="1"/>
        </p:nvSpPr>
        <p:spPr>
          <a:xfrm>
            <a:off x="11381015" y="6310400"/>
            <a:ext cx="625930" cy="457026"/>
          </a:xfrm>
          <a:prstGeom prst="ellipse">
            <a:avLst/>
          </a:prstGeom>
          <a:solidFill>
            <a:srgbClr val="0070C0"/>
          </a:solidFill>
          <a:effectLst>
            <a:outerShdw blurRad="40005" dist="20320" dir="5400000" algn="ctr" rotWithShape="0">
              <a:schemeClr val="tx1">
                <a:alpha val="38000"/>
              </a:schemeClr>
            </a:outerShdw>
          </a:effectLst>
        </p:spPr>
        <p:style>
          <a:lnRef idx="3">
            <a:schemeClr val="lt1"/>
          </a:lnRef>
          <a:fillRef idx="1">
            <a:schemeClr val="accent1"/>
          </a:fillRef>
          <a:effectRef idx="1">
            <a:schemeClr val="accent1"/>
          </a:effectRef>
          <a:fontRef idx="minor">
            <a:schemeClr val="lt1"/>
          </a:fontRef>
        </p:style>
        <p:txBody>
          <a:bodyPr lIns="36000" tIns="36000" rIns="36000" bIns="36000" rtlCol="0" anchor="ctr"/>
          <a:lstStyle/>
          <a:p>
            <a:pPr algn="ctr" fontAlgn="auto">
              <a:spcBef>
                <a:spcPts val="0"/>
              </a:spcBef>
              <a:spcAft>
                <a:spcPts val="0"/>
              </a:spcAft>
            </a:pPr>
            <a:fld id="{90AA6819-7E7F-4C14-8B24-A68214AB9022}" type="slidenum">
              <a:rPr lang="zh-CN" altLang="en-US" sz="1200" b="1">
                <a:solidFill>
                  <a:prstClr val="white"/>
                </a:solidFill>
                <a:latin typeface="微软雅黑" panose="020B0503020204020204" pitchFamily="34" charset="-122"/>
                <a:ea typeface="微软雅黑" panose="020B0503020204020204" pitchFamily="34" charset="-122"/>
              </a:rPr>
              <a:t>‹#›</a:t>
            </a:fld>
            <a:endParaRPr lang="zh-CN" altLang="en-US" sz="12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844455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646753" y="1726880"/>
            <a:ext cx="8585847" cy="1783082"/>
          </a:xfrm>
          <a:prstGeom prst="rect">
            <a:avLst/>
          </a:prstGeom>
        </p:spPr>
        <p:txBody>
          <a:bodyPr anchor="b"/>
          <a:lstStyle>
            <a:lvl1pPr algn="ctr">
              <a:defRPr sz="4000" b="1">
                <a:solidFill>
                  <a:schemeClr val="accent1">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1646752" y="3705101"/>
            <a:ext cx="8585847" cy="1552698"/>
          </a:xfrm>
        </p:spPr>
        <p:txBody>
          <a:bodyPr>
            <a:normAutofit/>
          </a:bodyPr>
          <a:lstStyle>
            <a:lvl1pPr marL="0" indent="0" algn="ctr">
              <a:buNone/>
              <a:defRPr sz="2800" b="0">
                <a:solidFill>
                  <a:srgbClr val="4B649F"/>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382A3CAD-76BE-422E-B8F6-EDB512BFEC95}" type="datetime1">
              <a:rPr lang="zh-CN" altLang="en-US" smtClean="0"/>
              <a:t>2026/9/28</a:t>
            </a:fld>
            <a:endParaRPr lang="zh-CN" altLang="en-US"/>
          </a:p>
        </p:txBody>
      </p:sp>
      <p:sp>
        <p:nvSpPr>
          <p:cNvPr id="5" name="页脚占位符 4"/>
          <p:cNvSpPr>
            <a:spLocks noGrp="1"/>
          </p:cNvSpPr>
          <p:nvPr>
            <p:ph type="ftr" sz="quarter" idx="11"/>
          </p:nvPr>
        </p:nvSpPr>
        <p:spPr/>
        <p:txBody>
          <a:bodyPr/>
          <a:lstStyle/>
          <a:p>
            <a:endParaRPr lang="zh-CN" altLang="en-US"/>
          </a:p>
        </p:txBody>
      </p:sp>
      <p:pic>
        <p:nvPicPr>
          <p:cNvPr id="7" name="图片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68644" y="4757740"/>
            <a:ext cx="4399359"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9"/>
          <p:cNvSpPr/>
          <p:nvPr userDrawn="1"/>
        </p:nvSpPr>
        <p:spPr>
          <a:xfrm>
            <a:off x="1468754" y="1701661"/>
            <a:ext cx="8918627" cy="365089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nvGrpSpPr>
          <p:cNvPr id="10" name="Group 1"/>
          <p:cNvGrpSpPr/>
          <p:nvPr userDrawn="1"/>
        </p:nvGrpSpPr>
        <p:grpSpPr>
          <a:xfrm>
            <a:off x="10031385" y="4810119"/>
            <a:ext cx="558403" cy="528638"/>
            <a:chOff x="10637838" y="3171860"/>
            <a:chExt cx="744537" cy="704850"/>
          </a:xfrm>
        </p:grpSpPr>
        <p:sp>
          <p:nvSpPr>
            <p:cNvPr id="11" name="矩形 21"/>
            <p:cNvSpPr/>
            <p:nvPr/>
          </p:nvSpPr>
          <p:spPr>
            <a:xfrm>
              <a:off x="10906125" y="3400460"/>
              <a:ext cx="476250" cy="4762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2" name="矩形 22"/>
            <p:cNvSpPr/>
            <p:nvPr/>
          </p:nvSpPr>
          <p:spPr>
            <a:xfrm>
              <a:off x="10637838" y="3171860"/>
              <a:ext cx="474662" cy="474662"/>
            </a:xfrm>
            <a:prstGeom prst="rect">
              <a:avLst/>
            </a:prstGeom>
            <a:solidFill>
              <a:schemeClr val="accent6">
                <a:lumMod val="60000"/>
                <a:lumOff val="4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grpSp>
        <p:nvGrpSpPr>
          <p:cNvPr id="13" name="Group 3"/>
          <p:cNvGrpSpPr/>
          <p:nvPr userDrawn="1"/>
        </p:nvGrpSpPr>
        <p:grpSpPr>
          <a:xfrm>
            <a:off x="1354455" y="1612580"/>
            <a:ext cx="470297" cy="470297"/>
            <a:chOff x="1308100" y="1397035"/>
            <a:chExt cx="627063" cy="627062"/>
          </a:xfrm>
        </p:grpSpPr>
        <p:sp>
          <p:nvSpPr>
            <p:cNvPr id="14" name="矩形 24"/>
            <p:cNvSpPr/>
            <p:nvPr/>
          </p:nvSpPr>
          <p:spPr>
            <a:xfrm>
              <a:off x="1308100" y="1397035"/>
              <a:ext cx="474663" cy="4746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5" name="矩形 25"/>
            <p:cNvSpPr/>
            <p:nvPr/>
          </p:nvSpPr>
          <p:spPr>
            <a:xfrm>
              <a:off x="1460500" y="1549435"/>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spTree>
    <p:extLst>
      <p:ext uri="{BB962C8B-B14F-4D97-AF65-F5344CB8AC3E}">
        <p14:creationId xmlns:p14="http://schemas.microsoft.com/office/powerpoint/2010/main" val="198251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标题 1"/>
          <p:cNvSpPr txBox="1"/>
          <p:nvPr userDrawn="1"/>
        </p:nvSpPr>
        <p:spPr>
          <a:xfrm>
            <a:off x="-1556395" y="0"/>
            <a:ext cx="8585847" cy="2047869"/>
          </a:xfrm>
          <a:prstGeom prst="rect">
            <a:avLst/>
          </a:prstGeom>
        </p:spPr>
        <p:txBody>
          <a:bodyPr vert="horz" lIns="91440" tIns="45720" rIns="91440" bIns="45720" rtlCol="0" anchor="ctr" anchorCtr="0">
            <a:normAutofit/>
          </a:bodyPr>
          <a:lstStyle>
            <a:lvl1pPr algn="ctr" defTabSz="914400" rtl="0" eaLnBrk="1" latinLnBrk="0" hangingPunct="1">
              <a:lnSpc>
                <a:spcPct val="90000"/>
              </a:lnSpc>
              <a:spcBef>
                <a:spcPct val="0"/>
              </a:spcBef>
              <a:buNone/>
              <a:defRPr sz="4000" b="1" kern="1200">
                <a:solidFill>
                  <a:schemeClr val="accent1">
                    <a:lumMod val="50000"/>
                  </a:schemeClr>
                </a:solidFill>
                <a:latin typeface="微软雅黑" panose="020B0503020204020204" pitchFamily="34" charset="-122"/>
                <a:ea typeface="微软雅黑" panose="020B0503020204020204" pitchFamily="34" charset="-122"/>
                <a:cs typeface="+mj-cs"/>
              </a:defRPr>
            </a:lvl1pPr>
          </a:lstStyle>
          <a:p>
            <a:endParaRPr lang="zh-CN" altLang="en-US" dirty="0"/>
          </a:p>
        </p:txBody>
      </p:sp>
      <p:pic>
        <p:nvPicPr>
          <p:cNvPr id="8" name="图片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30543" y="4057650"/>
            <a:ext cx="4399359"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9"/>
          <p:cNvSpPr/>
          <p:nvPr userDrawn="1"/>
        </p:nvSpPr>
        <p:spPr>
          <a:xfrm>
            <a:off x="1468754" y="2419350"/>
            <a:ext cx="8918627" cy="207645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nvGrpSpPr>
          <p:cNvPr id="10" name="Group 1"/>
          <p:cNvGrpSpPr/>
          <p:nvPr userDrawn="1"/>
        </p:nvGrpSpPr>
        <p:grpSpPr>
          <a:xfrm>
            <a:off x="9993285" y="4295769"/>
            <a:ext cx="558403" cy="528638"/>
            <a:chOff x="10637838" y="3171860"/>
            <a:chExt cx="744537" cy="704850"/>
          </a:xfrm>
        </p:grpSpPr>
        <p:sp>
          <p:nvSpPr>
            <p:cNvPr id="11" name="矩形 21"/>
            <p:cNvSpPr/>
            <p:nvPr/>
          </p:nvSpPr>
          <p:spPr>
            <a:xfrm>
              <a:off x="10906125" y="3400460"/>
              <a:ext cx="476250" cy="4762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2" name="矩形 22"/>
            <p:cNvSpPr/>
            <p:nvPr/>
          </p:nvSpPr>
          <p:spPr>
            <a:xfrm>
              <a:off x="10637838" y="3171860"/>
              <a:ext cx="474662" cy="474662"/>
            </a:xfrm>
            <a:prstGeom prst="rect">
              <a:avLst/>
            </a:prstGeom>
            <a:solidFill>
              <a:schemeClr val="accent6">
                <a:lumMod val="60000"/>
                <a:lumOff val="4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grpSp>
        <p:nvGrpSpPr>
          <p:cNvPr id="13" name="Group 3"/>
          <p:cNvGrpSpPr/>
          <p:nvPr userDrawn="1"/>
        </p:nvGrpSpPr>
        <p:grpSpPr>
          <a:xfrm>
            <a:off x="1411604" y="2184201"/>
            <a:ext cx="470297" cy="470297"/>
            <a:chOff x="1308100" y="1397035"/>
            <a:chExt cx="627063" cy="627062"/>
          </a:xfrm>
        </p:grpSpPr>
        <p:sp>
          <p:nvSpPr>
            <p:cNvPr id="14" name="矩形 24"/>
            <p:cNvSpPr/>
            <p:nvPr/>
          </p:nvSpPr>
          <p:spPr>
            <a:xfrm>
              <a:off x="1308100" y="1397035"/>
              <a:ext cx="474663" cy="4746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sp>
          <p:nvSpPr>
            <p:cNvPr id="15" name="矩形 25"/>
            <p:cNvSpPr/>
            <p:nvPr/>
          </p:nvSpPr>
          <p:spPr>
            <a:xfrm>
              <a:off x="1460500" y="1549435"/>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350" b="0" noProof="1">
                <a:solidFill>
                  <a:prstClr val="white"/>
                </a:solidFill>
                <a:latin typeface="等线" panose="02010600030101010101" charset="-122"/>
                <a:ea typeface="等线" panose="02010600030101010101" charset="-122"/>
              </a:endParaRPr>
            </a:p>
          </p:txBody>
        </p:sp>
      </p:grpSp>
      <p:sp>
        <p:nvSpPr>
          <p:cNvPr id="24" name="标题 1"/>
          <p:cNvSpPr>
            <a:spLocks noGrp="1"/>
          </p:cNvSpPr>
          <p:nvPr>
            <p:ph type="ctrTitle"/>
          </p:nvPr>
        </p:nvSpPr>
        <p:spPr>
          <a:xfrm>
            <a:off x="1646753" y="2546030"/>
            <a:ext cx="8585847" cy="1783082"/>
          </a:xfrm>
          <a:prstGeom prst="rect">
            <a:avLst/>
          </a:prstGeom>
        </p:spPr>
        <p:txBody>
          <a:bodyPr anchor="ctr" anchorCtr="0"/>
          <a:lstStyle>
            <a:lvl1pPr algn="ctr">
              <a:defRPr sz="4000" b="1">
                <a:solidFill>
                  <a:schemeClr val="accent1">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128577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4" name="Footer Placeholder 3"/>
          <p:cNvSpPr>
            <a:spLocks noGrp="1"/>
          </p:cNvSpPr>
          <p:nvPr>
            <p:ph type="ftr" sz="quarter" idx="11"/>
          </p:nvPr>
        </p:nvSpPr>
        <p:spPr/>
        <p:txBody>
          <a:bodyPr/>
          <a:lstStyle/>
          <a:p>
            <a:endParaRPr lang="zh-CN" altLang="en-US" dirty="0"/>
          </a:p>
        </p:txBody>
      </p:sp>
      <p:sp>
        <p:nvSpPr>
          <p:cNvPr id="7" name="Content Placeholder 6"/>
          <p:cNvSpPr>
            <a:spLocks noGrp="1"/>
          </p:cNvSpPr>
          <p:nvPr>
            <p:ph sz="quarter" idx="13"/>
          </p:nvPr>
        </p:nvSpPr>
        <p:spPr>
          <a:xfrm>
            <a:off x="190005" y="902526"/>
            <a:ext cx="11792198" cy="5379522"/>
          </a:xfr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lvl1pPr>
              <a:lnSpc>
                <a:spcPct val="100000"/>
              </a:lnSpc>
              <a:defRPr/>
            </a:lvl1pPr>
          </a:lstStyle>
          <a:p>
            <a:r>
              <a:rPr lang="en-US" dirty="0"/>
              <a:t>Click to edit Master title style</a:t>
            </a:r>
          </a:p>
        </p:txBody>
      </p:sp>
      <p:sp>
        <p:nvSpPr>
          <p:cNvPr id="11" name="椭圆 40"/>
          <p:cNvSpPr/>
          <p:nvPr userDrawn="1"/>
        </p:nvSpPr>
        <p:spPr>
          <a:xfrm>
            <a:off x="11381015" y="6310400"/>
            <a:ext cx="625930" cy="457026"/>
          </a:xfrm>
          <a:prstGeom prst="ellipse">
            <a:avLst/>
          </a:prstGeom>
          <a:solidFill>
            <a:srgbClr val="0070C0"/>
          </a:solidFill>
          <a:effectLst>
            <a:outerShdw blurRad="40005" dist="20320" dir="5400000" algn="ctr" rotWithShape="0">
              <a:schemeClr val="tx1">
                <a:alpha val="38000"/>
              </a:schemeClr>
            </a:outerShdw>
          </a:effectLst>
        </p:spPr>
        <p:style>
          <a:lnRef idx="3">
            <a:schemeClr val="lt1"/>
          </a:lnRef>
          <a:fillRef idx="1">
            <a:schemeClr val="accent1"/>
          </a:fillRef>
          <a:effectRef idx="1">
            <a:schemeClr val="accent1"/>
          </a:effectRef>
          <a:fontRef idx="minor">
            <a:schemeClr val="lt1"/>
          </a:fontRef>
        </p:style>
        <p:txBody>
          <a:bodyPr lIns="36000" tIns="36000" rIns="36000" bIns="36000" rtlCol="0" anchor="ctr"/>
          <a:lstStyle/>
          <a:p>
            <a:pPr algn="ctr" fontAlgn="auto">
              <a:spcBef>
                <a:spcPts val="0"/>
              </a:spcBef>
              <a:spcAft>
                <a:spcPts val="0"/>
              </a:spcAft>
            </a:pPr>
            <a:fld id="{90AA6819-7E7F-4C14-8B24-A68214AB9022}" type="slidenum">
              <a:rPr lang="zh-CN" altLang="en-US" sz="1200" b="1">
                <a:solidFill>
                  <a:prstClr val="white"/>
                </a:solidFill>
                <a:latin typeface="微软雅黑" panose="020B0503020204020204" pitchFamily="34" charset="-122"/>
                <a:ea typeface="微软雅黑" panose="020B0503020204020204" pitchFamily="34" charset="-122"/>
              </a:rPr>
              <a:t>‹#›</a:t>
            </a:fld>
            <a:endParaRPr lang="zh-CN" altLang="en-US" sz="1200" b="1" dirty="0">
              <a:solidFill>
                <a:prstClr val="white"/>
              </a:solidFill>
              <a:latin typeface="微软雅黑" panose="020B0503020204020204" pitchFamily="34" charset="-122"/>
              <a:ea typeface="微软雅黑" panose="020B0503020204020204" pitchFamily="34" charset="-122"/>
            </a:endParaRPr>
          </a:p>
        </p:txBody>
      </p:sp>
      <p:cxnSp>
        <p:nvCxnSpPr>
          <p:cNvPr id="5" name="直接连接符 6">
            <a:extLst>
              <a:ext uri="{FF2B5EF4-FFF2-40B4-BE49-F238E27FC236}">
                <a16:creationId xmlns:a16="http://schemas.microsoft.com/office/drawing/2014/main" id="{033745AD-CD67-F565-CCCF-FE1E3D5F6F6D}"/>
              </a:ext>
            </a:extLst>
          </p:cNvPr>
          <p:cNvCxnSpPr/>
          <p:nvPr userDrawn="1"/>
        </p:nvCxnSpPr>
        <p:spPr>
          <a:xfrm>
            <a:off x="0" y="7858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545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6"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p>
            <a:r>
              <a:rPr lang="en-US" dirty="0"/>
              <a:t>Click to edit Master title style</a:t>
            </a:r>
          </a:p>
        </p:txBody>
      </p:sp>
      <p:sp>
        <p:nvSpPr>
          <p:cNvPr id="9" name="椭圆 40"/>
          <p:cNvSpPr/>
          <p:nvPr userDrawn="1"/>
        </p:nvSpPr>
        <p:spPr>
          <a:xfrm>
            <a:off x="11381015" y="6310400"/>
            <a:ext cx="625930" cy="457026"/>
          </a:xfrm>
          <a:prstGeom prst="ellipse">
            <a:avLst/>
          </a:prstGeom>
          <a:solidFill>
            <a:srgbClr val="0070C0"/>
          </a:solidFill>
          <a:effectLst>
            <a:outerShdw blurRad="40005" dist="20320" dir="5400000" algn="ctr" rotWithShape="0">
              <a:schemeClr val="tx1">
                <a:alpha val="38000"/>
              </a:schemeClr>
            </a:outerShdw>
          </a:effectLst>
        </p:spPr>
        <p:style>
          <a:lnRef idx="3">
            <a:schemeClr val="lt1"/>
          </a:lnRef>
          <a:fillRef idx="1">
            <a:schemeClr val="accent1"/>
          </a:fillRef>
          <a:effectRef idx="1">
            <a:schemeClr val="accent1"/>
          </a:effectRef>
          <a:fontRef idx="minor">
            <a:schemeClr val="lt1"/>
          </a:fontRef>
        </p:style>
        <p:txBody>
          <a:bodyPr lIns="36000" tIns="36000" rIns="36000" bIns="36000" rtlCol="0" anchor="ctr"/>
          <a:lstStyle/>
          <a:p>
            <a:pPr algn="ctr" fontAlgn="auto">
              <a:spcBef>
                <a:spcPts val="0"/>
              </a:spcBef>
              <a:spcAft>
                <a:spcPts val="0"/>
              </a:spcAft>
            </a:pPr>
            <a:fld id="{90AA6819-7E7F-4C14-8B24-A68214AB9022}" type="slidenum">
              <a:rPr lang="zh-CN" altLang="en-US" sz="1200" b="1">
                <a:solidFill>
                  <a:prstClr val="white"/>
                </a:solidFill>
                <a:latin typeface="微软雅黑" panose="020B0503020204020204" pitchFamily="34" charset="-122"/>
                <a:ea typeface="微软雅黑" panose="020B0503020204020204" pitchFamily="34" charset="-122"/>
              </a:rPr>
              <a:t>‹#›</a:t>
            </a:fld>
            <a:endParaRPr lang="zh-CN" altLang="en-US" sz="1200" b="1" dirty="0">
              <a:solidFill>
                <a:prstClr val="white"/>
              </a:solidFill>
              <a:latin typeface="微软雅黑" panose="020B0503020204020204" pitchFamily="34" charset="-122"/>
              <a:ea typeface="微软雅黑" panose="020B0503020204020204" pitchFamily="34" charset="-122"/>
            </a:endParaRPr>
          </a:p>
        </p:txBody>
      </p:sp>
      <p:cxnSp>
        <p:nvCxnSpPr>
          <p:cNvPr id="2" name="直接连接符 6">
            <a:extLst>
              <a:ext uri="{FF2B5EF4-FFF2-40B4-BE49-F238E27FC236}">
                <a16:creationId xmlns:a16="http://schemas.microsoft.com/office/drawing/2014/main" id="{85F0F75B-E19B-110C-208A-4A9A2D260962}"/>
              </a:ext>
            </a:extLst>
          </p:cNvPr>
          <p:cNvCxnSpPr/>
          <p:nvPr userDrawn="1"/>
        </p:nvCxnSpPr>
        <p:spPr>
          <a:xfrm>
            <a:off x="0" y="7858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59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2800E37-E163-40CA-8146-A68431A5A674}" type="datetime1">
              <a:rPr lang="zh-CN" altLang="en-US" smtClean="0"/>
              <a:t>2026/9/28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1983265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85007" y="890649"/>
            <a:ext cx="11720945" cy="5367646"/>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1919748"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D2800E37-E163-40CA-8146-A68431A5A674}" type="datetime1">
              <a:rPr lang="zh-CN" altLang="en-US" smtClean="0"/>
              <a:t>2026/9/28</a:t>
            </a:fld>
            <a:endParaRPr lang="zh-CN" altLang="en-US"/>
          </a:p>
        </p:txBody>
      </p:sp>
      <p:sp>
        <p:nvSpPr>
          <p:cNvPr id="5" name="页脚占位符 4"/>
          <p:cNvSpPr>
            <a:spLocks noGrp="1"/>
          </p:cNvSpPr>
          <p:nvPr>
            <p:ph type="ftr" sz="quarter" idx="3"/>
          </p:nvPr>
        </p:nvSpPr>
        <p:spPr>
          <a:xfrm>
            <a:off x="2757948" y="6356350"/>
            <a:ext cx="8288594"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cxnSp>
        <p:nvCxnSpPr>
          <p:cNvPr id="9" name="直接连接符 6"/>
          <p:cNvCxnSpPr/>
          <p:nvPr userDrawn="1"/>
        </p:nvCxnSpPr>
        <p:spPr>
          <a:xfrm>
            <a:off x="0" y="7858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11"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902556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000" b="1" kern="1200">
          <a:solidFill>
            <a:srgbClr val="4B649F"/>
          </a:solidFill>
          <a:latin typeface="微软雅黑" panose="020B0503020204020204" pitchFamily="34" charset="-122"/>
          <a:ea typeface="微软雅黑" panose="020B0503020204020204" pitchFamily="34" charset="-122"/>
          <a:cs typeface="+mj-cs"/>
        </a:defRPr>
      </a:lvl1pPr>
    </p:titleStyle>
    <p:bodyStyle>
      <a:lvl1pPr marL="355600" indent="-355600" algn="l" defTabSz="914400" rtl="0" eaLnBrk="1" latinLnBrk="0" hangingPunct="1">
        <a:lnSpc>
          <a:spcPct val="90000"/>
        </a:lnSpc>
        <a:spcBef>
          <a:spcPts val="1000"/>
        </a:spcBef>
        <a:buClr>
          <a:schemeClr val="accent1"/>
        </a:buClr>
        <a:buSzPct val="90000"/>
        <a:buFont typeface="Wingdings" panose="05000000000000000000" pitchFamily="2" charset="2"/>
        <a:buChar char="q"/>
        <a:defRPr sz="2800" b="1" kern="1200">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1pPr>
      <a:lvl2pPr marL="685800" indent="-234950" algn="l" defTabSz="914400" rtl="0" eaLnBrk="1" latinLnBrk="0" hangingPunct="1">
        <a:lnSpc>
          <a:spcPct val="90000"/>
        </a:lnSpc>
        <a:spcBef>
          <a:spcPts val="500"/>
        </a:spcBef>
        <a:buClr>
          <a:schemeClr val="accent1"/>
        </a:buClr>
        <a:buSzPct val="90000"/>
        <a:buFont typeface="Wingdings" panose="05000000000000000000" pitchFamily="2" charset="2"/>
        <a:buChar char="n"/>
        <a:defRPr sz="2400" kern="1200">
          <a:solidFill>
            <a:schemeClr val="tx1"/>
          </a:solidFill>
          <a:latin typeface="微软雅黑" panose="020B0503020204020204" pitchFamily="34" charset="-122"/>
          <a:ea typeface="微软雅黑" panose="020B0503020204020204" pitchFamily="34" charset="-122"/>
          <a:cs typeface="+mn-cs"/>
        </a:defRPr>
      </a:lvl2pPr>
      <a:lvl3pPr marL="986155" indent="-273050" algn="l" defTabSz="914400" rtl="0" eaLnBrk="1" latinLnBrk="0" hangingPunct="1">
        <a:lnSpc>
          <a:spcPct val="90000"/>
        </a:lnSpc>
        <a:spcBef>
          <a:spcPts val="500"/>
        </a:spcBef>
        <a:buClr>
          <a:schemeClr val="accent1"/>
        </a:buClr>
        <a:buFont typeface="Wingdings" panose="05000000000000000000" pitchFamily="2" charset="2"/>
        <a:buChar char="v"/>
        <a:defRPr sz="2000" kern="1200">
          <a:solidFill>
            <a:schemeClr val="tx1"/>
          </a:solidFill>
          <a:latin typeface="微软雅黑" panose="020B0503020204020204" pitchFamily="34" charset="-122"/>
          <a:ea typeface="微软雅黑" panose="020B0503020204020204" pitchFamily="34" charset="-122"/>
          <a:cs typeface="+mn-cs"/>
        </a:defRPr>
      </a:lvl3pPr>
      <a:lvl4pPr marL="1262380" indent="-228600" algn="l" defTabSz="914400" rtl="0" eaLnBrk="1" latinLnBrk="0" hangingPunct="1">
        <a:lnSpc>
          <a:spcPct val="90000"/>
        </a:lnSpc>
        <a:spcBef>
          <a:spcPts val="500"/>
        </a:spcBef>
        <a:buClr>
          <a:schemeClr val="accent1"/>
        </a:buClr>
        <a:buFont typeface="Wingdings" panose="05000000000000000000" pitchFamily="2" charset="2"/>
        <a:buChar char="ü"/>
        <a:defRPr sz="1800" kern="1200">
          <a:solidFill>
            <a:schemeClr val="tx1"/>
          </a:solidFill>
          <a:latin typeface="微软雅黑" panose="020B0503020204020204" pitchFamily="34" charset="-122"/>
          <a:ea typeface="微软雅黑" panose="020B0503020204020204" pitchFamily="34" charset="-122"/>
          <a:cs typeface="+mn-cs"/>
        </a:defRPr>
      </a:lvl4pPr>
      <a:lvl5pPr marL="1524000" indent="-2286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85007" y="890649"/>
            <a:ext cx="11720945" cy="5367646"/>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1919748"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D2800E37-E163-40CA-8146-A68431A5A674}" type="datetime1">
              <a:rPr lang="zh-CN" altLang="en-US" smtClean="0"/>
              <a:t>2026/9/28</a:t>
            </a:fld>
            <a:endParaRPr lang="zh-CN" altLang="en-US"/>
          </a:p>
        </p:txBody>
      </p:sp>
      <p:sp>
        <p:nvSpPr>
          <p:cNvPr id="5" name="页脚占位符 4"/>
          <p:cNvSpPr>
            <a:spLocks noGrp="1"/>
          </p:cNvSpPr>
          <p:nvPr>
            <p:ph type="ftr" sz="quarter" idx="3"/>
          </p:nvPr>
        </p:nvSpPr>
        <p:spPr>
          <a:xfrm>
            <a:off x="2757948" y="6356350"/>
            <a:ext cx="8288594"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cxnSp>
        <p:nvCxnSpPr>
          <p:cNvPr id="9" name="直接连接符 6"/>
          <p:cNvCxnSpPr/>
          <p:nvPr userDrawn="1"/>
        </p:nvCxnSpPr>
        <p:spPr>
          <a:xfrm>
            <a:off x="0" y="785813"/>
            <a:ext cx="11176000" cy="0"/>
          </a:xfrm>
          <a:prstGeom prst="line">
            <a:avLst/>
          </a:prstGeom>
          <a:ln w="25400">
            <a:gradFill>
              <a:gsLst>
                <a:gs pos="0">
                  <a:srgbClr val="4B649F"/>
                </a:gs>
                <a:gs pos="100000">
                  <a:srgbClr val="7DB1CD">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11"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2400479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000" b="1" kern="1200">
          <a:solidFill>
            <a:srgbClr val="4B649F"/>
          </a:solidFill>
          <a:latin typeface="微软雅黑" panose="020B0503020204020204" pitchFamily="34" charset="-122"/>
          <a:ea typeface="微软雅黑" panose="020B0503020204020204" pitchFamily="34" charset="-122"/>
          <a:cs typeface="+mj-cs"/>
        </a:defRPr>
      </a:lvl1pPr>
    </p:titleStyle>
    <p:bodyStyle>
      <a:lvl1pPr marL="355600" indent="-355600" algn="l" defTabSz="914400" rtl="0" eaLnBrk="1" latinLnBrk="0" hangingPunct="1">
        <a:lnSpc>
          <a:spcPct val="90000"/>
        </a:lnSpc>
        <a:spcBef>
          <a:spcPts val="1000"/>
        </a:spcBef>
        <a:buClr>
          <a:schemeClr val="accent1"/>
        </a:buClr>
        <a:buSzPct val="90000"/>
        <a:buFont typeface="Wingdings" panose="05000000000000000000" pitchFamily="2" charset="2"/>
        <a:buChar char="q"/>
        <a:defRPr sz="2800" b="1" kern="1200">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1pPr>
      <a:lvl2pPr marL="685800" indent="-234950" algn="l" defTabSz="914400" rtl="0" eaLnBrk="1" latinLnBrk="0" hangingPunct="1">
        <a:lnSpc>
          <a:spcPct val="90000"/>
        </a:lnSpc>
        <a:spcBef>
          <a:spcPts val="500"/>
        </a:spcBef>
        <a:buClr>
          <a:schemeClr val="accent1"/>
        </a:buClr>
        <a:buSzPct val="90000"/>
        <a:buFont typeface="Wingdings" panose="05000000000000000000" pitchFamily="2" charset="2"/>
        <a:buChar char="n"/>
        <a:defRPr sz="2400" kern="1200">
          <a:solidFill>
            <a:schemeClr val="tx1"/>
          </a:solidFill>
          <a:latin typeface="微软雅黑" panose="020B0503020204020204" pitchFamily="34" charset="-122"/>
          <a:ea typeface="微软雅黑" panose="020B0503020204020204" pitchFamily="34" charset="-122"/>
          <a:cs typeface="+mn-cs"/>
        </a:defRPr>
      </a:lvl2pPr>
      <a:lvl3pPr marL="986155" indent="-273050" algn="l" defTabSz="914400" rtl="0" eaLnBrk="1" latinLnBrk="0" hangingPunct="1">
        <a:lnSpc>
          <a:spcPct val="90000"/>
        </a:lnSpc>
        <a:spcBef>
          <a:spcPts val="500"/>
        </a:spcBef>
        <a:buClr>
          <a:schemeClr val="accent1"/>
        </a:buClr>
        <a:buFont typeface="Wingdings" panose="05000000000000000000" pitchFamily="2" charset="2"/>
        <a:buChar char="v"/>
        <a:defRPr sz="2000" kern="1200">
          <a:solidFill>
            <a:schemeClr val="tx1"/>
          </a:solidFill>
          <a:latin typeface="微软雅黑" panose="020B0503020204020204" pitchFamily="34" charset="-122"/>
          <a:ea typeface="微软雅黑" panose="020B0503020204020204" pitchFamily="34" charset="-122"/>
          <a:cs typeface="+mn-cs"/>
        </a:defRPr>
      </a:lvl3pPr>
      <a:lvl4pPr marL="1262380" indent="-228600" algn="l" defTabSz="914400" rtl="0" eaLnBrk="1" latinLnBrk="0" hangingPunct="1">
        <a:lnSpc>
          <a:spcPct val="90000"/>
        </a:lnSpc>
        <a:spcBef>
          <a:spcPts val="500"/>
        </a:spcBef>
        <a:buClr>
          <a:schemeClr val="accent1"/>
        </a:buClr>
        <a:buFont typeface="Wingdings" panose="05000000000000000000" pitchFamily="2" charset="2"/>
        <a:buChar char="ü"/>
        <a:defRPr sz="1800" kern="1200">
          <a:solidFill>
            <a:schemeClr val="tx1"/>
          </a:solidFill>
          <a:latin typeface="微软雅黑" panose="020B0503020204020204" pitchFamily="34" charset="-122"/>
          <a:ea typeface="微软雅黑" panose="020B0503020204020204" pitchFamily="34" charset="-122"/>
          <a:cs typeface="+mn-cs"/>
        </a:defRPr>
      </a:lvl4pPr>
      <a:lvl5pPr marL="1524000" indent="-2286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85007" y="890649"/>
            <a:ext cx="11720945" cy="5367646"/>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1919748"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D2800E37-E163-40CA-8146-A68431A5A674}" type="datetime1">
              <a:rPr lang="zh-CN" altLang="en-US" smtClean="0"/>
              <a:t>2026/9/28</a:t>
            </a:fld>
            <a:endParaRPr lang="zh-CN" altLang="en-US"/>
          </a:p>
        </p:txBody>
      </p:sp>
      <p:sp>
        <p:nvSpPr>
          <p:cNvPr id="5" name="页脚占位符 4"/>
          <p:cNvSpPr>
            <a:spLocks noGrp="1"/>
          </p:cNvSpPr>
          <p:nvPr>
            <p:ph type="ftr" sz="quarter" idx="3"/>
          </p:nvPr>
        </p:nvSpPr>
        <p:spPr>
          <a:xfrm>
            <a:off x="2757948" y="6356350"/>
            <a:ext cx="8288594"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1" name="Title Placeholder 10"/>
          <p:cNvSpPr>
            <a:spLocks noGrp="1"/>
          </p:cNvSpPr>
          <p:nvPr>
            <p:ph type="title"/>
          </p:nvPr>
        </p:nvSpPr>
        <p:spPr>
          <a:xfrm>
            <a:off x="166255" y="0"/>
            <a:ext cx="10212779" cy="73889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9540356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000" b="1" kern="1200">
          <a:solidFill>
            <a:srgbClr val="4B649F"/>
          </a:solidFill>
          <a:latin typeface="微软雅黑" panose="020B0503020204020204" pitchFamily="34" charset="-122"/>
          <a:ea typeface="微软雅黑" panose="020B0503020204020204" pitchFamily="34" charset="-122"/>
          <a:cs typeface="+mj-cs"/>
        </a:defRPr>
      </a:lvl1pPr>
    </p:titleStyle>
    <p:bodyStyle>
      <a:lvl1pPr marL="355600" indent="-355600" algn="l" defTabSz="914400" rtl="0" eaLnBrk="1" latinLnBrk="0" hangingPunct="1">
        <a:lnSpc>
          <a:spcPct val="90000"/>
        </a:lnSpc>
        <a:spcBef>
          <a:spcPts val="1000"/>
        </a:spcBef>
        <a:buClr>
          <a:schemeClr val="accent1"/>
        </a:buClr>
        <a:buSzPct val="90000"/>
        <a:buFont typeface="Wingdings" panose="05000000000000000000" pitchFamily="2" charset="2"/>
        <a:buChar char="q"/>
        <a:defRPr sz="2800" b="1" kern="1200">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1pPr>
      <a:lvl2pPr marL="685800" indent="-234950" algn="l" defTabSz="914400" rtl="0" eaLnBrk="1" latinLnBrk="0" hangingPunct="1">
        <a:lnSpc>
          <a:spcPct val="90000"/>
        </a:lnSpc>
        <a:spcBef>
          <a:spcPts val="500"/>
        </a:spcBef>
        <a:buClr>
          <a:schemeClr val="accent1"/>
        </a:buClr>
        <a:buSzPct val="90000"/>
        <a:buFont typeface="Wingdings" panose="05000000000000000000" pitchFamily="2" charset="2"/>
        <a:buChar char="n"/>
        <a:defRPr sz="2400" kern="1200">
          <a:solidFill>
            <a:schemeClr val="tx1"/>
          </a:solidFill>
          <a:latin typeface="微软雅黑" panose="020B0503020204020204" pitchFamily="34" charset="-122"/>
          <a:ea typeface="微软雅黑" panose="020B0503020204020204" pitchFamily="34" charset="-122"/>
          <a:cs typeface="+mn-cs"/>
        </a:defRPr>
      </a:lvl2pPr>
      <a:lvl3pPr marL="986155" indent="-273050" algn="l" defTabSz="914400" rtl="0" eaLnBrk="1" latinLnBrk="0" hangingPunct="1">
        <a:lnSpc>
          <a:spcPct val="90000"/>
        </a:lnSpc>
        <a:spcBef>
          <a:spcPts val="500"/>
        </a:spcBef>
        <a:buClr>
          <a:schemeClr val="accent1"/>
        </a:buClr>
        <a:buFont typeface="Wingdings" panose="05000000000000000000" pitchFamily="2" charset="2"/>
        <a:buChar char="v"/>
        <a:defRPr sz="2000" kern="1200">
          <a:solidFill>
            <a:schemeClr val="tx1"/>
          </a:solidFill>
          <a:latin typeface="微软雅黑" panose="020B0503020204020204" pitchFamily="34" charset="-122"/>
          <a:ea typeface="微软雅黑" panose="020B0503020204020204" pitchFamily="34" charset="-122"/>
          <a:cs typeface="+mn-cs"/>
        </a:defRPr>
      </a:lvl3pPr>
      <a:lvl4pPr marL="1262380" indent="-228600" algn="l" defTabSz="914400" rtl="0" eaLnBrk="1" latinLnBrk="0" hangingPunct="1">
        <a:lnSpc>
          <a:spcPct val="90000"/>
        </a:lnSpc>
        <a:spcBef>
          <a:spcPts val="500"/>
        </a:spcBef>
        <a:buClr>
          <a:schemeClr val="accent1"/>
        </a:buClr>
        <a:buFont typeface="Wingdings" panose="05000000000000000000" pitchFamily="2" charset="2"/>
        <a:buChar char="ü"/>
        <a:defRPr sz="1800" kern="1200">
          <a:solidFill>
            <a:schemeClr val="tx1"/>
          </a:solidFill>
          <a:latin typeface="微软雅黑" panose="020B0503020204020204" pitchFamily="34" charset="-122"/>
          <a:ea typeface="微软雅黑" panose="020B0503020204020204" pitchFamily="34" charset="-122"/>
          <a:cs typeface="+mn-cs"/>
        </a:defRPr>
      </a:lvl4pPr>
      <a:lvl5pPr marL="1524000" indent="-2286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gif"/><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8.tmp"/><Relationship Id="rId5" Type="http://schemas.openxmlformats.org/officeDocument/2006/relationships/image" Target="../media/image17.tmp"/><Relationship Id="rId4" Type="http://schemas.openxmlformats.org/officeDocument/2006/relationships/image" Target="../media/image16.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41.tmp"/></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44.png"/><Relationship Id="rId5" Type="http://schemas.openxmlformats.org/officeDocument/2006/relationships/image" Target="../media/image25.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44.png"/><Relationship Id="rId5" Type="http://schemas.openxmlformats.org/officeDocument/2006/relationships/image" Target="../media/image25.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295071-4DBE-47C0-BC33-E0D5279EDAB0}"/>
              </a:ext>
            </a:extLst>
          </p:cNvPr>
          <p:cNvSpPr>
            <a:spLocks noGrp="1"/>
          </p:cNvSpPr>
          <p:nvPr>
            <p:ph type="ctrTitle"/>
          </p:nvPr>
        </p:nvSpPr>
        <p:spPr>
          <a:xfrm>
            <a:off x="1473200" y="2283478"/>
            <a:ext cx="8902700" cy="1671159"/>
          </a:xfrm>
        </p:spPr>
        <p:txBody>
          <a:bodyPr anchor="ctr" anchorCtr="0">
            <a:normAutofit/>
          </a:bodyPr>
          <a:lstStyle/>
          <a:p>
            <a:pPr>
              <a:lnSpc>
                <a:spcPct val="120000"/>
              </a:lnSpc>
            </a:pPr>
            <a:r>
              <a:rPr lang="zh-CN" altLang="en-US" sz="4400" dirty="0"/>
              <a:t>量超</a:t>
            </a:r>
            <a:r>
              <a:rPr lang="en-US" altLang="zh-CN" sz="4400" dirty="0"/>
              <a:t>/</a:t>
            </a:r>
            <a:r>
              <a:rPr lang="zh-CN" altLang="en-US" sz="4400" dirty="0"/>
              <a:t>量智融合计算系统</a:t>
            </a:r>
            <a:r>
              <a:rPr lang="en-US" altLang="zh-CN" sz="4400" dirty="0" err="1"/>
              <a:t>QCFlow</a:t>
            </a:r>
            <a:endParaRPr lang="zh-CN" altLang="en-US" sz="4400" dirty="0"/>
          </a:p>
        </p:txBody>
      </p:sp>
      <p:sp>
        <p:nvSpPr>
          <p:cNvPr id="3" name="文本框 2">
            <a:extLst>
              <a:ext uri="{FF2B5EF4-FFF2-40B4-BE49-F238E27FC236}">
                <a16:creationId xmlns:a16="http://schemas.microsoft.com/office/drawing/2014/main" id="{8E6068C6-F4DB-6266-7461-37D2F42DAEFE}"/>
              </a:ext>
            </a:extLst>
          </p:cNvPr>
          <p:cNvSpPr txBox="1"/>
          <p:nvPr/>
        </p:nvSpPr>
        <p:spPr>
          <a:xfrm>
            <a:off x="3375799" y="3653465"/>
            <a:ext cx="5760000" cy="1667764"/>
          </a:xfrm>
          <a:prstGeom prst="rect">
            <a:avLst/>
          </a:prstGeom>
          <a:noFill/>
        </p:spPr>
        <p:txBody>
          <a:bodyPr wrap="square">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信息工程大学量子计算软件团队</a:t>
            </a:r>
            <a:endPar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r" defTabSz="914400" rtl="0" eaLnBrk="1" fontAlgn="auto" latinLnBrk="0" hangingPunct="1">
              <a:lnSpc>
                <a:spcPct val="150000"/>
              </a:lnSpc>
              <a:spcBef>
                <a:spcPts val="0"/>
              </a:spcBef>
              <a:spcAft>
                <a:spcPts val="0"/>
              </a:spcAft>
              <a:buClrTx/>
              <a:buSzTx/>
              <a:buFontTx/>
              <a:buNone/>
              <a:tabLst/>
              <a:defRPr/>
            </a:pPr>
            <a:r>
              <a:rPr lang="zh-CN" altLang="en-US" sz="2400" b="1" dirty="0">
                <a:solidFill>
                  <a:prstClr val="black"/>
                </a:solidFill>
                <a:latin typeface="楷体" panose="02010609060101010101" pitchFamily="49" charset="-122"/>
                <a:ea typeface="楷体" panose="02010609060101010101" pitchFamily="49" charset="-122"/>
              </a:rPr>
              <a:t>许瑾晨 朱雨 周鑫</a:t>
            </a:r>
            <a:endPar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2026.9.28</a:t>
            </a:r>
          </a:p>
        </p:txBody>
      </p:sp>
    </p:spTree>
    <p:extLst>
      <p:ext uri="{BB962C8B-B14F-4D97-AF65-F5344CB8AC3E}">
        <p14:creationId xmlns:p14="http://schemas.microsoft.com/office/powerpoint/2010/main" val="3712356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D039C28-6177-AF6F-0DA6-2CE0A350FA75}"/>
              </a:ext>
            </a:extLst>
          </p:cNvPr>
          <p:cNvSpPr txBox="1"/>
          <p:nvPr/>
        </p:nvSpPr>
        <p:spPr>
          <a:xfrm>
            <a:off x="4295847" y="391495"/>
            <a:ext cx="3292081"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sym typeface="汉仪旗黑-55简" panose="00020600040101010101" pitchFamily="18" charset="-122"/>
              </a:rPr>
              <a:t>目  录</a:t>
            </a:r>
            <a:endParaRPr kumimoji="0" lang="en-US" altLang="zh-CN" sz="4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sym typeface="汉仪旗黑-55简" panose="00020600040101010101" pitchFamily="18" charset="-122"/>
            </a:endParaRPr>
          </a:p>
        </p:txBody>
      </p:sp>
      <p:grpSp>
        <p:nvGrpSpPr>
          <p:cNvPr id="5" name="组合 4">
            <a:extLst>
              <a:ext uri="{FF2B5EF4-FFF2-40B4-BE49-F238E27FC236}">
                <a16:creationId xmlns:a16="http://schemas.microsoft.com/office/drawing/2014/main" id="{AEE3528E-6F1B-E2B0-D743-50CFDBDC303F}"/>
              </a:ext>
            </a:extLst>
          </p:cNvPr>
          <p:cNvGrpSpPr/>
          <p:nvPr/>
        </p:nvGrpSpPr>
        <p:grpSpPr>
          <a:xfrm>
            <a:off x="1192807" y="3653716"/>
            <a:ext cx="6704966" cy="576000"/>
            <a:chOff x="3192825" y="2213642"/>
            <a:chExt cx="6522408" cy="576000"/>
          </a:xfrm>
        </p:grpSpPr>
        <p:sp>
          <p:nvSpPr>
            <p:cNvPr id="6" name="文本框 5">
              <a:extLst>
                <a:ext uri="{FF2B5EF4-FFF2-40B4-BE49-F238E27FC236}">
                  <a16:creationId xmlns:a16="http://schemas.microsoft.com/office/drawing/2014/main" id="{3B941A22-1DFD-338C-C2EA-2ECECD0BD177}"/>
                </a:ext>
              </a:extLst>
            </p:cNvPr>
            <p:cNvSpPr txBox="1"/>
            <p:nvPr/>
          </p:nvSpPr>
          <p:spPr>
            <a:xfrm>
              <a:off x="4112062" y="2213642"/>
              <a:ext cx="5603171" cy="576000"/>
            </a:xfrm>
            <a:prstGeom prst="rect">
              <a:avLst/>
            </a:prstGeom>
            <a:noFill/>
            <a:ln w="12700">
              <a:solidFill>
                <a:schemeClr val="accent1"/>
              </a:solidFill>
            </a:ln>
          </p:spPr>
          <p:txBody>
            <a:bodyPr wrap="square" lIns="90000" tIns="86400" bIns="86400" anchor="ctr" anchorCtr="0">
              <a:no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量子程序如何到真实</a:t>
              </a:r>
              <a:r>
                <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QPU</a:t>
              </a: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上执行？</a:t>
              </a:r>
            </a:p>
          </p:txBody>
        </p:sp>
        <p:sp>
          <p:nvSpPr>
            <p:cNvPr id="7" name="文本框 6">
              <a:extLst>
                <a:ext uri="{FF2B5EF4-FFF2-40B4-BE49-F238E27FC236}">
                  <a16:creationId xmlns:a16="http://schemas.microsoft.com/office/drawing/2014/main" id="{8E754DFA-949C-EC9A-235A-92F3A37082E1}"/>
                </a:ext>
              </a:extLst>
            </p:cNvPr>
            <p:cNvSpPr txBox="1"/>
            <p:nvPr/>
          </p:nvSpPr>
          <p:spPr>
            <a:xfrm>
              <a:off x="3192825" y="2213642"/>
              <a:ext cx="576000" cy="576000"/>
            </a:xfrm>
            <a:prstGeom prst="rect">
              <a:avLst/>
            </a:prstGeom>
            <a:noFill/>
            <a:ln w="12700">
              <a:solidFill>
                <a:schemeClr val="accent1"/>
              </a:solidFill>
            </a:ln>
          </p:spPr>
          <p:txBody>
            <a:bodyPr wrap="square" lIns="90000" tIns="86400" bIns="86400" anchor="ctr" anchorCtr="0">
              <a:no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汉仪旗黑-55简" panose="00020600040101010101" pitchFamily="18" charset="-122"/>
                  <a:cs typeface="+mn-cs"/>
                </a:rPr>
                <a:t>2</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汉仪旗黑-55简" panose="00020600040101010101" pitchFamily="18" charset="-122"/>
                <a:cs typeface="+mn-cs"/>
              </a:endParaRPr>
            </a:p>
          </p:txBody>
        </p:sp>
      </p:grpSp>
      <p:grpSp>
        <p:nvGrpSpPr>
          <p:cNvPr id="8" name="组合 7">
            <a:extLst>
              <a:ext uri="{FF2B5EF4-FFF2-40B4-BE49-F238E27FC236}">
                <a16:creationId xmlns:a16="http://schemas.microsoft.com/office/drawing/2014/main" id="{94344C7B-5568-C4EF-FB5E-DB28A7FDF235}"/>
              </a:ext>
            </a:extLst>
          </p:cNvPr>
          <p:cNvGrpSpPr/>
          <p:nvPr/>
        </p:nvGrpSpPr>
        <p:grpSpPr>
          <a:xfrm>
            <a:off x="1192808" y="4872080"/>
            <a:ext cx="6679237" cy="576000"/>
            <a:chOff x="3192825" y="2213642"/>
            <a:chExt cx="6679237" cy="576000"/>
          </a:xfrm>
        </p:grpSpPr>
        <p:sp>
          <p:nvSpPr>
            <p:cNvPr id="9" name="文本框 8">
              <a:extLst>
                <a:ext uri="{FF2B5EF4-FFF2-40B4-BE49-F238E27FC236}">
                  <a16:creationId xmlns:a16="http://schemas.microsoft.com/office/drawing/2014/main" id="{39C2F8AF-1DDE-99EF-81C0-99017D4B1CA7}"/>
                </a:ext>
              </a:extLst>
            </p:cNvPr>
            <p:cNvSpPr txBox="1"/>
            <p:nvPr/>
          </p:nvSpPr>
          <p:spPr>
            <a:xfrm>
              <a:off x="4112062" y="2213642"/>
              <a:ext cx="5760000" cy="576000"/>
            </a:xfrm>
            <a:prstGeom prst="rect">
              <a:avLst/>
            </a:prstGeom>
            <a:noFill/>
            <a:ln w="12700">
              <a:solidFill>
                <a:schemeClr val="accent1"/>
              </a:solidFill>
            </a:ln>
          </p:spPr>
          <p:txBody>
            <a:bodyPr wrap="square" lIns="90000" tIns="86400" bIns="86400" anchor="ctr" anchorCtr="0">
              <a:no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QPU</a:t>
              </a: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如何融入高性能计算系统？</a:t>
              </a:r>
            </a:p>
          </p:txBody>
        </p:sp>
        <p:sp>
          <p:nvSpPr>
            <p:cNvPr id="14" name="文本框 13">
              <a:extLst>
                <a:ext uri="{FF2B5EF4-FFF2-40B4-BE49-F238E27FC236}">
                  <a16:creationId xmlns:a16="http://schemas.microsoft.com/office/drawing/2014/main" id="{DBC3838E-FBF7-8EF6-DFB4-727B08247162}"/>
                </a:ext>
              </a:extLst>
            </p:cNvPr>
            <p:cNvSpPr txBox="1"/>
            <p:nvPr/>
          </p:nvSpPr>
          <p:spPr>
            <a:xfrm>
              <a:off x="3192825" y="2213642"/>
              <a:ext cx="576000" cy="576000"/>
            </a:xfrm>
            <a:prstGeom prst="rect">
              <a:avLst/>
            </a:prstGeom>
            <a:noFill/>
            <a:ln w="12700">
              <a:solidFill>
                <a:schemeClr val="accent1"/>
              </a:solidFill>
            </a:ln>
          </p:spPr>
          <p:txBody>
            <a:bodyPr wrap="square" lIns="90000" tIns="86400" bIns="86400" anchor="ctr" anchorCtr="0">
              <a:no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汉仪旗黑-55简" panose="00020600040101010101" pitchFamily="18" charset="-122"/>
                  <a:cs typeface="+mn-cs"/>
                </a:rPr>
                <a:t>3</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汉仪旗黑-55简" panose="00020600040101010101" pitchFamily="18" charset="-122"/>
                <a:cs typeface="+mn-cs"/>
              </a:endParaRPr>
            </a:p>
          </p:txBody>
        </p:sp>
      </p:grpSp>
      <p:sp>
        <p:nvSpPr>
          <p:cNvPr id="19" name="文本框 18">
            <a:extLst>
              <a:ext uri="{FF2B5EF4-FFF2-40B4-BE49-F238E27FC236}">
                <a16:creationId xmlns:a16="http://schemas.microsoft.com/office/drawing/2014/main" id="{285889DF-CD9F-1D3C-2214-2B4CDDA75CBE}"/>
              </a:ext>
            </a:extLst>
          </p:cNvPr>
          <p:cNvSpPr txBox="1"/>
          <p:nvPr/>
        </p:nvSpPr>
        <p:spPr>
          <a:xfrm>
            <a:off x="2112045" y="2472929"/>
            <a:ext cx="5760000" cy="576000"/>
          </a:xfrm>
          <a:prstGeom prst="rect">
            <a:avLst/>
          </a:prstGeom>
          <a:noFill/>
          <a:ln w="12700">
            <a:solidFill>
              <a:schemeClr val="accent1"/>
            </a:solidFill>
          </a:ln>
        </p:spPr>
        <p:txBody>
          <a:bodyPr wrap="square" lIns="90000" tIns="86400" bIns="86400" anchor="ctr" anchorCtr="0">
            <a:no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量子算法如何设计？</a:t>
            </a:r>
          </a:p>
        </p:txBody>
      </p:sp>
      <p:sp>
        <p:nvSpPr>
          <p:cNvPr id="20" name="文本框 19">
            <a:extLst>
              <a:ext uri="{FF2B5EF4-FFF2-40B4-BE49-F238E27FC236}">
                <a16:creationId xmlns:a16="http://schemas.microsoft.com/office/drawing/2014/main" id="{82317B5F-CCC2-C2D2-D267-7E29498E41C0}"/>
              </a:ext>
            </a:extLst>
          </p:cNvPr>
          <p:cNvSpPr txBox="1"/>
          <p:nvPr/>
        </p:nvSpPr>
        <p:spPr>
          <a:xfrm>
            <a:off x="1192808" y="2472929"/>
            <a:ext cx="576000" cy="576000"/>
          </a:xfrm>
          <a:prstGeom prst="rect">
            <a:avLst/>
          </a:prstGeom>
          <a:noFill/>
          <a:ln w="12700">
            <a:solidFill>
              <a:schemeClr val="accent1"/>
            </a:solidFill>
          </a:ln>
        </p:spPr>
        <p:txBody>
          <a:bodyPr wrap="square" lIns="90000" tIns="86400" bIns="86400" anchor="ctr" anchorCtr="0">
            <a:no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汉仪旗黑-55简" panose="00020600040101010101" pitchFamily="18" charset="-122"/>
                <a:cs typeface="+mn-cs"/>
              </a:rPr>
              <a:t>1</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汉仪旗黑-55简" panose="00020600040101010101" pitchFamily="18" charset="-122"/>
              <a:cs typeface="+mn-cs"/>
            </a:endParaRPr>
          </a:p>
        </p:txBody>
      </p:sp>
      <p:sp>
        <p:nvSpPr>
          <p:cNvPr id="4" name="文本框 3">
            <a:extLst>
              <a:ext uri="{FF2B5EF4-FFF2-40B4-BE49-F238E27FC236}">
                <a16:creationId xmlns:a16="http://schemas.microsoft.com/office/drawing/2014/main" id="{3B128670-3B4F-699B-E56B-E1CDFAE22A31}"/>
              </a:ext>
            </a:extLst>
          </p:cNvPr>
          <p:cNvSpPr txBox="1"/>
          <p:nvPr/>
        </p:nvSpPr>
        <p:spPr>
          <a:xfrm>
            <a:off x="8426372" y="2119301"/>
            <a:ext cx="3033261" cy="1015663"/>
          </a:xfrm>
          <a:prstGeom prst="rect">
            <a:avLst/>
          </a:prstGeom>
          <a:noFill/>
        </p:spPr>
        <p:txBody>
          <a:bodyPr wrap="square">
            <a:spAutoFit/>
          </a:bodyPr>
          <a:lstStyle/>
          <a:p>
            <a:pPr marL="342900" marR="0" lvl="0" indent="-342900" defTabSz="457189" rtl="0" eaLnBrk="1" fontAlgn="auto" latinLnBrk="0" hangingPunct="1">
              <a:spcBef>
                <a:spcPts val="0"/>
              </a:spcBef>
              <a:spcAft>
                <a:spcPts val="0"/>
              </a:spcAft>
              <a:buClrTx/>
              <a:buSzTx/>
              <a:buFont typeface="Arial" panose="020B0604020202020204" pitchFamily="34" charset="0"/>
              <a:buChar char="•"/>
              <a:tabLst/>
              <a:defRPr/>
            </a:pPr>
            <a:r>
              <a:rPr lang="zh-CN" altLang="en-US" sz="2000" dirty="0">
                <a:solidFill>
                  <a:prstClr val="black"/>
                </a:solidFill>
                <a:latin typeface="微软雅黑" panose="020B0503020204020204" pitchFamily="34" charset="-122"/>
                <a:ea typeface="微软雅黑" panose="020B0503020204020204" pitchFamily="34" charset="-122"/>
              </a:rPr>
              <a:t>量子</a:t>
            </a:r>
            <a:r>
              <a:rPr lang="en-US" altLang="zh-CN" sz="2000" dirty="0">
                <a:solidFill>
                  <a:prstClr val="black"/>
                </a:solidFill>
                <a:latin typeface="微软雅黑" panose="020B0503020204020204" pitchFamily="34" charset="-122"/>
                <a:ea typeface="微软雅黑" panose="020B0503020204020204" pitchFamily="34" charset="-122"/>
              </a:rPr>
              <a:t> vs </a:t>
            </a:r>
            <a:r>
              <a:rPr lang="zh-CN" altLang="en-US" sz="2000" dirty="0">
                <a:solidFill>
                  <a:prstClr val="black"/>
                </a:solidFill>
                <a:latin typeface="微软雅黑" panose="020B0503020204020204" pitchFamily="34" charset="-122"/>
                <a:ea typeface="微软雅黑" panose="020B0503020204020204" pitchFamily="34" charset="-122"/>
              </a:rPr>
              <a:t>经典 计算模型</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marR="0" lvl="0" indent="-342900" defTabSz="457189"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现有量子算法、应用</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defTabSz="457189" rtl="0" eaLnBrk="1" fontAlgn="auto" latinLnBrk="0" hangingPunct="1">
              <a:spcBef>
                <a:spcPts val="0"/>
              </a:spcBef>
              <a:spcAft>
                <a:spcPts val="0"/>
              </a:spcAft>
              <a:buClrTx/>
              <a:buSzTx/>
              <a:buFont typeface="Arial" panose="020B0604020202020204" pitchFamily="34" charset="0"/>
              <a:buChar char="•"/>
              <a:tabLst/>
              <a:defRPr/>
            </a:pPr>
            <a:r>
              <a:rPr lang="zh-CN" altLang="en-US" sz="2000" dirty="0">
                <a:solidFill>
                  <a:prstClr val="black"/>
                </a:solidFill>
                <a:latin typeface="微软雅黑" panose="020B0503020204020204" pitchFamily="34" charset="-122"/>
                <a:ea typeface="微软雅黑" panose="020B0503020204020204" pitchFamily="34" charset="-122"/>
              </a:rPr>
              <a:t>实际问题→量子算法</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左大括号 9">
            <a:extLst>
              <a:ext uri="{FF2B5EF4-FFF2-40B4-BE49-F238E27FC236}">
                <a16:creationId xmlns:a16="http://schemas.microsoft.com/office/drawing/2014/main" id="{D0CBC1B6-6005-EA8A-2DC8-1FD8375804D8}"/>
              </a:ext>
            </a:extLst>
          </p:cNvPr>
          <p:cNvSpPr/>
          <p:nvPr/>
        </p:nvSpPr>
        <p:spPr>
          <a:xfrm>
            <a:off x="7955682" y="2208421"/>
            <a:ext cx="380144" cy="920014"/>
          </a:xfrm>
          <a:prstGeom prst="leftBrace">
            <a:avLst>
              <a:gd name="adj1" fmla="val 4887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B178202-7C29-E473-0748-2C23F21CC3A7}"/>
              </a:ext>
            </a:extLst>
          </p:cNvPr>
          <p:cNvSpPr txBox="1"/>
          <p:nvPr/>
        </p:nvSpPr>
        <p:spPr>
          <a:xfrm>
            <a:off x="8441418" y="3393274"/>
            <a:ext cx="3106511" cy="1015663"/>
          </a:xfrm>
          <a:prstGeom prst="rect">
            <a:avLst/>
          </a:prstGeom>
          <a:noFill/>
        </p:spPr>
        <p:txBody>
          <a:bodyPr wrap="square">
            <a:spAutoFit/>
          </a:bodyPr>
          <a:lstStyle/>
          <a:p>
            <a:pPr marL="342900" marR="0" lvl="0" indent="-342900" defTabSz="457189" rtl="0" eaLnBrk="1" fontAlgn="auto" latinLnBrk="0" hangingPunct="1">
              <a:spcBef>
                <a:spcPts val="0"/>
              </a:spcBef>
              <a:spcAft>
                <a:spcPts val="0"/>
              </a:spcAft>
              <a:buClrTx/>
              <a:buSzTx/>
              <a:buFont typeface="Arial" panose="020B0604020202020204" pitchFamily="34" charset="0"/>
              <a:buChar char="•"/>
              <a:tabLst/>
              <a:defRPr/>
            </a:pPr>
            <a:r>
              <a:rPr lang="zh-CN" altLang="en-US" sz="2000" dirty="0">
                <a:solidFill>
                  <a:prstClr val="black"/>
                </a:solidFill>
                <a:latin typeface="微软雅黑" panose="020B0503020204020204" pitchFamily="34" charset="-122"/>
                <a:ea typeface="微软雅黑" panose="020B0503020204020204" pitchFamily="34" charset="-122"/>
              </a:rPr>
              <a:t>量子算法→量子程序</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marR="0" lvl="0" indent="-342900" defTabSz="457189" rtl="0" eaLnBrk="1" fontAlgn="auto" latinLnBrk="0" hangingPunct="1">
              <a:spcBef>
                <a:spcPts val="0"/>
              </a:spcBef>
              <a:spcAft>
                <a:spcPts val="0"/>
              </a:spcAft>
              <a:buClrTx/>
              <a:buSzTx/>
              <a:buFont typeface="Arial" panose="020B0604020202020204" pitchFamily="34" charset="0"/>
              <a:buChar char="•"/>
              <a:tabLst/>
              <a:defRPr/>
            </a:pPr>
            <a:r>
              <a:rPr lang="zh-CN" altLang="en-US" sz="2000" dirty="0">
                <a:solidFill>
                  <a:prstClr val="black"/>
                </a:solidFill>
                <a:latin typeface="微软雅黑" panose="020B0503020204020204" pitchFamily="34" charset="-122"/>
                <a:ea typeface="微软雅黑" panose="020B0503020204020204" pitchFamily="34" charset="-122"/>
              </a:rPr>
              <a:t>量子程序编译、映射和调度至真机运行</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左大括号 14">
            <a:extLst>
              <a:ext uri="{FF2B5EF4-FFF2-40B4-BE49-F238E27FC236}">
                <a16:creationId xmlns:a16="http://schemas.microsoft.com/office/drawing/2014/main" id="{077AFEEE-A28F-0E29-B8A8-E001815418C9}"/>
              </a:ext>
            </a:extLst>
          </p:cNvPr>
          <p:cNvSpPr/>
          <p:nvPr/>
        </p:nvSpPr>
        <p:spPr>
          <a:xfrm>
            <a:off x="8019182" y="3478421"/>
            <a:ext cx="380144" cy="920014"/>
          </a:xfrm>
          <a:prstGeom prst="leftBrace">
            <a:avLst>
              <a:gd name="adj1" fmla="val 4887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5049623F-ED60-0703-0E3D-74C09E745748}"/>
              </a:ext>
            </a:extLst>
          </p:cNvPr>
          <p:cNvSpPr txBox="1"/>
          <p:nvPr/>
        </p:nvSpPr>
        <p:spPr>
          <a:xfrm>
            <a:off x="8492218" y="4726774"/>
            <a:ext cx="3106511" cy="1015663"/>
          </a:xfrm>
          <a:prstGeom prst="rect">
            <a:avLst/>
          </a:prstGeom>
          <a:noFill/>
        </p:spPr>
        <p:txBody>
          <a:bodyPr wrap="square">
            <a:spAutoFit/>
          </a:bodyPr>
          <a:lstStyle/>
          <a:p>
            <a:pPr marL="342900" marR="0" lvl="0" indent="-342900" defTabSz="457189"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异构计算系统的统一编程编译、资源管理和任务调度</a:t>
            </a:r>
          </a:p>
        </p:txBody>
      </p:sp>
      <p:sp>
        <p:nvSpPr>
          <p:cNvPr id="21" name="左大括号 20">
            <a:extLst>
              <a:ext uri="{FF2B5EF4-FFF2-40B4-BE49-F238E27FC236}">
                <a16:creationId xmlns:a16="http://schemas.microsoft.com/office/drawing/2014/main" id="{00424916-3B79-6BF3-DB9B-62FC7FB6BEAF}"/>
              </a:ext>
            </a:extLst>
          </p:cNvPr>
          <p:cNvSpPr/>
          <p:nvPr/>
        </p:nvSpPr>
        <p:spPr>
          <a:xfrm>
            <a:off x="8069982" y="4811921"/>
            <a:ext cx="380144" cy="920014"/>
          </a:xfrm>
          <a:prstGeom prst="leftBrace">
            <a:avLst>
              <a:gd name="adj1" fmla="val 4887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629BB2F5-1919-AF22-409E-508A382568B9}"/>
              </a:ext>
            </a:extLst>
          </p:cNvPr>
          <p:cNvSpPr txBox="1"/>
          <p:nvPr/>
        </p:nvSpPr>
        <p:spPr>
          <a:xfrm>
            <a:off x="3060700" y="1207701"/>
            <a:ext cx="5816600" cy="499624"/>
          </a:xfrm>
          <a:prstGeom prst="rect">
            <a:avLst/>
          </a:prstGeom>
          <a:solidFill>
            <a:schemeClr val="accent3">
              <a:lumMod val="20000"/>
              <a:lumOff val="80000"/>
            </a:schemeClr>
          </a:solidFill>
        </p:spPr>
        <p:txBody>
          <a:bodyPr wrap="square">
            <a:spAutoFit/>
          </a:bodyPr>
          <a:lstStyle>
            <a:defPPr>
              <a:defRPr lang="zh-CN"/>
            </a:defPPr>
            <a:lvl1pPr algn="ctr">
              <a:lnSpc>
                <a:spcPct val="150000"/>
              </a:lnSpc>
              <a:defRPr sz="1600" b="1">
                <a:solidFill>
                  <a:schemeClr val="accent5">
                    <a:lumMod val="50000"/>
                  </a:schemeClr>
                </a:solidFill>
                <a:latin typeface="微软雅黑" panose="020B0503020204020204" pitchFamily="34" charset="-122"/>
                <a:ea typeface="微软雅黑" panose="020B0503020204020204" pitchFamily="34" charset="-122"/>
              </a:defRPr>
            </a:lvl1pPr>
          </a:lstStyle>
          <a:p>
            <a:r>
              <a:rPr lang="zh-CN" altLang="en-US" sz="2000" dirty="0"/>
              <a:t>量子计算“怎么算”、“怎么跑”和“怎么融”</a:t>
            </a:r>
          </a:p>
        </p:txBody>
      </p:sp>
    </p:spTree>
    <p:extLst>
      <p:ext uri="{BB962C8B-B14F-4D97-AF65-F5344CB8AC3E}">
        <p14:creationId xmlns:p14="http://schemas.microsoft.com/office/powerpoint/2010/main" val="417224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anim calcmode="lin" valueType="num">
                                      <p:cBhvr>
                                        <p:cTn id="32" dur="500" fill="hold"/>
                                        <p:tgtEl>
                                          <p:spTgt spid="23"/>
                                        </p:tgtEl>
                                        <p:attrNameLst>
                                          <p:attrName>ppt_x</p:attrName>
                                        </p:attrNameLst>
                                      </p:cBhvr>
                                      <p:tavLst>
                                        <p:tav tm="0">
                                          <p:val>
                                            <p:strVal val="#ppt_x"/>
                                          </p:val>
                                        </p:tav>
                                        <p:tav tm="100000">
                                          <p:val>
                                            <p:strVal val="#ppt_x"/>
                                          </p:val>
                                        </p:tav>
                                      </p:tavLst>
                                    </p:anim>
                                    <p:anim calcmode="lin" valueType="num">
                                      <p:cBhvr>
                                        <p:cTn id="33"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animBg="1"/>
      <p:bldP spid="12" grpId="0"/>
      <p:bldP spid="15" grpId="0" animBg="1"/>
      <p:bldP spid="17" grpId="0"/>
      <p:bldP spid="21"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AE7A9-D38A-EB8C-2B64-D304DFA45C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426617C-5814-79EA-D1AA-8D23FDB1C93D}"/>
              </a:ext>
            </a:extLst>
          </p:cNvPr>
          <p:cNvSpPr>
            <a:spLocks noGrp="1"/>
          </p:cNvSpPr>
          <p:nvPr>
            <p:ph type="title"/>
          </p:nvPr>
        </p:nvSpPr>
        <p:spPr/>
        <p:txBody>
          <a:bodyPr>
            <a:normAutofit/>
          </a:bodyPr>
          <a:lstStyle/>
          <a:p>
            <a:r>
              <a:rPr lang="zh-CN" altLang="zh-CN" dirty="0"/>
              <a:t>量子计算：从物理实验走向</a:t>
            </a:r>
            <a:r>
              <a:rPr lang="zh-CN" altLang="en-US" dirty="0"/>
              <a:t>异构</a:t>
            </a:r>
            <a:r>
              <a:rPr lang="zh-CN" altLang="zh-CN" dirty="0"/>
              <a:t>计算系统</a:t>
            </a:r>
            <a:endParaRPr lang="zh-CN" altLang="en-US" dirty="0"/>
          </a:p>
        </p:txBody>
      </p:sp>
      <p:grpSp>
        <p:nvGrpSpPr>
          <p:cNvPr id="65" name="组合 64">
            <a:extLst>
              <a:ext uri="{FF2B5EF4-FFF2-40B4-BE49-F238E27FC236}">
                <a16:creationId xmlns:a16="http://schemas.microsoft.com/office/drawing/2014/main" id="{47C32B24-0CF4-58EE-3678-065B3453BA20}"/>
              </a:ext>
            </a:extLst>
          </p:cNvPr>
          <p:cNvGrpSpPr/>
          <p:nvPr/>
        </p:nvGrpSpPr>
        <p:grpSpPr>
          <a:xfrm>
            <a:off x="0" y="2962274"/>
            <a:ext cx="4095750" cy="1748141"/>
            <a:chOff x="0" y="2962274"/>
            <a:chExt cx="4095750" cy="1748141"/>
          </a:xfrm>
        </p:grpSpPr>
        <p:pic>
          <p:nvPicPr>
            <p:cNvPr id="13" name="图片 12">
              <a:extLst>
                <a:ext uri="{FF2B5EF4-FFF2-40B4-BE49-F238E27FC236}">
                  <a16:creationId xmlns:a16="http://schemas.microsoft.com/office/drawing/2014/main" id="{533B9FF3-5D39-ECB4-5928-9DED113C2C5D}"/>
                </a:ext>
              </a:extLst>
            </p:cNvPr>
            <p:cNvPicPr>
              <a:picLocks noChangeAspect="1"/>
            </p:cNvPicPr>
            <p:nvPr/>
          </p:nvPicPr>
          <p:blipFill>
            <a:blip r:embed="rId3"/>
            <a:srcRect l="5977" t="50489" r="64008" b="24089"/>
            <a:stretch>
              <a:fillRect/>
            </a:stretch>
          </p:blipFill>
          <p:spPr>
            <a:xfrm>
              <a:off x="609600" y="2962274"/>
              <a:ext cx="3377045" cy="1609725"/>
            </a:xfrm>
            <a:prstGeom prst="rect">
              <a:avLst/>
            </a:prstGeom>
          </p:spPr>
        </p:pic>
        <p:pic>
          <p:nvPicPr>
            <p:cNvPr id="4" name="图片 3">
              <a:extLst>
                <a:ext uri="{FF2B5EF4-FFF2-40B4-BE49-F238E27FC236}">
                  <a16:creationId xmlns:a16="http://schemas.microsoft.com/office/drawing/2014/main" id="{4463DC71-C6A7-72C9-38D3-62BF5CE19DD4}"/>
                </a:ext>
              </a:extLst>
            </p:cNvPr>
            <p:cNvPicPr>
              <a:picLocks noChangeAspect="1"/>
            </p:cNvPicPr>
            <p:nvPr/>
          </p:nvPicPr>
          <p:blipFill>
            <a:blip r:embed="rId4"/>
            <a:srcRect t="31268" r="93897" b="57647"/>
            <a:stretch>
              <a:fillRect/>
            </a:stretch>
          </p:blipFill>
          <p:spPr>
            <a:xfrm>
              <a:off x="0" y="3950208"/>
              <a:ext cx="743712" cy="760207"/>
            </a:xfrm>
            <a:prstGeom prst="rect">
              <a:avLst/>
            </a:prstGeom>
          </p:spPr>
        </p:pic>
        <p:sp>
          <p:nvSpPr>
            <p:cNvPr id="6" name="文本框 5">
              <a:extLst>
                <a:ext uri="{FF2B5EF4-FFF2-40B4-BE49-F238E27FC236}">
                  <a16:creationId xmlns:a16="http://schemas.microsoft.com/office/drawing/2014/main" id="{FEE621FA-8C57-59B7-1AF1-ADD1F9330D75}"/>
                </a:ext>
              </a:extLst>
            </p:cNvPr>
            <p:cNvSpPr txBox="1"/>
            <p:nvPr/>
          </p:nvSpPr>
          <p:spPr>
            <a:xfrm>
              <a:off x="759490" y="3717103"/>
              <a:ext cx="3336260" cy="754053"/>
            </a:xfrm>
            <a:prstGeom prst="rect">
              <a:avLst/>
            </a:prstGeom>
            <a:gradFill flip="none" rotWithShape="1">
              <a:gsLst>
                <a:gs pos="0">
                  <a:schemeClr val="accent1">
                    <a:lumMod val="5000"/>
                    <a:lumOff val="95000"/>
                    <a:alpha val="2000"/>
                  </a:schemeClr>
                </a:gs>
                <a:gs pos="100000">
                  <a:schemeClr val="accent5">
                    <a:lumMod val="20000"/>
                    <a:lumOff val="80000"/>
                  </a:schemeClr>
                </a:gs>
              </a:gsLst>
              <a:lin ang="10800000" scaled="1"/>
              <a:tileRect/>
            </a:gradFill>
            <a:effectLst>
              <a:softEdge rad="127000"/>
            </a:effectLst>
          </p:spPr>
          <p:txBody>
            <a:bodyPr wrap="square" rtlCol="0">
              <a:spAutoFit/>
            </a:bodyPr>
            <a:lstStyle>
              <a:defPPr>
                <a:defRPr lang="zh-CN"/>
              </a:defPPr>
              <a:lvl1pPr>
                <a:defRPr b="1">
                  <a:latin typeface="微软雅黑" panose="020B0503020204020204" pitchFamily="34" charset="-122"/>
                  <a:ea typeface="微软雅黑" panose="020B0503020204020204" pitchFamily="34" charset="-122"/>
                </a:defRPr>
              </a:lvl1pPr>
            </a:lstStyle>
            <a:p>
              <a:pPr>
                <a:spcAft>
                  <a:spcPts val="600"/>
                </a:spcAft>
              </a:pPr>
              <a:r>
                <a:rPr lang="en-US" altLang="zh-CN" dirty="0"/>
                <a:t>1980~2016</a:t>
              </a:r>
            </a:p>
            <a:p>
              <a:r>
                <a:rPr lang="zh-CN" altLang="en-US" sz="2000" dirty="0"/>
                <a:t>物理实现：</a:t>
              </a:r>
              <a:r>
                <a:rPr lang="zh-CN" altLang="en-US" b="0" dirty="0"/>
                <a:t>从理论到量子器件</a:t>
              </a:r>
            </a:p>
          </p:txBody>
        </p:sp>
      </p:grpSp>
      <p:grpSp>
        <p:nvGrpSpPr>
          <p:cNvPr id="66" name="组合 65">
            <a:extLst>
              <a:ext uri="{FF2B5EF4-FFF2-40B4-BE49-F238E27FC236}">
                <a16:creationId xmlns:a16="http://schemas.microsoft.com/office/drawing/2014/main" id="{F529DDD5-B48D-8E94-1EB6-3BCC24C16743}"/>
              </a:ext>
            </a:extLst>
          </p:cNvPr>
          <p:cNvGrpSpPr/>
          <p:nvPr/>
        </p:nvGrpSpPr>
        <p:grpSpPr>
          <a:xfrm>
            <a:off x="151790" y="4617103"/>
            <a:ext cx="4171417" cy="2031930"/>
            <a:chOff x="151790" y="4617103"/>
            <a:chExt cx="4171417" cy="2031930"/>
          </a:xfrm>
        </p:grpSpPr>
        <p:pic>
          <p:nvPicPr>
            <p:cNvPr id="9" name="图片 8">
              <a:extLst>
                <a:ext uri="{FF2B5EF4-FFF2-40B4-BE49-F238E27FC236}">
                  <a16:creationId xmlns:a16="http://schemas.microsoft.com/office/drawing/2014/main" id="{3D4E1F80-4461-706D-27C2-85A61492B00A}"/>
                </a:ext>
              </a:extLst>
            </p:cNvPr>
            <p:cNvPicPr>
              <a:picLocks noChangeAspect="1"/>
            </p:cNvPicPr>
            <p:nvPr/>
          </p:nvPicPr>
          <p:blipFill>
            <a:blip r:embed="rId5"/>
            <a:srcRect l="1765" t="56284" r="72647" b="25843"/>
            <a:stretch>
              <a:fillRect/>
            </a:stretch>
          </p:blipFill>
          <p:spPr>
            <a:xfrm>
              <a:off x="344065" y="5422660"/>
              <a:ext cx="3119718" cy="1226373"/>
            </a:xfrm>
            <a:prstGeom prst="rect">
              <a:avLst/>
            </a:prstGeom>
          </p:spPr>
        </p:pic>
        <p:pic>
          <p:nvPicPr>
            <p:cNvPr id="17" name="图片 16">
              <a:extLst>
                <a:ext uri="{FF2B5EF4-FFF2-40B4-BE49-F238E27FC236}">
                  <a16:creationId xmlns:a16="http://schemas.microsoft.com/office/drawing/2014/main" id="{D1DF6DDF-40EC-FA59-1027-9CF53F733685}"/>
                </a:ext>
              </a:extLst>
            </p:cNvPr>
            <p:cNvPicPr>
              <a:picLocks noChangeAspect="1"/>
            </p:cNvPicPr>
            <p:nvPr/>
          </p:nvPicPr>
          <p:blipFill>
            <a:blip r:embed="rId6"/>
            <a:srcRect l="2975" t="43378" r="80716" b="35289"/>
            <a:stretch>
              <a:fillRect/>
            </a:stretch>
          </p:blipFill>
          <p:spPr>
            <a:xfrm>
              <a:off x="151790" y="4617103"/>
              <a:ext cx="1128370" cy="830701"/>
            </a:xfrm>
            <a:prstGeom prst="rect">
              <a:avLst/>
            </a:prstGeom>
          </p:spPr>
        </p:pic>
        <p:sp>
          <p:nvSpPr>
            <p:cNvPr id="11" name="文本框 10">
              <a:extLst>
                <a:ext uri="{FF2B5EF4-FFF2-40B4-BE49-F238E27FC236}">
                  <a16:creationId xmlns:a16="http://schemas.microsoft.com/office/drawing/2014/main" id="{F17A712C-DEEA-1834-4F1B-F558B3F325E7}"/>
                </a:ext>
              </a:extLst>
            </p:cNvPr>
            <p:cNvSpPr txBox="1"/>
            <p:nvPr/>
          </p:nvSpPr>
          <p:spPr>
            <a:xfrm>
              <a:off x="1044635" y="4684955"/>
              <a:ext cx="3278572" cy="584775"/>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楷体" panose="02010609060101010101" pitchFamily="49" charset="-122"/>
                  <a:ea typeface="楷体" panose="02010609060101010101" pitchFamily="49" charset="-122"/>
                </a:rPr>
                <a:t>如何构建和操控量子比特？</a:t>
              </a:r>
              <a:endParaRPr lang="en-US" altLang="zh-CN" sz="1600"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1600" dirty="0">
                  <a:latin typeface="楷体" panose="02010609060101010101" pitchFamily="49" charset="-122"/>
                  <a:ea typeface="楷体" panose="02010609060101010101" pitchFamily="49" charset="-122"/>
                </a:rPr>
                <a:t>如何实现高保真的量子门？</a:t>
              </a:r>
            </a:p>
          </p:txBody>
        </p:sp>
      </p:grpSp>
      <p:pic>
        <p:nvPicPr>
          <p:cNvPr id="34" name="图片 33">
            <a:extLst>
              <a:ext uri="{FF2B5EF4-FFF2-40B4-BE49-F238E27FC236}">
                <a16:creationId xmlns:a16="http://schemas.microsoft.com/office/drawing/2014/main" id="{9E29C26D-E01A-3089-9F2D-6DCBA84D68AD}"/>
              </a:ext>
            </a:extLst>
          </p:cNvPr>
          <p:cNvPicPr>
            <a:picLocks noChangeAspect="1"/>
          </p:cNvPicPr>
          <p:nvPr/>
        </p:nvPicPr>
        <p:blipFill>
          <a:blip r:embed="rId7"/>
          <a:stretch>
            <a:fillRect/>
          </a:stretch>
        </p:blipFill>
        <p:spPr>
          <a:xfrm>
            <a:off x="4214622" y="4029389"/>
            <a:ext cx="3258222" cy="1056961"/>
          </a:xfrm>
          <a:prstGeom prst="rect">
            <a:avLst/>
          </a:prstGeom>
          <a:effectLst>
            <a:outerShdw blurRad="50800" dist="38100" dir="2700000" algn="tl" rotWithShape="0">
              <a:prstClr val="black">
                <a:alpha val="40000"/>
              </a:prstClr>
            </a:outerShdw>
          </a:effectLst>
        </p:spPr>
      </p:pic>
      <p:grpSp>
        <p:nvGrpSpPr>
          <p:cNvPr id="58" name="组合 57">
            <a:extLst>
              <a:ext uri="{FF2B5EF4-FFF2-40B4-BE49-F238E27FC236}">
                <a16:creationId xmlns:a16="http://schemas.microsoft.com/office/drawing/2014/main" id="{DD95388D-75DA-F885-E1CA-562419A63BFD}"/>
              </a:ext>
            </a:extLst>
          </p:cNvPr>
          <p:cNvGrpSpPr/>
          <p:nvPr/>
        </p:nvGrpSpPr>
        <p:grpSpPr>
          <a:xfrm>
            <a:off x="7725918" y="952098"/>
            <a:ext cx="4294631" cy="2010558"/>
            <a:chOff x="7973568" y="952098"/>
            <a:chExt cx="4294631" cy="2010558"/>
          </a:xfrm>
        </p:grpSpPr>
        <p:pic>
          <p:nvPicPr>
            <p:cNvPr id="36" name="图片 35">
              <a:extLst>
                <a:ext uri="{FF2B5EF4-FFF2-40B4-BE49-F238E27FC236}">
                  <a16:creationId xmlns:a16="http://schemas.microsoft.com/office/drawing/2014/main" id="{C73B8AD8-14B9-9387-15A5-5A1C789647DF}"/>
                </a:ext>
              </a:extLst>
            </p:cNvPr>
            <p:cNvPicPr>
              <a:picLocks noChangeAspect="1"/>
            </p:cNvPicPr>
            <p:nvPr/>
          </p:nvPicPr>
          <p:blipFill>
            <a:blip r:embed="rId3"/>
            <a:srcRect l="66307" t="24891" r="1076" b="45244"/>
            <a:stretch>
              <a:fillRect/>
            </a:stretch>
          </p:blipFill>
          <p:spPr>
            <a:xfrm>
              <a:off x="7973568" y="952098"/>
              <a:ext cx="3901440" cy="2010558"/>
            </a:xfrm>
            <a:prstGeom prst="rect">
              <a:avLst/>
            </a:prstGeom>
          </p:spPr>
        </p:pic>
        <p:sp>
          <p:nvSpPr>
            <p:cNvPr id="38" name="文本框 37">
              <a:extLst>
                <a:ext uri="{FF2B5EF4-FFF2-40B4-BE49-F238E27FC236}">
                  <a16:creationId xmlns:a16="http://schemas.microsoft.com/office/drawing/2014/main" id="{CE319EA7-09F1-951B-833E-7D2ADE2A7B7D}"/>
                </a:ext>
              </a:extLst>
            </p:cNvPr>
            <p:cNvSpPr txBox="1"/>
            <p:nvPr/>
          </p:nvSpPr>
          <p:spPr>
            <a:xfrm>
              <a:off x="8219088" y="1939738"/>
              <a:ext cx="4049111" cy="863441"/>
            </a:xfrm>
            <a:prstGeom prst="roundRect">
              <a:avLst>
                <a:gd name="adj" fmla="val 21995"/>
              </a:avLst>
            </a:prstGeom>
            <a:gradFill flip="none" rotWithShape="1">
              <a:gsLst>
                <a:gs pos="0">
                  <a:schemeClr val="accent1">
                    <a:lumMod val="5000"/>
                    <a:lumOff val="95000"/>
                    <a:alpha val="2000"/>
                  </a:schemeClr>
                </a:gs>
                <a:gs pos="100000">
                  <a:schemeClr val="accent5">
                    <a:lumMod val="20000"/>
                    <a:lumOff val="80000"/>
                  </a:schemeClr>
                </a:gs>
              </a:gsLst>
              <a:lin ang="10800000" scaled="1"/>
              <a:tileRect/>
            </a:gradFill>
            <a:effectLst>
              <a:softEdge rad="127000"/>
            </a:effectLst>
          </p:spPr>
          <p:txBody>
            <a:bodyPr wrap="square" rtlCol="0">
              <a:spAutoFit/>
            </a:bodyPr>
            <a:lstStyle/>
            <a:p>
              <a:pPr>
                <a:spcAft>
                  <a:spcPts val="600"/>
                </a:spcAft>
              </a:pPr>
              <a:r>
                <a:rPr lang="en-US" altLang="zh-CN" b="1" dirty="0">
                  <a:latin typeface="微软雅黑" panose="020B0503020204020204" pitchFamily="34" charset="-122"/>
                  <a:ea typeface="微软雅黑" panose="020B0503020204020204" pitchFamily="34" charset="-122"/>
                </a:rPr>
                <a:t>2020s </a:t>
              </a: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Future</a:t>
              </a:r>
            </a:p>
            <a:p>
              <a:r>
                <a:rPr lang="zh-CN" altLang="en-US" sz="2000" b="1" dirty="0">
                  <a:latin typeface="微软雅黑" panose="020B0503020204020204" pitchFamily="34" charset="-122"/>
                  <a:ea typeface="微软雅黑" panose="020B0503020204020204" pitchFamily="34" charset="-122"/>
                </a:rPr>
                <a:t>系统融合：</a:t>
              </a:r>
              <a:r>
                <a:rPr lang="en-US" altLang="zh-CN" dirty="0">
                  <a:latin typeface="微软雅黑" panose="020B0503020204020204" pitchFamily="34" charset="-122"/>
                  <a:ea typeface="微软雅黑" panose="020B0503020204020204" pitchFamily="34" charset="-122"/>
                </a:rPr>
                <a:t>QPU </a:t>
              </a:r>
              <a:r>
                <a:rPr lang="zh-CN" altLang="en-US" dirty="0">
                  <a:latin typeface="微软雅黑" panose="020B0503020204020204" pitchFamily="34" charset="-122"/>
                  <a:ea typeface="微软雅黑" panose="020B0503020204020204" pitchFamily="34" charset="-122"/>
                </a:rPr>
                <a:t>成为异构计算资源</a:t>
              </a:r>
            </a:p>
          </p:txBody>
        </p:sp>
      </p:grpSp>
      <p:grpSp>
        <p:nvGrpSpPr>
          <p:cNvPr id="59" name="组合 58">
            <a:extLst>
              <a:ext uri="{FF2B5EF4-FFF2-40B4-BE49-F238E27FC236}">
                <a16:creationId xmlns:a16="http://schemas.microsoft.com/office/drawing/2014/main" id="{5F81E5DA-2C82-D19A-181D-A9E74D2D82D3}"/>
              </a:ext>
            </a:extLst>
          </p:cNvPr>
          <p:cNvGrpSpPr/>
          <p:nvPr/>
        </p:nvGrpSpPr>
        <p:grpSpPr>
          <a:xfrm>
            <a:off x="7870825" y="3511550"/>
            <a:ext cx="4016375" cy="1130301"/>
            <a:chOff x="8089900" y="3644900"/>
            <a:chExt cx="4016375" cy="1130301"/>
          </a:xfrm>
        </p:grpSpPr>
        <p:sp>
          <p:nvSpPr>
            <p:cNvPr id="50" name="矩形: 圆角 49">
              <a:extLst>
                <a:ext uri="{FF2B5EF4-FFF2-40B4-BE49-F238E27FC236}">
                  <a16:creationId xmlns:a16="http://schemas.microsoft.com/office/drawing/2014/main" id="{C60FD878-46DB-E69E-D25D-EFA3F3C2BE6E}"/>
                </a:ext>
              </a:extLst>
            </p:cNvPr>
            <p:cNvSpPr/>
            <p:nvPr/>
          </p:nvSpPr>
          <p:spPr>
            <a:xfrm>
              <a:off x="8089900" y="3860801"/>
              <a:ext cx="4016375" cy="914400"/>
            </a:xfrm>
            <a:prstGeom prst="roundRect">
              <a:avLst>
                <a:gd name="adj" fmla="val 8542"/>
              </a:avLst>
            </a:prstGeom>
            <a:noFill/>
            <a:ln w="9525" cap="flat" cmpd="sng" algn="ctr">
              <a:solidFill>
                <a:schemeClr val="accent1">
                  <a:lumMod val="20000"/>
                  <a:lumOff val="8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rtlCol="0" anchor="ctr">
              <a:noAutofit/>
            </a:bodyPr>
            <a:lstStyle/>
            <a:p>
              <a:pPr algn="ctr"/>
              <a:endParaRPr lang="zh-CN" altLang="en-US" dirty="0">
                <a:latin typeface="微软雅黑" panose="020B0503020204020204" pitchFamily="34" charset="-122"/>
                <a:ea typeface="微软雅黑" panose="020B0503020204020204" pitchFamily="34" charset="-122"/>
              </a:endParaRPr>
            </a:p>
          </p:txBody>
        </p:sp>
        <p:pic>
          <p:nvPicPr>
            <p:cNvPr id="41" name="图片 40">
              <a:extLst>
                <a:ext uri="{FF2B5EF4-FFF2-40B4-BE49-F238E27FC236}">
                  <a16:creationId xmlns:a16="http://schemas.microsoft.com/office/drawing/2014/main" id="{9ACEA58A-601D-8F4F-F444-B1136969B19C}"/>
                </a:ext>
              </a:extLst>
            </p:cNvPr>
            <p:cNvPicPr>
              <a:picLocks noChangeAspect="1"/>
            </p:cNvPicPr>
            <p:nvPr/>
          </p:nvPicPr>
          <p:blipFill>
            <a:blip r:embed="rId8"/>
            <a:srcRect l="12400" t="53225" r="66000" b="16175"/>
            <a:stretch>
              <a:fillRect/>
            </a:stretch>
          </p:blipFill>
          <p:spPr>
            <a:xfrm>
              <a:off x="9486899" y="4106225"/>
              <a:ext cx="1260000" cy="595000"/>
            </a:xfrm>
            <a:prstGeom prst="rect">
              <a:avLst/>
            </a:prstGeom>
          </p:spPr>
        </p:pic>
        <p:pic>
          <p:nvPicPr>
            <p:cNvPr id="43" name="图片 42">
              <a:extLst>
                <a:ext uri="{FF2B5EF4-FFF2-40B4-BE49-F238E27FC236}">
                  <a16:creationId xmlns:a16="http://schemas.microsoft.com/office/drawing/2014/main" id="{9CE3471F-C750-6A61-B68E-F27DC303AA6D}"/>
                </a:ext>
              </a:extLst>
            </p:cNvPr>
            <p:cNvPicPr>
              <a:picLocks noChangeAspect="1"/>
            </p:cNvPicPr>
            <p:nvPr/>
          </p:nvPicPr>
          <p:blipFill>
            <a:blip r:embed="rId8"/>
            <a:srcRect l="38881" t="52807" r="38773" b="16364"/>
            <a:stretch>
              <a:fillRect/>
            </a:stretch>
          </p:blipFill>
          <p:spPr>
            <a:xfrm>
              <a:off x="8180896" y="4108900"/>
              <a:ext cx="1282192" cy="589651"/>
            </a:xfrm>
            <a:prstGeom prst="rect">
              <a:avLst/>
            </a:prstGeom>
          </p:spPr>
        </p:pic>
        <p:pic>
          <p:nvPicPr>
            <p:cNvPr id="45" name="图片 44">
              <a:extLst>
                <a:ext uri="{FF2B5EF4-FFF2-40B4-BE49-F238E27FC236}">
                  <a16:creationId xmlns:a16="http://schemas.microsoft.com/office/drawing/2014/main" id="{CF7917D4-A330-2081-2C89-672D50DE5089}"/>
                </a:ext>
              </a:extLst>
            </p:cNvPr>
            <p:cNvPicPr>
              <a:picLocks noChangeAspect="1"/>
            </p:cNvPicPr>
            <p:nvPr/>
          </p:nvPicPr>
          <p:blipFill>
            <a:blip r:embed="rId8"/>
            <a:srcRect l="65922" t="51626" r="11732" b="15776"/>
            <a:stretch>
              <a:fillRect/>
            </a:stretch>
          </p:blipFill>
          <p:spPr>
            <a:xfrm>
              <a:off x="10755772" y="4084638"/>
              <a:ext cx="1312403" cy="638175"/>
            </a:xfrm>
            <a:prstGeom prst="rect">
              <a:avLst/>
            </a:prstGeom>
          </p:spPr>
        </p:pic>
        <p:sp>
          <p:nvSpPr>
            <p:cNvPr id="46" name="箭头: 左右 45">
              <a:extLst>
                <a:ext uri="{FF2B5EF4-FFF2-40B4-BE49-F238E27FC236}">
                  <a16:creationId xmlns:a16="http://schemas.microsoft.com/office/drawing/2014/main" id="{FE8F1E7F-B43E-65E2-75EC-DD6483B65766}"/>
                </a:ext>
              </a:extLst>
            </p:cNvPr>
            <p:cNvSpPr/>
            <p:nvPr/>
          </p:nvSpPr>
          <p:spPr>
            <a:xfrm>
              <a:off x="9286876" y="4334669"/>
              <a:ext cx="223838" cy="138113"/>
            </a:xfrm>
            <a:prstGeom prst="leftRightArrow">
              <a:avLst/>
            </a:prstGeom>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8" name="箭头: 左右 47">
              <a:extLst>
                <a:ext uri="{FF2B5EF4-FFF2-40B4-BE49-F238E27FC236}">
                  <a16:creationId xmlns:a16="http://schemas.microsoft.com/office/drawing/2014/main" id="{816B165B-BDFD-0549-EC68-48ACB2BBD97A}"/>
                </a:ext>
              </a:extLst>
            </p:cNvPr>
            <p:cNvSpPr/>
            <p:nvPr/>
          </p:nvSpPr>
          <p:spPr>
            <a:xfrm>
              <a:off x="10625137" y="4334669"/>
              <a:ext cx="223838" cy="138113"/>
            </a:xfrm>
            <a:prstGeom prst="leftRightArrow">
              <a:avLst/>
            </a:prstGeom>
          </p:spPr>
          <p:style>
            <a:lnRef idx="2">
              <a:schemeClr val="accent4"/>
            </a:lnRef>
            <a:fillRef idx="1">
              <a:schemeClr val="lt1"/>
            </a:fillRef>
            <a:effectRef idx="0">
              <a:schemeClr val="accent4"/>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A003B4FA-4B96-A270-86B5-80A2ECFE989F}"/>
                </a:ext>
              </a:extLst>
            </p:cNvPr>
            <p:cNvSpPr txBox="1"/>
            <p:nvPr/>
          </p:nvSpPr>
          <p:spPr>
            <a:xfrm>
              <a:off x="8924925" y="3644900"/>
              <a:ext cx="2390776" cy="306467"/>
            </a:xfrm>
            <a:prstGeom prst="roundRect">
              <a:avLst/>
            </a:prstGeom>
            <a:solidFill>
              <a:srgbClr val="E5EFFE"/>
            </a:solidFill>
          </p:spPr>
          <p:txBody>
            <a:bodyPr wrap="square" rtlCol="0">
              <a:spAutoFit/>
            </a:bodyPr>
            <a:lstStyle/>
            <a:p>
              <a:pPr algn="ctr"/>
              <a:r>
                <a:rPr lang="zh-CN" altLang="en-US" sz="1200" dirty="0">
                  <a:latin typeface="微软雅黑" panose="020B0503020204020204" pitchFamily="34" charset="-122"/>
                  <a:ea typeface="微软雅黑" panose="020B0503020204020204" pitchFamily="34" charset="-122"/>
                </a:rPr>
                <a:t>异构高性能计算系统</a:t>
              </a:r>
            </a:p>
          </p:txBody>
        </p:sp>
      </p:grpSp>
      <p:grpSp>
        <p:nvGrpSpPr>
          <p:cNvPr id="68" name="组合 67">
            <a:extLst>
              <a:ext uri="{FF2B5EF4-FFF2-40B4-BE49-F238E27FC236}">
                <a16:creationId xmlns:a16="http://schemas.microsoft.com/office/drawing/2014/main" id="{5E288567-58BD-85A5-3D70-13F3154F85B0}"/>
              </a:ext>
            </a:extLst>
          </p:cNvPr>
          <p:cNvGrpSpPr/>
          <p:nvPr/>
        </p:nvGrpSpPr>
        <p:grpSpPr>
          <a:xfrm>
            <a:off x="4056507" y="5486900"/>
            <a:ext cx="3496818" cy="1077218"/>
            <a:chOff x="4304157" y="5277350"/>
            <a:chExt cx="3496818" cy="1077218"/>
          </a:xfrm>
        </p:grpSpPr>
        <p:pic>
          <p:nvPicPr>
            <p:cNvPr id="28" name="图片 27">
              <a:extLst>
                <a:ext uri="{FF2B5EF4-FFF2-40B4-BE49-F238E27FC236}">
                  <a16:creationId xmlns:a16="http://schemas.microsoft.com/office/drawing/2014/main" id="{50ABC54F-829E-B3DF-19D9-DC176A604B4E}"/>
                </a:ext>
              </a:extLst>
            </p:cNvPr>
            <p:cNvPicPr>
              <a:picLocks noChangeAspect="1"/>
            </p:cNvPicPr>
            <p:nvPr/>
          </p:nvPicPr>
          <p:blipFill>
            <a:blip r:embed="rId6"/>
            <a:srcRect l="35075" t="40859" r="51495" b="41807"/>
            <a:stretch>
              <a:fillRect/>
            </a:stretch>
          </p:blipFill>
          <p:spPr>
            <a:xfrm>
              <a:off x="4304157" y="5350837"/>
              <a:ext cx="1080000" cy="784464"/>
            </a:xfrm>
            <a:prstGeom prst="roundRect">
              <a:avLst/>
            </a:prstGeom>
          </p:spPr>
        </p:pic>
        <p:sp>
          <p:nvSpPr>
            <p:cNvPr id="24" name="文本框 23">
              <a:extLst>
                <a:ext uri="{FF2B5EF4-FFF2-40B4-BE49-F238E27FC236}">
                  <a16:creationId xmlns:a16="http://schemas.microsoft.com/office/drawing/2014/main" id="{7064E857-EF39-40E4-1891-01BD69133CAB}"/>
                </a:ext>
              </a:extLst>
            </p:cNvPr>
            <p:cNvSpPr txBox="1"/>
            <p:nvPr/>
          </p:nvSpPr>
          <p:spPr>
            <a:xfrm>
              <a:off x="4955286" y="5277350"/>
              <a:ext cx="2845689" cy="1077218"/>
            </a:xfrm>
            <a:prstGeom prst="rect">
              <a:avLst/>
            </a:prstGeom>
            <a:noFill/>
          </p:spPr>
          <p:txBody>
            <a:bodyPr wrap="square" rtlCol="0">
              <a:spAutoFit/>
            </a:bodyPr>
            <a:lstStyle>
              <a:defPPr>
                <a:defRPr lang="zh-CN"/>
              </a:defPPr>
              <a:lvl1pPr marL="285750" indent="-285750">
                <a:buFont typeface="Arial" panose="020B0604020202020204" pitchFamily="34" charset="0"/>
                <a:buChar char="•"/>
                <a:defRPr sz="1600">
                  <a:latin typeface="楷体" panose="02010609060101010101" pitchFamily="49" charset="-122"/>
                  <a:ea typeface="楷体" panose="02010609060101010101" pitchFamily="49" charset="-122"/>
                </a:defRPr>
              </a:lvl1pPr>
            </a:lstStyle>
            <a:p>
              <a:r>
                <a:rPr lang="zh-CN" altLang="zh-CN" dirty="0"/>
                <a:t>程序</a:t>
              </a:r>
              <a:r>
                <a:rPr lang="zh-CN" altLang="en-US" dirty="0"/>
                <a:t>如何</a:t>
              </a:r>
              <a:r>
                <a:rPr lang="zh-CN" altLang="zh-CN" dirty="0"/>
                <a:t>表示？ </a:t>
              </a:r>
              <a:r>
                <a:rPr lang="zh-CN" altLang="en-US" dirty="0"/>
                <a:t>如何</a:t>
              </a:r>
              <a:r>
                <a:rPr lang="zh-CN" altLang="zh-CN" dirty="0"/>
                <a:t>编译</a:t>
              </a:r>
              <a:r>
                <a:rPr lang="zh-CN" altLang="en-US" dirty="0"/>
                <a:t>、映射和调度？</a:t>
              </a:r>
              <a:endParaRPr lang="en-US" altLang="zh-CN" dirty="0"/>
            </a:p>
            <a:p>
              <a:r>
                <a:rPr lang="zh-CN" altLang="en-US" dirty="0"/>
                <a:t>量子化学、组合优化、机器学习等应用能否验证？</a:t>
              </a:r>
            </a:p>
          </p:txBody>
        </p:sp>
      </p:grpSp>
      <p:grpSp>
        <p:nvGrpSpPr>
          <p:cNvPr id="60" name="组合 59">
            <a:extLst>
              <a:ext uri="{FF2B5EF4-FFF2-40B4-BE49-F238E27FC236}">
                <a16:creationId xmlns:a16="http://schemas.microsoft.com/office/drawing/2014/main" id="{1F1E9AB8-820A-8506-23D4-F6C180BA62E4}"/>
              </a:ext>
            </a:extLst>
          </p:cNvPr>
          <p:cNvGrpSpPr/>
          <p:nvPr/>
        </p:nvGrpSpPr>
        <p:grpSpPr>
          <a:xfrm>
            <a:off x="8768862" y="2843192"/>
            <a:ext cx="3204065" cy="751349"/>
            <a:chOff x="8987937" y="2919392"/>
            <a:chExt cx="3204065" cy="751349"/>
          </a:xfrm>
        </p:grpSpPr>
        <p:pic>
          <p:nvPicPr>
            <p:cNvPr id="52" name="图片 51">
              <a:extLst>
                <a:ext uri="{FF2B5EF4-FFF2-40B4-BE49-F238E27FC236}">
                  <a16:creationId xmlns:a16="http://schemas.microsoft.com/office/drawing/2014/main" id="{56CC5610-E52F-8485-7C67-484B3445241D}"/>
                </a:ext>
              </a:extLst>
            </p:cNvPr>
            <p:cNvPicPr>
              <a:picLocks noChangeAspect="1"/>
            </p:cNvPicPr>
            <p:nvPr/>
          </p:nvPicPr>
          <p:blipFill>
            <a:blip r:embed="rId8"/>
            <a:srcRect l="28485" t="1539" r="27884" b="72319"/>
            <a:stretch>
              <a:fillRect/>
            </a:stretch>
          </p:blipFill>
          <p:spPr>
            <a:xfrm>
              <a:off x="8987937" y="2919392"/>
              <a:ext cx="2277208" cy="454840"/>
            </a:xfrm>
            <a:prstGeom prst="rect">
              <a:avLst/>
            </a:prstGeom>
          </p:spPr>
        </p:pic>
        <p:sp>
          <p:nvSpPr>
            <p:cNvPr id="53" name="箭头: 下 52">
              <a:extLst>
                <a:ext uri="{FF2B5EF4-FFF2-40B4-BE49-F238E27FC236}">
                  <a16:creationId xmlns:a16="http://schemas.microsoft.com/office/drawing/2014/main" id="{64C4093D-2DFD-AA89-2264-C1BBFC80936B}"/>
                </a:ext>
              </a:extLst>
            </p:cNvPr>
            <p:cNvSpPr/>
            <p:nvPr/>
          </p:nvSpPr>
          <p:spPr>
            <a:xfrm>
              <a:off x="9946481" y="3367088"/>
              <a:ext cx="357188" cy="209550"/>
            </a:xfrm>
            <a:prstGeom prst="downArrow">
              <a:avLst/>
            </a:prstGeom>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CA014C6D-7A2B-4768-FAB1-8C6096019931}"/>
                </a:ext>
              </a:extLst>
            </p:cNvPr>
            <p:cNvSpPr txBox="1"/>
            <p:nvPr/>
          </p:nvSpPr>
          <p:spPr>
            <a:xfrm rot="16200000">
              <a:off x="10861392" y="2340131"/>
              <a:ext cx="353943" cy="2307277"/>
            </a:xfrm>
            <a:prstGeom prst="rect">
              <a:avLst/>
            </a:prstGeom>
            <a:noFill/>
          </p:spPr>
          <p:txBody>
            <a:bodyPr vert="eaVert" wrap="square" rtlCol="0">
              <a:spAutoFit/>
            </a:bodyPr>
            <a:lstStyle/>
            <a:p>
              <a:pPr algn="ctr"/>
              <a:r>
                <a:rPr lang="zh-CN" altLang="en-US" sz="1100" dirty="0">
                  <a:latin typeface="微软雅黑" panose="020B0503020204020204" pitchFamily="34" charset="-122"/>
                  <a:ea typeface="微软雅黑" panose="020B0503020204020204" pitchFamily="34" charset="-122"/>
                </a:rPr>
                <a:t>经典</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量子混合计算</a:t>
              </a:r>
            </a:p>
          </p:txBody>
        </p:sp>
      </p:grpSp>
      <p:pic>
        <p:nvPicPr>
          <p:cNvPr id="57" name="图片 56">
            <a:extLst>
              <a:ext uri="{FF2B5EF4-FFF2-40B4-BE49-F238E27FC236}">
                <a16:creationId xmlns:a16="http://schemas.microsoft.com/office/drawing/2014/main" id="{4E37A496-027C-1691-AFCB-A675EC56DB3F}"/>
              </a:ext>
            </a:extLst>
          </p:cNvPr>
          <p:cNvPicPr>
            <a:picLocks noChangeAspect="1"/>
          </p:cNvPicPr>
          <p:nvPr/>
        </p:nvPicPr>
        <p:blipFill>
          <a:blip r:embed="rId9"/>
          <a:stretch>
            <a:fillRect/>
          </a:stretch>
        </p:blipFill>
        <p:spPr>
          <a:xfrm>
            <a:off x="7835265" y="4672965"/>
            <a:ext cx="4137660" cy="1379220"/>
          </a:xfrm>
          <a:prstGeom prst="rect">
            <a:avLst/>
          </a:prstGeom>
        </p:spPr>
      </p:pic>
      <p:grpSp>
        <p:nvGrpSpPr>
          <p:cNvPr id="67" name="组合 66">
            <a:extLst>
              <a:ext uri="{FF2B5EF4-FFF2-40B4-BE49-F238E27FC236}">
                <a16:creationId xmlns:a16="http://schemas.microsoft.com/office/drawing/2014/main" id="{5C5BE81E-E0B4-4D78-CFCE-DEBB1E5A4396}"/>
              </a:ext>
            </a:extLst>
          </p:cNvPr>
          <p:cNvGrpSpPr/>
          <p:nvPr/>
        </p:nvGrpSpPr>
        <p:grpSpPr>
          <a:xfrm>
            <a:off x="3821906" y="2645664"/>
            <a:ext cx="3897154" cy="1316736"/>
            <a:chOff x="4088606" y="2645664"/>
            <a:chExt cx="3897154" cy="1316736"/>
          </a:xfrm>
        </p:grpSpPr>
        <p:pic>
          <p:nvPicPr>
            <p:cNvPr id="19" name="图片 18">
              <a:extLst>
                <a:ext uri="{FF2B5EF4-FFF2-40B4-BE49-F238E27FC236}">
                  <a16:creationId xmlns:a16="http://schemas.microsoft.com/office/drawing/2014/main" id="{98F2577D-A554-6B71-8DD8-FCE7760CA2AE}"/>
                </a:ext>
              </a:extLst>
            </p:cNvPr>
            <p:cNvPicPr>
              <a:picLocks noChangeAspect="1"/>
            </p:cNvPicPr>
            <p:nvPr/>
          </p:nvPicPr>
          <p:blipFill>
            <a:blip r:embed="rId3"/>
            <a:srcRect l="35942" t="49334" r="33643" b="31467"/>
            <a:stretch>
              <a:fillRect/>
            </a:stretch>
          </p:blipFill>
          <p:spPr>
            <a:xfrm>
              <a:off x="4279392" y="2645664"/>
              <a:ext cx="3706368" cy="1316736"/>
            </a:xfrm>
            <a:prstGeom prst="rect">
              <a:avLst/>
            </a:prstGeom>
          </p:spPr>
        </p:pic>
        <p:sp>
          <p:nvSpPr>
            <p:cNvPr id="22" name="文本框 21">
              <a:extLst>
                <a:ext uri="{FF2B5EF4-FFF2-40B4-BE49-F238E27FC236}">
                  <a16:creationId xmlns:a16="http://schemas.microsoft.com/office/drawing/2014/main" id="{783D4304-3CFD-A2B1-9306-D19EC8480A68}"/>
                </a:ext>
              </a:extLst>
            </p:cNvPr>
            <p:cNvSpPr txBox="1"/>
            <p:nvPr/>
          </p:nvSpPr>
          <p:spPr>
            <a:xfrm>
              <a:off x="4606065" y="2905573"/>
              <a:ext cx="2928209" cy="1031051"/>
            </a:xfrm>
            <a:prstGeom prst="rect">
              <a:avLst/>
            </a:prstGeom>
            <a:gradFill flip="none" rotWithShape="1">
              <a:gsLst>
                <a:gs pos="0">
                  <a:schemeClr val="accent1">
                    <a:lumMod val="5000"/>
                    <a:lumOff val="95000"/>
                    <a:alpha val="2000"/>
                  </a:schemeClr>
                </a:gs>
                <a:gs pos="100000">
                  <a:schemeClr val="accent5">
                    <a:lumMod val="20000"/>
                    <a:lumOff val="80000"/>
                  </a:schemeClr>
                </a:gs>
              </a:gsLst>
              <a:lin ang="10800000" scaled="1"/>
              <a:tileRect/>
            </a:gradFill>
            <a:effectLst>
              <a:softEdge rad="127000"/>
            </a:effectLst>
          </p:spPr>
          <p:txBody>
            <a:bodyPr wrap="square" rtlCol="0">
              <a:spAutoFit/>
            </a:bodyPr>
            <a:lstStyle>
              <a:defPPr>
                <a:defRPr lang="zh-CN"/>
              </a:defPPr>
              <a:lvl1pPr>
                <a:defRPr b="1">
                  <a:latin typeface="微软雅黑" panose="020B0503020204020204" pitchFamily="34" charset="-122"/>
                  <a:ea typeface="微软雅黑" panose="020B0503020204020204" pitchFamily="34" charset="-122"/>
                </a:defRPr>
              </a:lvl1pPr>
            </a:lstStyle>
            <a:p>
              <a:pPr>
                <a:spcAft>
                  <a:spcPts val="600"/>
                </a:spcAft>
              </a:pPr>
              <a:r>
                <a:rPr lang="en-US" altLang="zh-CN" dirty="0"/>
                <a:t>2016</a:t>
              </a:r>
              <a:r>
                <a:rPr lang="zh-CN" altLang="en-US" dirty="0"/>
                <a:t>～</a:t>
              </a:r>
              <a:r>
                <a:rPr lang="en-US" altLang="zh-CN" dirty="0"/>
                <a:t>2020s</a:t>
              </a:r>
            </a:p>
            <a:p>
              <a:r>
                <a:rPr lang="zh-CN" altLang="en-US" sz="2000" dirty="0"/>
                <a:t>可编程化：</a:t>
              </a:r>
              <a:r>
                <a:rPr lang="zh-CN" altLang="en-US" b="0" dirty="0"/>
                <a:t>从实验装置到可编程、访问的量子计算机</a:t>
              </a:r>
            </a:p>
          </p:txBody>
        </p:sp>
        <p:pic>
          <p:nvPicPr>
            <p:cNvPr id="62" name="图片 61">
              <a:extLst>
                <a:ext uri="{FF2B5EF4-FFF2-40B4-BE49-F238E27FC236}">
                  <a16:creationId xmlns:a16="http://schemas.microsoft.com/office/drawing/2014/main" id="{56DB13F3-D452-F77F-38AF-DE629A4F8390}"/>
                </a:ext>
              </a:extLst>
            </p:cNvPr>
            <p:cNvPicPr>
              <a:picLocks noChangeAspect="1"/>
            </p:cNvPicPr>
            <p:nvPr/>
          </p:nvPicPr>
          <p:blipFill>
            <a:blip r:embed="rId4"/>
            <a:srcRect l="32458" t="26134" r="62970" b="65633"/>
            <a:stretch>
              <a:fillRect/>
            </a:stretch>
          </p:blipFill>
          <p:spPr>
            <a:xfrm>
              <a:off x="4088606" y="3302792"/>
              <a:ext cx="557213" cy="564659"/>
            </a:xfrm>
            <a:prstGeom prst="ellipse">
              <a:avLst/>
            </a:prstGeom>
          </p:spPr>
        </p:pic>
      </p:grpSp>
      <p:sp>
        <p:nvSpPr>
          <p:cNvPr id="15" name="文本框 14">
            <a:extLst>
              <a:ext uri="{FF2B5EF4-FFF2-40B4-BE49-F238E27FC236}">
                <a16:creationId xmlns:a16="http://schemas.microsoft.com/office/drawing/2014/main" id="{E962F819-344E-1618-C569-307FAF17BB45}"/>
              </a:ext>
            </a:extLst>
          </p:cNvPr>
          <p:cNvSpPr txBox="1"/>
          <p:nvPr/>
        </p:nvSpPr>
        <p:spPr>
          <a:xfrm>
            <a:off x="225103" y="996875"/>
            <a:ext cx="10422020" cy="1074140"/>
          </a:xfrm>
          <a:prstGeom prst="rect">
            <a:avLst/>
          </a:prstGeom>
          <a:gradFill flip="none" rotWithShape="1">
            <a:gsLst>
              <a:gs pos="0">
                <a:schemeClr val="accent1">
                  <a:lumMod val="5000"/>
                  <a:lumOff val="95000"/>
                  <a:alpha val="2000"/>
                </a:schemeClr>
              </a:gs>
              <a:gs pos="44000">
                <a:srgbClr val="EAF2FA"/>
              </a:gs>
              <a:gs pos="100000">
                <a:schemeClr val="accent5">
                  <a:lumMod val="20000"/>
                  <a:lumOff val="80000"/>
                </a:schemeClr>
              </a:gs>
            </a:gsLst>
            <a:lin ang="16200000" scaled="1"/>
            <a:tileRect/>
          </a:gradFill>
        </p:spPr>
        <p:txBody>
          <a:bodyPr wrap="square" rtlCol="0">
            <a:spAutoFit/>
          </a:bodyPr>
          <a:lstStyle/>
          <a:p>
            <a:pPr marL="355600" lvl="0" indent="-355600">
              <a:lnSpc>
                <a:spcPct val="114000"/>
              </a:lnSpc>
              <a:spcBef>
                <a:spcPts val="1000"/>
              </a:spcBef>
              <a:buClr>
                <a:srgbClr val="4472C4"/>
              </a:buClr>
              <a:buSzPct val="90000"/>
              <a:buFont typeface="Wingdings" panose="05000000000000000000" pitchFamily="2" charset="2"/>
              <a:buChar char="q"/>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量子计算</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a:spcBef>
                <a:spcPts val="600"/>
              </a:spcBef>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基于量子力学特性</a:t>
            </a:r>
            <a:r>
              <a:rPr lang="zh-CN" altLang="en-US" dirty="0">
                <a:latin typeface="微软雅黑" panose="020B0503020204020204" pitchFamily="34" charset="-122"/>
                <a:ea typeface="微软雅黑" panose="020B0503020204020204" pitchFamily="34" charset="-122"/>
              </a:rPr>
              <a:t>，一种利用量子态及其演化进行信息处理的计算模型，在量子系统模拟及部分特定问题上具有理论加速或潜在计算优势</a:t>
            </a:r>
            <a:r>
              <a:rPr lang="zh-CN"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grpSp>
        <p:nvGrpSpPr>
          <p:cNvPr id="73" name="组合 72">
            <a:extLst>
              <a:ext uri="{FF2B5EF4-FFF2-40B4-BE49-F238E27FC236}">
                <a16:creationId xmlns:a16="http://schemas.microsoft.com/office/drawing/2014/main" id="{723217C0-090D-A169-9C7A-CFC200D031FB}"/>
              </a:ext>
            </a:extLst>
          </p:cNvPr>
          <p:cNvGrpSpPr/>
          <p:nvPr/>
        </p:nvGrpSpPr>
        <p:grpSpPr>
          <a:xfrm>
            <a:off x="7877175" y="5798512"/>
            <a:ext cx="4135284" cy="802372"/>
            <a:chOff x="8096250" y="5874712"/>
            <a:chExt cx="4135284" cy="802372"/>
          </a:xfrm>
        </p:grpSpPr>
        <p:sp>
          <p:nvSpPr>
            <p:cNvPr id="70" name="文本框 69">
              <a:extLst>
                <a:ext uri="{FF2B5EF4-FFF2-40B4-BE49-F238E27FC236}">
                  <a16:creationId xmlns:a16="http://schemas.microsoft.com/office/drawing/2014/main" id="{3FA4A3F3-1C40-47D6-CCD6-48D5C1763E9F}"/>
                </a:ext>
              </a:extLst>
            </p:cNvPr>
            <p:cNvSpPr txBox="1"/>
            <p:nvPr/>
          </p:nvSpPr>
          <p:spPr>
            <a:xfrm>
              <a:off x="9010649" y="6092309"/>
              <a:ext cx="3220885" cy="584775"/>
            </a:xfrm>
            <a:prstGeom prst="rect">
              <a:avLst/>
            </a:prstGeom>
            <a:noFill/>
          </p:spPr>
          <p:txBody>
            <a:bodyPr wrap="square">
              <a:spAutoFit/>
            </a:bodyPr>
            <a:lstStyle/>
            <a:p>
              <a:pPr marL="285750" indent="-285750">
                <a:buFont typeface="Arial" panose="020B0604020202020204" pitchFamily="34" charset="0"/>
                <a:buChar char="•"/>
              </a:pPr>
              <a:r>
                <a:rPr lang="zh-CN" altLang="en-US" sz="1600" dirty="0">
                  <a:latin typeface="楷体" panose="02010609060101010101" pitchFamily="49" charset="-122"/>
                  <a:ea typeface="楷体" panose="02010609060101010101" pitchFamily="49" charset="-122"/>
                </a:rPr>
                <a:t>怎么把 </a:t>
              </a:r>
              <a:r>
                <a:rPr lang="en-US" altLang="zh-CN" sz="1600" dirty="0">
                  <a:latin typeface="楷体" panose="02010609060101010101" pitchFamily="49" charset="-122"/>
                  <a:ea typeface="楷体" panose="02010609060101010101" pitchFamily="49" charset="-122"/>
                </a:rPr>
                <a:t>QPU </a:t>
              </a:r>
              <a:r>
                <a:rPr lang="zh-CN" altLang="en-US" sz="1600" dirty="0">
                  <a:latin typeface="楷体" panose="02010609060101010101" pitchFamily="49" charset="-122"/>
                  <a:ea typeface="楷体" panose="02010609060101010101" pitchFamily="49" charset="-122"/>
                </a:rPr>
                <a:t>作为一种计算资源，真正融入现有的计算体系</a:t>
              </a:r>
              <a:r>
                <a:rPr lang="en-US" altLang="zh-CN" sz="1600" dirty="0">
                  <a:latin typeface="楷体" panose="02010609060101010101" pitchFamily="49" charset="-122"/>
                  <a:ea typeface="楷体" panose="02010609060101010101" pitchFamily="49" charset="-122"/>
                </a:rPr>
                <a:t>?</a:t>
              </a:r>
              <a:endParaRPr lang="zh-CN" altLang="en-US" sz="1600" dirty="0">
                <a:latin typeface="楷体" panose="02010609060101010101" pitchFamily="49" charset="-122"/>
                <a:ea typeface="楷体" panose="02010609060101010101" pitchFamily="49" charset="-122"/>
              </a:endParaRPr>
            </a:p>
          </p:txBody>
        </p:sp>
        <p:pic>
          <p:nvPicPr>
            <p:cNvPr id="72" name="图片 71">
              <a:extLst>
                <a:ext uri="{FF2B5EF4-FFF2-40B4-BE49-F238E27FC236}">
                  <a16:creationId xmlns:a16="http://schemas.microsoft.com/office/drawing/2014/main" id="{064DC526-2C4D-4E6E-C1E3-4C01E0E3A0EE}"/>
                </a:ext>
              </a:extLst>
            </p:cNvPr>
            <p:cNvPicPr>
              <a:picLocks noChangeAspect="1"/>
            </p:cNvPicPr>
            <p:nvPr/>
          </p:nvPicPr>
          <p:blipFill>
            <a:blip r:embed="rId6"/>
            <a:srcRect l="62805" t="26337" r="22594" b="56329"/>
            <a:stretch>
              <a:fillRect/>
            </a:stretch>
          </p:blipFill>
          <p:spPr>
            <a:xfrm>
              <a:off x="8096250" y="5874712"/>
              <a:ext cx="1174107" cy="784464"/>
            </a:xfrm>
            <a:prstGeom prst="roundRect">
              <a:avLst/>
            </a:prstGeom>
          </p:spPr>
        </p:pic>
      </p:grpSp>
      <p:sp>
        <p:nvSpPr>
          <p:cNvPr id="5" name="文本框 4">
            <a:extLst>
              <a:ext uri="{FF2B5EF4-FFF2-40B4-BE49-F238E27FC236}">
                <a16:creationId xmlns:a16="http://schemas.microsoft.com/office/drawing/2014/main" id="{822A2DA5-4C85-F4CC-0D74-5DCFFE193CD9}"/>
              </a:ext>
            </a:extLst>
          </p:cNvPr>
          <p:cNvSpPr txBox="1"/>
          <p:nvPr/>
        </p:nvSpPr>
        <p:spPr>
          <a:xfrm>
            <a:off x="6000750" y="2475984"/>
            <a:ext cx="1504950" cy="646331"/>
          </a:xfrm>
          <a:prstGeom prst="rect">
            <a:avLst/>
          </a:prstGeom>
          <a:noFill/>
        </p:spPr>
        <p:txBody>
          <a:bodyPr wrap="square">
            <a:spAutoFit/>
          </a:bodyPr>
          <a:lstStyle/>
          <a:p>
            <a:pPr>
              <a:spcAft>
                <a:spcPts val="600"/>
              </a:spcAft>
            </a:pPr>
            <a:r>
              <a:rPr lang="zh-CN" altLang="en-US" sz="1800" dirty="0"/>
              <a:t>规模、质量快速增长</a:t>
            </a:r>
            <a:endParaRPr lang="en-US" altLang="zh-CN" sz="1800" dirty="0"/>
          </a:p>
        </p:txBody>
      </p:sp>
      <p:sp>
        <p:nvSpPr>
          <p:cNvPr id="8" name="文本框 7">
            <a:extLst>
              <a:ext uri="{FF2B5EF4-FFF2-40B4-BE49-F238E27FC236}">
                <a16:creationId xmlns:a16="http://schemas.microsoft.com/office/drawing/2014/main" id="{34FB6C30-673A-052B-1D76-221041171E9B}"/>
              </a:ext>
            </a:extLst>
          </p:cNvPr>
          <p:cNvSpPr txBox="1"/>
          <p:nvPr/>
        </p:nvSpPr>
        <p:spPr>
          <a:xfrm>
            <a:off x="266700" y="2287288"/>
            <a:ext cx="6146800" cy="416524"/>
          </a:xfrm>
          <a:prstGeom prst="rect">
            <a:avLst/>
          </a:prstGeom>
          <a:noFill/>
        </p:spPr>
        <p:txBody>
          <a:bodyPr wrap="square">
            <a:spAutoFit/>
          </a:bodyPr>
          <a:lstStyle/>
          <a:p>
            <a:pPr marL="355600" lvl="0" indent="-355600">
              <a:lnSpc>
                <a:spcPct val="114000"/>
              </a:lnSpc>
              <a:spcBef>
                <a:spcPts val="1000"/>
              </a:spcBef>
              <a:buClr>
                <a:srgbClr val="4472C4"/>
              </a:buClr>
              <a:buSzPct val="90000"/>
              <a:buFont typeface="Wingdings" panose="05000000000000000000" pitchFamily="2" charset="2"/>
              <a:buChar char="q"/>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计算领域视角</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061008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wipe(left)">
                                      <p:cBhvr>
                                        <p:cTn id="22" dur="500"/>
                                        <p:tgtEl>
                                          <p:spTgt spid="67"/>
                                        </p:tgtEl>
                                      </p:cBhvr>
                                    </p:animEffect>
                                  </p:childTnLst>
                                </p:cTn>
                              </p:par>
                            </p:childTnLst>
                          </p:cTn>
                        </p:par>
                        <p:par>
                          <p:cTn id="23" fill="hold">
                            <p:stCondLst>
                              <p:cond delay="500"/>
                            </p:stCondLst>
                            <p:childTnLst>
                              <p:par>
                                <p:cTn id="24" presetID="42" presetClass="entr" presetSubtype="0"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anim calcmode="lin" valueType="num">
                                      <p:cBhvr>
                                        <p:cTn id="27" dur="500" fill="hold"/>
                                        <p:tgtEl>
                                          <p:spTgt spid="34"/>
                                        </p:tgtEl>
                                        <p:attrNameLst>
                                          <p:attrName>ppt_x</p:attrName>
                                        </p:attrNameLst>
                                      </p:cBhvr>
                                      <p:tavLst>
                                        <p:tav tm="0">
                                          <p:val>
                                            <p:strVal val="#ppt_x"/>
                                          </p:val>
                                        </p:tav>
                                        <p:tav tm="100000">
                                          <p:val>
                                            <p:strVal val="#ppt_x"/>
                                          </p:val>
                                        </p:tav>
                                      </p:tavLst>
                                    </p:anim>
                                    <p:anim calcmode="lin" valueType="num">
                                      <p:cBhvr>
                                        <p:cTn id="28" dur="5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8"/>
                                        </p:tgtEl>
                                        <p:attrNameLst>
                                          <p:attrName>style.visibility</p:attrName>
                                        </p:attrNameLst>
                                      </p:cBhvr>
                                      <p:to>
                                        <p:strVal val="visible"/>
                                      </p:to>
                                    </p:set>
                                    <p:animEffect transition="in" filter="fade">
                                      <p:cBhvr>
                                        <p:cTn id="33" dur="500"/>
                                        <p:tgtEl>
                                          <p:spTgt spid="6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wipe(left)">
                                      <p:cBhvr>
                                        <p:cTn id="43" dur="500"/>
                                        <p:tgtEl>
                                          <p:spTgt spid="58"/>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fade">
                                      <p:cBhvr>
                                        <p:cTn id="47" dur="500"/>
                                        <p:tgtEl>
                                          <p:spTgt spid="59"/>
                                        </p:tgtEl>
                                      </p:cBhvr>
                                    </p:animEffect>
                                  </p:childTnLst>
                                </p:cTn>
                              </p:par>
                              <p:par>
                                <p:cTn id="48" presetID="22" presetClass="entr" presetSubtype="1" fill="hold" nodeType="withEffect">
                                  <p:stCondLst>
                                    <p:cond delay="0"/>
                                  </p:stCondLst>
                                  <p:childTnLst>
                                    <p:set>
                                      <p:cBhvr>
                                        <p:cTn id="49" dur="1" fill="hold">
                                          <p:stCondLst>
                                            <p:cond delay="0"/>
                                          </p:stCondLst>
                                        </p:cTn>
                                        <p:tgtEl>
                                          <p:spTgt spid="60"/>
                                        </p:tgtEl>
                                        <p:attrNameLst>
                                          <p:attrName>style.visibility</p:attrName>
                                        </p:attrNameLst>
                                      </p:cBhvr>
                                      <p:to>
                                        <p:strVal val="visible"/>
                                      </p:to>
                                    </p:set>
                                    <p:animEffect transition="in" filter="wipe(up)">
                                      <p:cBhvr>
                                        <p:cTn id="50" dur="500"/>
                                        <p:tgtEl>
                                          <p:spTgt spid="6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7"/>
                                        </p:tgtEl>
                                        <p:attrNameLst>
                                          <p:attrName>style.visibility</p:attrName>
                                        </p:attrNameLst>
                                      </p:cBhvr>
                                      <p:to>
                                        <p:strVal val="visible"/>
                                      </p:to>
                                    </p:set>
                                    <p:animEffect transition="in" filter="fade">
                                      <p:cBhvr>
                                        <p:cTn id="55" dur="500"/>
                                        <p:tgtEl>
                                          <p:spTgt spid="5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73"/>
                                        </p:tgtEl>
                                        <p:attrNameLst>
                                          <p:attrName>style.visibility</p:attrName>
                                        </p:attrNameLst>
                                      </p:cBhvr>
                                      <p:to>
                                        <p:strVal val="visible"/>
                                      </p:to>
                                    </p:set>
                                    <p:animEffect transition="in" filter="wipe(left)">
                                      <p:cBhvr>
                                        <p:cTn id="60"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DE52-C738-EA82-758F-29A022E3D973}"/>
            </a:ext>
          </a:extLst>
        </p:cNvPr>
        <p:cNvGrpSpPr/>
        <p:nvPr/>
      </p:nvGrpSpPr>
      <p:grpSpPr>
        <a:xfrm>
          <a:off x="0" y="0"/>
          <a:ext cx="0" cy="0"/>
          <a:chOff x="0" y="0"/>
          <a:chExt cx="0" cy="0"/>
        </a:xfrm>
      </p:grpSpPr>
      <p:sp>
        <p:nvSpPr>
          <p:cNvPr id="29" name="矩形: 圆角 28">
            <a:extLst>
              <a:ext uri="{FF2B5EF4-FFF2-40B4-BE49-F238E27FC236}">
                <a16:creationId xmlns:a16="http://schemas.microsoft.com/office/drawing/2014/main" id="{BC105C32-B12B-7AC9-551B-8CF530B36A0B}"/>
              </a:ext>
            </a:extLst>
          </p:cNvPr>
          <p:cNvSpPr/>
          <p:nvPr/>
        </p:nvSpPr>
        <p:spPr>
          <a:xfrm>
            <a:off x="790576" y="2314575"/>
            <a:ext cx="2228850" cy="3762375"/>
          </a:xfrm>
          <a:prstGeom prst="roundRect">
            <a:avLst>
              <a:gd name="adj" fmla="val 6769"/>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DB1BDEC0-5B66-9F52-B769-45FB5C793609}"/>
              </a:ext>
            </a:extLst>
          </p:cNvPr>
          <p:cNvSpPr>
            <a:spLocks noGrp="1"/>
          </p:cNvSpPr>
          <p:nvPr>
            <p:ph type="title"/>
          </p:nvPr>
        </p:nvSpPr>
        <p:spPr/>
        <p:txBody>
          <a:bodyPr>
            <a:normAutofit/>
          </a:bodyPr>
          <a:lstStyle/>
          <a:p>
            <a:r>
              <a:rPr lang="zh-CN" altLang="zh-CN"/>
              <a:t>量子算法：从问题结构到量子线路</a:t>
            </a:r>
            <a:endParaRPr lang="zh-CN" altLang="en-US" dirty="0"/>
          </a:p>
        </p:txBody>
      </p:sp>
      <p:sp>
        <p:nvSpPr>
          <p:cNvPr id="5" name="文本框 4">
            <a:extLst>
              <a:ext uri="{FF2B5EF4-FFF2-40B4-BE49-F238E27FC236}">
                <a16:creationId xmlns:a16="http://schemas.microsoft.com/office/drawing/2014/main" id="{F58A5BDE-013D-FDD3-4C98-14E0DC695F22}"/>
              </a:ext>
            </a:extLst>
          </p:cNvPr>
          <p:cNvSpPr txBox="1"/>
          <p:nvPr/>
        </p:nvSpPr>
        <p:spPr>
          <a:xfrm>
            <a:off x="225103" y="1034974"/>
            <a:ext cx="11227757" cy="725245"/>
          </a:xfrm>
          <a:prstGeom prst="rect">
            <a:avLst/>
          </a:prstGeom>
          <a:gradFill flip="none" rotWithShape="1">
            <a:gsLst>
              <a:gs pos="0">
                <a:schemeClr val="accent1">
                  <a:lumMod val="5000"/>
                  <a:lumOff val="95000"/>
                  <a:alpha val="2000"/>
                </a:schemeClr>
              </a:gs>
              <a:gs pos="44000">
                <a:srgbClr val="EAF2FA"/>
              </a:gs>
              <a:gs pos="100000">
                <a:schemeClr val="accent5">
                  <a:lumMod val="20000"/>
                  <a:lumOff val="80000"/>
                </a:schemeClr>
              </a:gs>
            </a:gsLst>
            <a:lin ang="16200000" scaled="1"/>
            <a:tileRect/>
          </a:gradFill>
        </p:spPr>
        <p:txBody>
          <a:bodyPr wrap="square" rtlCol="0">
            <a:noAutofit/>
          </a:bodyPr>
          <a:lstStyle>
            <a:defPPr>
              <a:defRPr lang="zh-CN"/>
            </a:defPPr>
            <a:lvl1pPr marL="355600" lvl="0" indent="-355600">
              <a:lnSpc>
                <a:spcPct val="114000"/>
              </a:lnSpc>
              <a:spcBef>
                <a:spcPts val="1000"/>
              </a:spcBef>
              <a:buClr>
                <a:srgbClr val="4472C4"/>
              </a:buClr>
              <a:buSzPct val="90000"/>
              <a:buFont typeface="Wingdings" panose="05000000000000000000" pitchFamily="2" charset="2"/>
              <a:buChar char="q"/>
              <a:defRPr sz="20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量子计算、量子算法是怎么解决问题的，所谓的量子计算的优势来源于什么？</a:t>
            </a:r>
            <a:endParaRPr lang="en-US" altLang="zh-CN" dirty="0"/>
          </a:p>
        </p:txBody>
      </p:sp>
      <p:pic>
        <p:nvPicPr>
          <p:cNvPr id="8" name="Picture 2">
            <a:extLst>
              <a:ext uri="{FF2B5EF4-FFF2-40B4-BE49-F238E27FC236}">
                <a16:creationId xmlns:a16="http://schemas.microsoft.com/office/drawing/2014/main" id="{FD2D7E2D-8695-6681-1BAE-A0883A3CDD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428" b="19739"/>
          <a:stretch/>
        </p:blipFill>
        <p:spPr bwMode="auto">
          <a:xfrm>
            <a:off x="1506461" y="4829355"/>
            <a:ext cx="898680" cy="65301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组合 8">
            <a:extLst>
              <a:ext uri="{FF2B5EF4-FFF2-40B4-BE49-F238E27FC236}">
                <a16:creationId xmlns:a16="http://schemas.microsoft.com/office/drawing/2014/main" id="{898092A9-EB80-57BF-D748-3F159DD83428}"/>
              </a:ext>
            </a:extLst>
          </p:cNvPr>
          <p:cNvGrpSpPr/>
          <p:nvPr/>
        </p:nvGrpSpPr>
        <p:grpSpPr>
          <a:xfrm>
            <a:off x="1421055" y="3705230"/>
            <a:ext cx="980995" cy="338554"/>
            <a:chOff x="3545134" y="4372030"/>
            <a:chExt cx="980995" cy="338554"/>
          </a:xfrm>
        </p:grpSpPr>
        <p:sp>
          <p:nvSpPr>
            <p:cNvPr id="10" name="椭圆 9">
              <a:extLst>
                <a:ext uri="{FF2B5EF4-FFF2-40B4-BE49-F238E27FC236}">
                  <a16:creationId xmlns:a16="http://schemas.microsoft.com/office/drawing/2014/main" id="{34013B44-6A73-6610-927A-F2A9C9306199}"/>
                </a:ext>
              </a:extLst>
            </p:cNvPr>
            <p:cNvSpPr/>
            <p:nvPr/>
          </p:nvSpPr>
          <p:spPr>
            <a:xfrm>
              <a:off x="3545134" y="4460345"/>
              <a:ext cx="161925" cy="161925"/>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9962FAB6-AF06-99C2-7BBA-7DD317E2B3A4}"/>
                </a:ext>
              </a:extLst>
            </p:cNvPr>
            <p:cNvSpPr txBox="1"/>
            <p:nvPr/>
          </p:nvSpPr>
          <p:spPr>
            <a:xfrm>
              <a:off x="3707059" y="4372030"/>
              <a:ext cx="219075"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12" name="椭圆 11">
              <a:extLst>
                <a:ext uri="{FF2B5EF4-FFF2-40B4-BE49-F238E27FC236}">
                  <a16:creationId xmlns:a16="http://schemas.microsoft.com/office/drawing/2014/main" id="{2E7146E1-FC6B-2431-9A1C-799419CD4AA1}"/>
                </a:ext>
              </a:extLst>
            </p:cNvPr>
            <p:cNvSpPr/>
            <p:nvPr/>
          </p:nvSpPr>
          <p:spPr>
            <a:xfrm>
              <a:off x="4145129" y="4460345"/>
              <a:ext cx="161925" cy="161925"/>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C0B99B08-23A7-D811-51E0-710F56B242EC}"/>
                </a:ext>
              </a:extLst>
            </p:cNvPr>
            <p:cNvSpPr txBox="1"/>
            <p:nvPr/>
          </p:nvSpPr>
          <p:spPr>
            <a:xfrm>
              <a:off x="4307054" y="4372030"/>
              <a:ext cx="219075"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grpSp>
      <p:sp>
        <p:nvSpPr>
          <p:cNvPr id="15" name="文本框 14">
            <a:extLst>
              <a:ext uri="{FF2B5EF4-FFF2-40B4-BE49-F238E27FC236}">
                <a16:creationId xmlns:a16="http://schemas.microsoft.com/office/drawing/2014/main" id="{8B853F56-34B3-E475-0D9D-C3C6494310B8}"/>
              </a:ext>
            </a:extLst>
          </p:cNvPr>
          <p:cNvSpPr txBox="1"/>
          <p:nvPr/>
        </p:nvSpPr>
        <p:spPr>
          <a:xfrm>
            <a:off x="989346" y="1816865"/>
            <a:ext cx="1831311" cy="400110"/>
          </a:xfrm>
          <a:prstGeom prst="rect">
            <a:avLst/>
          </a:prstGeom>
          <a:gradFill flip="none" rotWithShape="1">
            <a:gsLst>
              <a:gs pos="0">
                <a:schemeClr val="accent1">
                  <a:lumMod val="5000"/>
                  <a:lumOff val="95000"/>
                  <a:alpha val="2000"/>
                </a:schemeClr>
              </a:gs>
              <a:gs pos="100000">
                <a:schemeClr val="accent5">
                  <a:lumMod val="20000"/>
                  <a:lumOff val="80000"/>
                </a:schemeClr>
              </a:gs>
            </a:gsLst>
            <a:lin ang="10800000" scaled="1"/>
            <a:tileRect/>
          </a:gradFill>
          <a:effectLst>
            <a:softEdge rad="127000"/>
          </a:effectLst>
        </p:spPr>
        <p:txBody>
          <a:bodyPr wrap="square" rtlCol="0">
            <a:spAutoFit/>
          </a:bodyPr>
          <a:lstStyle>
            <a:defPPr>
              <a:defRPr lang="zh-CN"/>
            </a:defPPr>
            <a:lvl1pPr>
              <a:defRPr b="1">
                <a:latin typeface="微软雅黑" panose="020B0503020204020204" pitchFamily="34" charset="-122"/>
                <a:ea typeface="微软雅黑" panose="020B0503020204020204" pitchFamily="34" charset="-122"/>
              </a:defRPr>
            </a:lvl1pPr>
          </a:lstStyle>
          <a:p>
            <a:pPr algn="ctr"/>
            <a:r>
              <a:rPr lang="zh-CN" altLang="en-US" sz="2000" dirty="0"/>
              <a:t>① 信息表示</a:t>
            </a:r>
            <a:endParaRPr lang="zh-CN" altLang="en-US" b="0" dirty="0"/>
          </a:p>
        </p:txBody>
      </p:sp>
      <p:sp>
        <p:nvSpPr>
          <p:cNvPr id="17" name="文本框 16">
            <a:extLst>
              <a:ext uri="{FF2B5EF4-FFF2-40B4-BE49-F238E27FC236}">
                <a16:creationId xmlns:a16="http://schemas.microsoft.com/office/drawing/2014/main" id="{8A24DE0C-F6D6-52BE-583E-BB29F875F2CF}"/>
              </a:ext>
            </a:extLst>
          </p:cNvPr>
          <p:cNvSpPr txBox="1"/>
          <p:nvPr/>
        </p:nvSpPr>
        <p:spPr>
          <a:xfrm>
            <a:off x="3750340" y="1807340"/>
            <a:ext cx="1736060" cy="400110"/>
          </a:xfrm>
          <a:prstGeom prst="rect">
            <a:avLst/>
          </a:prstGeom>
          <a:gradFill flip="none" rotWithShape="1">
            <a:gsLst>
              <a:gs pos="0">
                <a:schemeClr val="accent1">
                  <a:lumMod val="5000"/>
                  <a:lumOff val="95000"/>
                  <a:alpha val="2000"/>
                </a:schemeClr>
              </a:gs>
              <a:gs pos="100000">
                <a:schemeClr val="accent5">
                  <a:lumMod val="20000"/>
                  <a:lumOff val="80000"/>
                </a:schemeClr>
              </a:gs>
            </a:gsLst>
            <a:lin ang="10800000" scaled="1"/>
            <a:tileRect/>
          </a:gradFill>
          <a:effectLst>
            <a:softEdge rad="127000"/>
          </a:effectLst>
        </p:spPr>
        <p:txBody>
          <a:bodyPr wrap="square" rtlCol="0">
            <a:spAutoFit/>
          </a:bodyPr>
          <a:lstStyle>
            <a:defPPr>
              <a:defRPr lang="zh-CN"/>
            </a:defPPr>
            <a:lvl1pPr>
              <a:defRPr b="1">
                <a:latin typeface="微软雅黑" panose="020B0503020204020204" pitchFamily="34" charset="-122"/>
                <a:ea typeface="微软雅黑" panose="020B0503020204020204" pitchFamily="34" charset="-122"/>
              </a:defRPr>
            </a:lvl1pPr>
          </a:lstStyle>
          <a:p>
            <a:r>
              <a:rPr lang="zh-CN" altLang="en-US" sz="2000" dirty="0"/>
              <a:t>② 状态空间</a:t>
            </a:r>
            <a:endParaRPr lang="zh-CN" altLang="en-US" b="0" dirty="0"/>
          </a:p>
        </p:txBody>
      </p:sp>
      <p:sp>
        <p:nvSpPr>
          <p:cNvPr id="19" name="文本框 18">
            <a:extLst>
              <a:ext uri="{FF2B5EF4-FFF2-40B4-BE49-F238E27FC236}">
                <a16:creationId xmlns:a16="http://schemas.microsoft.com/office/drawing/2014/main" id="{D8C63E3C-53EB-A061-1203-A5A1BBA8C143}"/>
              </a:ext>
            </a:extLst>
          </p:cNvPr>
          <p:cNvSpPr txBox="1"/>
          <p:nvPr/>
        </p:nvSpPr>
        <p:spPr>
          <a:xfrm>
            <a:off x="6750714" y="1793053"/>
            <a:ext cx="3021935" cy="400110"/>
          </a:xfrm>
          <a:prstGeom prst="rect">
            <a:avLst/>
          </a:prstGeom>
          <a:gradFill flip="none" rotWithShape="1">
            <a:gsLst>
              <a:gs pos="0">
                <a:schemeClr val="accent1">
                  <a:lumMod val="5000"/>
                  <a:lumOff val="95000"/>
                  <a:alpha val="2000"/>
                </a:schemeClr>
              </a:gs>
              <a:gs pos="100000">
                <a:schemeClr val="accent5">
                  <a:lumMod val="20000"/>
                  <a:lumOff val="80000"/>
                </a:schemeClr>
              </a:gs>
            </a:gsLst>
            <a:lin ang="10800000" scaled="1"/>
            <a:tileRect/>
          </a:gradFill>
          <a:effectLst>
            <a:softEdge rad="127000"/>
          </a:effectLst>
        </p:spPr>
        <p:txBody>
          <a:bodyPr wrap="square" rtlCol="0">
            <a:spAutoFit/>
          </a:bodyPr>
          <a:lstStyle>
            <a:defPPr>
              <a:defRPr lang="zh-CN"/>
            </a:defPPr>
            <a:lvl1pPr>
              <a:defRPr b="1">
                <a:latin typeface="微软雅黑" panose="020B0503020204020204" pitchFamily="34" charset="-122"/>
                <a:ea typeface="微软雅黑" panose="020B0503020204020204" pitchFamily="34" charset="-122"/>
              </a:defRPr>
            </a:lvl1pPr>
          </a:lstStyle>
          <a:p>
            <a:r>
              <a:rPr lang="zh-CN" altLang="en-US" sz="2000" dirty="0"/>
              <a:t>③ 演化及测量</a:t>
            </a:r>
            <a:endParaRPr lang="zh-CN" altLang="en-US" dirty="0"/>
          </a:p>
        </p:txBody>
      </p:sp>
      <p:sp>
        <p:nvSpPr>
          <p:cNvPr id="25" name="文本框 24">
            <a:extLst>
              <a:ext uri="{FF2B5EF4-FFF2-40B4-BE49-F238E27FC236}">
                <a16:creationId xmlns:a16="http://schemas.microsoft.com/office/drawing/2014/main" id="{F8C4C328-59A0-E365-F6A2-4886F1666481}"/>
              </a:ext>
            </a:extLst>
          </p:cNvPr>
          <p:cNvSpPr txBox="1"/>
          <p:nvPr/>
        </p:nvSpPr>
        <p:spPr>
          <a:xfrm>
            <a:off x="1255518" y="3322941"/>
            <a:ext cx="1312069" cy="369332"/>
          </a:xfrm>
          <a:prstGeom prst="rect">
            <a:avLst/>
          </a:prstGeom>
          <a:noFill/>
        </p:spPr>
        <p:txBody>
          <a:bodyPr wrap="square">
            <a:spAutoFit/>
          </a:bodyPr>
          <a:lstStyle/>
          <a:p>
            <a:pPr algn="ctr"/>
            <a:r>
              <a:rPr lang="zh-CN" altLang="en-US" dirty="0"/>
              <a:t>经典比特</a:t>
            </a:r>
          </a:p>
        </p:txBody>
      </p:sp>
      <p:sp>
        <p:nvSpPr>
          <p:cNvPr id="27" name="文本框 26">
            <a:extLst>
              <a:ext uri="{FF2B5EF4-FFF2-40B4-BE49-F238E27FC236}">
                <a16:creationId xmlns:a16="http://schemas.microsoft.com/office/drawing/2014/main" id="{8370F4BF-A51E-F5AF-FBCC-034AB93AE3D5}"/>
              </a:ext>
            </a:extLst>
          </p:cNvPr>
          <p:cNvSpPr txBox="1"/>
          <p:nvPr/>
        </p:nvSpPr>
        <p:spPr>
          <a:xfrm>
            <a:off x="1299767" y="4384159"/>
            <a:ext cx="1312069" cy="369332"/>
          </a:xfrm>
          <a:prstGeom prst="rect">
            <a:avLst/>
          </a:prstGeom>
          <a:noFill/>
        </p:spPr>
        <p:txBody>
          <a:bodyPr wrap="square">
            <a:spAutoFit/>
          </a:bodyPr>
          <a:lstStyle/>
          <a:p>
            <a:pPr algn="ctr"/>
            <a:r>
              <a:rPr lang="zh-CN" altLang="en-US" dirty="0"/>
              <a:t>量子比特</a:t>
            </a: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C21BD040-0DE1-BEB8-2C5B-DE2D93EDA517}"/>
                  </a:ext>
                </a:extLst>
              </p:cNvPr>
              <p:cNvSpPr txBox="1"/>
              <p:nvPr/>
            </p:nvSpPr>
            <p:spPr>
              <a:xfrm>
                <a:off x="1167316" y="5426075"/>
                <a:ext cx="1576970" cy="307777"/>
              </a:xfrm>
              <a:prstGeom prst="rect">
                <a:avLst/>
              </a:prstGeom>
              <a:noFill/>
            </p:spPr>
            <p:txBody>
              <a:bodyPr wrap="none" rtlCol="0">
                <a:spAutoFit/>
              </a:bodyPr>
              <a:lstStyle/>
              <a:p>
                <a:pPr algn="ctr"/>
                <a14:m>
                  <m:oMathPara xmlns:m="http://schemas.openxmlformats.org/officeDocument/2006/math">
                    <m:oMathParaPr>
                      <m:jc m:val="center"/>
                    </m:oMathParaPr>
                    <m:oMath>
                      <m:d>
                        <m:dPr>
                          <m:begChr m:val="|"/>
                          <m:endChr m:val="⟩"/>
                          <m:ctrlPr>
                            <a:rPr lang="en-US" altLang="zh-CN" sz="1400">
                              <a:solidFill>
                                <a:schemeClr val="tx1"/>
                              </a:solidFill>
                              <a:latin typeface="Cambria Math" panose="02040503050406030204" pitchFamily="18" charset="0"/>
                            </a:rPr>
                          </m:ctrlPr>
                        </m:dPr>
                        <m:e>
                          <m:r>
                            <a:rPr lang="en-US" altLang="zh-CN" sz="1400">
                              <a:solidFill>
                                <a:schemeClr val="tx1"/>
                              </a:solidFill>
                              <a:latin typeface="Cambria Math" panose="02040503050406030204" pitchFamily="18" charset="0"/>
                            </a:rPr>
                            <m:t>𝑞</m:t>
                          </m:r>
                        </m:e>
                      </m:d>
                      <m:r>
                        <a:rPr lang="en-US" altLang="zh-CN" sz="1400">
                          <a:solidFill>
                            <a:schemeClr val="tx1"/>
                          </a:solidFill>
                          <a:latin typeface="Cambria Math" panose="02040503050406030204" pitchFamily="18" charset="0"/>
                        </a:rPr>
                        <m:t>=</m:t>
                      </m:r>
                      <m:r>
                        <a:rPr lang="zh-CN" altLang="en-US" sz="1400">
                          <a:solidFill>
                            <a:schemeClr val="tx1"/>
                          </a:solidFill>
                          <a:latin typeface="Cambria Math" panose="02040503050406030204" pitchFamily="18" charset="0"/>
                        </a:rPr>
                        <m:t>𝛼</m:t>
                      </m:r>
                      <m:d>
                        <m:dPr>
                          <m:begChr m:val="|"/>
                          <m:endChr m:val="⟩"/>
                          <m:ctrlPr>
                            <a:rPr lang="en-US" altLang="zh-CN" sz="1400">
                              <a:solidFill>
                                <a:schemeClr val="tx1"/>
                              </a:solidFill>
                              <a:latin typeface="Cambria Math" panose="02040503050406030204" pitchFamily="18" charset="0"/>
                            </a:rPr>
                          </m:ctrlPr>
                        </m:dPr>
                        <m:e>
                          <m:r>
                            <a:rPr lang="en-US" altLang="zh-CN" sz="1400">
                              <a:solidFill>
                                <a:schemeClr val="tx1"/>
                              </a:solidFill>
                              <a:latin typeface="Cambria Math" panose="02040503050406030204" pitchFamily="18" charset="0"/>
                            </a:rPr>
                            <m:t>0</m:t>
                          </m:r>
                        </m:e>
                      </m:d>
                      <m:r>
                        <a:rPr lang="en-US" altLang="zh-CN" sz="1400">
                          <a:solidFill>
                            <a:schemeClr val="tx1"/>
                          </a:solidFill>
                          <a:latin typeface="Cambria Math" panose="02040503050406030204" pitchFamily="18" charset="0"/>
                        </a:rPr>
                        <m:t>+</m:t>
                      </m:r>
                      <m:r>
                        <a:rPr lang="zh-CN" altLang="en-US" sz="1400">
                          <a:solidFill>
                            <a:schemeClr val="tx1"/>
                          </a:solidFill>
                          <a:latin typeface="Cambria Math" panose="02040503050406030204" pitchFamily="18" charset="0"/>
                        </a:rPr>
                        <m:t>𝛽</m:t>
                      </m:r>
                      <m:r>
                        <a:rPr lang="en-US" altLang="zh-CN" sz="1400">
                          <a:solidFill>
                            <a:schemeClr val="tx1"/>
                          </a:solidFill>
                          <a:latin typeface="Cambria Math" panose="02040503050406030204" pitchFamily="18" charset="0"/>
                        </a:rPr>
                        <m:t>|1⟩</m:t>
                      </m:r>
                    </m:oMath>
                  </m:oMathPara>
                </a14:m>
                <a:endParaRPr lang="zh-CN" altLang="en-US"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8" name="文本框 27">
                <a:extLst>
                  <a:ext uri="{FF2B5EF4-FFF2-40B4-BE49-F238E27FC236}">
                    <a16:creationId xmlns:a16="http://schemas.microsoft.com/office/drawing/2014/main" id="{C21BD040-0DE1-BEB8-2C5B-DE2D93EDA517}"/>
                  </a:ext>
                </a:extLst>
              </p:cNvPr>
              <p:cNvSpPr txBox="1">
                <a:spLocks noRot="1" noChangeAspect="1" noMove="1" noResize="1" noEditPoints="1" noAdjustHandles="1" noChangeArrowheads="1" noChangeShapeType="1" noTextEdit="1"/>
              </p:cNvSpPr>
              <p:nvPr/>
            </p:nvSpPr>
            <p:spPr>
              <a:xfrm>
                <a:off x="1167316" y="5426075"/>
                <a:ext cx="1576970" cy="307777"/>
              </a:xfrm>
              <a:prstGeom prst="rect">
                <a:avLst/>
              </a:prstGeom>
              <a:blipFill>
                <a:blip r:embed="rId4"/>
                <a:stretch>
                  <a:fillRect b="-7843"/>
                </a:stretch>
              </a:blipFill>
            </p:spPr>
            <p:txBody>
              <a:bodyPr/>
              <a:lstStyle/>
              <a:p>
                <a:r>
                  <a:rPr lang="zh-CN" altLang="en-US">
                    <a:noFill/>
                  </a:rPr>
                  <a:t> </a:t>
                </a:r>
              </a:p>
            </p:txBody>
          </p:sp>
        </mc:Fallback>
      </mc:AlternateContent>
      <p:sp>
        <p:nvSpPr>
          <p:cNvPr id="30" name="等腰三角形 29">
            <a:extLst>
              <a:ext uri="{FF2B5EF4-FFF2-40B4-BE49-F238E27FC236}">
                <a16:creationId xmlns:a16="http://schemas.microsoft.com/office/drawing/2014/main" id="{37E68DC0-6A50-9B84-2A13-38EC127E7475}"/>
              </a:ext>
            </a:extLst>
          </p:cNvPr>
          <p:cNvSpPr/>
          <p:nvPr/>
        </p:nvSpPr>
        <p:spPr>
          <a:xfrm rot="10416548">
            <a:off x="3806805" y="3561035"/>
            <a:ext cx="2030378" cy="2016580"/>
          </a:xfrm>
          <a:prstGeom prst="triangle">
            <a:avLst>
              <a:gd name="adj" fmla="val 68251"/>
            </a:avLst>
          </a:prstGeom>
          <a:gradFill flip="none" rotWithShape="1">
            <a:gsLst>
              <a:gs pos="100000">
                <a:schemeClr val="accent2">
                  <a:lumMod val="75000"/>
                </a:schemeClr>
              </a:gs>
              <a:gs pos="0">
                <a:schemeClr val="bg1"/>
              </a:gs>
            </a:gsLst>
            <a:lin ang="16200000" scaled="1"/>
            <a:tileRect/>
          </a:gradFill>
          <a:ln>
            <a:noFill/>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graphicFrame>
        <p:nvGraphicFramePr>
          <p:cNvPr id="40" name="表格 39">
            <a:extLst>
              <a:ext uri="{FF2B5EF4-FFF2-40B4-BE49-F238E27FC236}">
                <a16:creationId xmlns:a16="http://schemas.microsoft.com/office/drawing/2014/main" id="{EF2D9470-5076-E4FC-3A89-BC95C6B6AC05}"/>
              </a:ext>
            </a:extLst>
          </p:cNvPr>
          <p:cNvGraphicFramePr>
            <a:graphicFrameLocks noGrp="1"/>
          </p:cNvGraphicFramePr>
          <p:nvPr>
            <p:extLst>
              <p:ext uri="{D42A27DB-BD31-4B8C-83A1-F6EECF244321}">
                <p14:modId xmlns:p14="http://schemas.microsoft.com/office/powerpoint/2010/main" val="150060429"/>
              </p:ext>
            </p:extLst>
          </p:nvPr>
        </p:nvGraphicFramePr>
        <p:xfrm>
          <a:off x="4044481" y="3004184"/>
          <a:ext cx="1245072" cy="1165063"/>
        </p:xfrm>
        <a:graphic>
          <a:graphicData uri="http://schemas.openxmlformats.org/drawingml/2006/table">
            <a:tbl>
              <a:tblPr firstRow="1" bandRow="1">
                <a:tableStyleId>{5940675A-B579-460E-94D1-54222C63F5DA}</a:tableStyleId>
              </a:tblPr>
              <a:tblGrid>
                <a:gridCol w="207512">
                  <a:extLst>
                    <a:ext uri="{9D8B030D-6E8A-4147-A177-3AD203B41FA5}">
                      <a16:colId xmlns:a16="http://schemas.microsoft.com/office/drawing/2014/main" val="1646320470"/>
                    </a:ext>
                  </a:extLst>
                </a:gridCol>
                <a:gridCol w="207512">
                  <a:extLst>
                    <a:ext uri="{9D8B030D-6E8A-4147-A177-3AD203B41FA5}">
                      <a16:colId xmlns:a16="http://schemas.microsoft.com/office/drawing/2014/main" val="2925218141"/>
                    </a:ext>
                  </a:extLst>
                </a:gridCol>
                <a:gridCol w="207512">
                  <a:extLst>
                    <a:ext uri="{9D8B030D-6E8A-4147-A177-3AD203B41FA5}">
                      <a16:colId xmlns:a16="http://schemas.microsoft.com/office/drawing/2014/main" val="2771766397"/>
                    </a:ext>
                  </a:extLst>
                </a:gridCol>
                <a:gridCol w="207512">
                  <a:extLst>
                    <a:ext uri="{9D8B030D-6E8A-4147-A177-3AD203B41FA5}">
                      <a16:colId xmlns:a16="http://schemas.microsoft.com/office/drawing/2014/main" val="4052407443"/>
                    </a:ext>
                  </a:extLst>
                </a:gridCol>
                <a:gridCol w="207512">
                  <a:extLst>
                    <a:ext uri="{9D8B030D-6E8A-4147-A177-3AD203B41FA5}">
                      <a16:colId xmlns:a16="http://schemas.microsoft.com/office/drawing/2014/main" val="849907615"/>
                    </a:ext>
                  </a:extLst>
                </a:gridCol>
                <a:gridCol w="207512">
                  <a:extLst>
                    <a:ext uri="{9D8B030D-6E8A-4147-A177-3AD203B41FA5}">
                      <a16:colId xmlns:a16="http://schemas.microsoft.com/office/drawing/2014/main" val="181815500"/>
                    </a:ext>
                  </a:extLst>
                </a:gridCol>
              </a:tblGrid>
              <a:tr h="191222">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032220716"/>
                  </a:ext>
                </a:extLst>
              </a:tr>
              <a:tr h="191222">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557170267"/>
                  </a:ext>
                </a:extLst>
              </a:tr>
              <a:tr h="208953">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06285279"/>
                  </a:ext>
                </a:extLst>
              </a:tr>
              <a:tr h="191222">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1012894871"/>
                  </a:ext>
                </a:extLst>
              </a:tr>
              <a:tr h="191222">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9226012"/>
                  </a:ext>
                </a:extLst>
              </a:tr>
              <a:tr h="191222">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tc>
                  <a:txBody>
                    <a:bodyPr/>
                    <a:lstStyle/>
                    <a:p>
                      <a:endParaRPr lang="zh-CN" altLang="en-US" sz="10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zh-CN" altLang="en-US" sz="100" dirty="0"/>
                    </a:p>
                  </a:txBody>
                  <a:tcPr marL="88878" marR="88878" marT="44439" marB="44439">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3851830743"/>
                  </a:ext>
                </a:extLst>
              </a:tr>
            </a:tbl>
          </a:graphicData>
        </a:graphic>
      </p:graphicFrame>
      <p:grpSp>
        <p:nvGrpSpPr>
          <p:cNvPr id="47" name="组合 46">
            <a:extLst>
              <a:ext uri="{FF2B5EF4-FFF2-40B4-BE49-F238E27FC236}">
                <a16:creationId xmlns:a16="http://schemas.microsoft.com/office/drawing/2014/main" id="{9C18BFCC-AF09-6B60-20D5-21FF99F88AD4}"/>
              </a:ext>
            </a:extLst>
          </p:cNvPr>
          <p:cNvGrpSpPr/>
          <p:nvPr/>
        </p:nvGrpSpPr>
        <p:grpSpPr>
          <a:xfrm>
            <a:off x="3577711" y="4603749"/>
            <a:ext cx="2149989" cy="1355227"/>
            <a:chOff x="3136386" y="4361952"/>
            <a:chExt cx="2307945" cy="1460500"/>
          </a:xfrm>
        </p:grpSpPr>
        <p:grpSp>
          <p:nvGrpSpPr>
            <p:cNvPr id="31" name="组合 30">
              <a:extLst>
                <a:ext uri="{FF2B5EF4-FFF2-40B4-BE49-F238E27FC236}">
                  <a16:creationId xmlns:a16="http://schemas.microsoft.com/office/drawing/2014/main" id="{4C72E51E-4C7C-7067-93F7-1875BF77CC9A}"/>
                </a:ext>
              </a:extLst>
            </p:cNvPr>
            <p:cNvGrpSpPr/>
            <p:nvPr/>
          </p:nvGrpSpPr>
          <p:grpSpPr>
            <a:xfrm>
              <a:off x="3136386" y="4361952"/>
              <a:ext cx="2307945" cy="1460500"/>
              <a:chOff x="3139561" y="4890485"/>
              <a:chExt cx="2727839" cy="1726215"/>
            </a:xfrm>
          </p:grpSpPr>
          <p:sp>
            <p:nvSpPr>
              <p:cNvPr id="32" name="矩形 31">
                <a:extLst>
                  <a:ext uri="{FF2B5EF4-FFF2-40B4-BE49-F238E27FC236}">
                    <a16:creationId xmlns:a16="http://schemas.microsoft.com/office/drawing/2014/main" id="{35EA1C3F-0E9F-C528-E5D2-699120BD4B56}"/>
                  </a:ext>
                </a:extLst>
              </p:cNvPr>
              <p:cNvSpPr/>
              <p:nvPr/>
            </p:nvSpPr>
            <p:spPr>
              <a:xfrm>
                <a:off x="3139561" y="4890485"/>
                <a:ext cx="2727839" cy="1726215"/>
              </a:xfrm>
              <a:prstGeom prst="rect">
                <a:avLst/>
              </a:prstGeom>
              <a:pattFill prst="lgGrid">
                <a:fgClr>
                  <a:schemeClr val="bg1">
                    <a:lumMod val="95000"/>
                  </a:schemeClr>
                </a:fgClr>
                <a:bgClr>
                  <a:schemeClr val="bg1"/>
                </a:bgClr>
              </a:patt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3" name="椭圆 32">
                <a:extLst>
                  <a:ext uri="{FF2B5EF4-FFF2-40B4-BE49-F238E27FC236}">
                    <a16:creationId xmlns:a16="http://schemas.microsoft.com/office/drawing/2014/main" id="{BF4BDF4A-1D48-C6CB-EF8E-472E6F191D6A}"/>
                  </a:ext>
                </a:extLst>
              </p:cNvPr>
              <p:cNvSpPr/>
              <p:nvPr/>
            </p:nvSpPr>
            <p:spPr>
              <a:xfrm>
                <a:off x="3417597" y="5109042"/>
                <a:ext cx="219942" cy="219942"/>
              </a:xfrm>
              <a:prstGeom prst="ellipse">
                <a:avLst/>
              </a:prstGeom>
              <a:ln w="19050">
                <a:solidFill>
                  <a:schemeClr val="accent5"/>
                </a:solidFill>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cxnSp>
            <p:nvCxnSpPr>
              <p:cNvPr id="34" name="直接连接符 33">
                <a:extLst>
                  <a:ext uri="{FF2B5EF4-FFF2-40B4-BE49-F238E27FC236}">
                    <a16:creationId xmlns:a16="http://schemas.microsoft.com/office/drawing/2014/main" id="{FD1D579B-5C1E-9698-638D-DD81FB4FE321}"/>
                  </a:ext>
                </a:extLst>
              </p:cNvPr>
              <p:cNvCxnSpPr/>
              <p:nvPr/>
            </p:nvCxnSpPr>
            <p:spPr>
              <a:xfrm>
                <a:off x="3903024" y="5221810"/>
                <a:ext cx="1599575"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35" name="椭圆 34">
                <a:extLst>
                  <a:ext uri="{FF2B5EF4-FFF2-40B4-BE49-F238E27FC236}">
                    <a16:creationId xmlns:a16="http://schemas.microsoft.com/office/drawing/2014/main" id="{433F6AB7-357C-4046-79A4-44F28FC190B6}"/>
                  </a:ext>
                </a:extLst>
              </p:cNvPr>
              <p:cNvSpPr/>
              <p:nvPr/>
            </p:nvSpPr>
            <p:spPr>
              <a:xfrm>
                <a:off x="3417597" y="5547200"/>
                <a:ext cx="219942" cy="219942"/>
              </a:xfrm>
              <a:prstGeom prst="ellipse">
                <a:avLst/>
              </a:prstGeom>
              <a:ln w="19050">
                <a:solidFill>
                  <a:schemeClr val="accent5"/>
                </a:solidFill>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cxnSp>
            <p:nvCxnSpPr>
              <p:cNvPr id="36" name="直接连接符 35">
                <a:extLst>
                  <a:ext uri="{FF2B5EF4-FFF2-40B4-BE49-F238E27FC236}">
                    <a16:creationId xmlns:a16="http://schemas.microsoft.com/office/drawing/2014/main" id="{5244B624-4661-1078-C378-89CC77F5F063}"/>
                  </a:ext>
                </a:extLst>
              </p:cNvPr>
              <p:cNvCxnSpPr/>
              <p:nvPr/>
            </p:nvCxnSpPr>
            <p:spPr>
              <a:xfrm>
                <a:off x="3903024" y="5659966"/>
                <a:ext cx="1599575"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37" name="椭圆 36">
                <a:extLst>
                  <a:ext uri="{FF2B5EF4-FFF2-40B4-BE49-F238E27FC236}">
                    <a16:creationId xmlns:a16="http://schemas.microsoft.com/office/drawing/2014/main" id="{02B3C04A-3956-A85A-B103-F863B52F83B1}"/>
                  </a:ext>
                </a:extLst>
              </p:cNvPr>
              <p:cNvSpPr/>
              <p:nvPr/>
            </p:nvSpPr>
            <p:spPr>
              <a:xfrm>
                <a:off x="3417597" y="6227020"/>
                <a:ext cx="219942" cy="219942"/>
              </a:xfrm>
              <a:prstGeom prst="ellipse">
                <a:avLst/>
              </a:prstGeom>
              <a:ln w="19050">
                <a:solidFill>
                  <a:schemeClr val="accent5"/>
                </a:solidFill>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cxnSp>
            <p:nvCxnSpPr>
              <p:cNvPr id="38" name="直接连接符 37">
                <a:extLst>
                  <a:ext uri="{FF2B5EF4-FFF2-40B4-BE49-F238E27FC236}">
                    <a16:creationId xmlns:a16="http://schemas.microsoft.com/office/drawing/2014/main" id="{5F864845-8BF9-4723-6A65-A771291BD162}"/>
                  </a:ext>
                </a:extLst>
              </p:cNvPr>
              <p:cNvCxnSpPr/>
              <p:nvPr/>
            </p:nvCxnSpPr>
            <p:spPr>
              <a:xfrm>
                <a:off x="3903024" y="6339786"/>
                <a:ext cx="1599575"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39" name="文本框 38">
                <a:extLst>
                  <a:ext uri="{FF2B5EF4-FFF2-40B4-BE49-F238E27FC236}">
                    <a16:creationId xmlns:a16="http://schemas.microsoft.com/office/drawing/2014/main" id="{2C8CC132-7609-6E16-E957-620FB6812E13}"/>
                  </a:ext>
                </a:extLst>
              </p:cNvPr>
              <p:cNvSpPr txBox="1"/>
              <p:nvPr/>
            </p:nvSpPr>
            <p:spPr>
              <a:xfrm>
                <a:off x="3177661" y="5784334"/>
                <a:ext cx="699814" cy="408944"/>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grpSp>
        <p:sp>
          <p:nvSpPr>
            <p:cNvPr id="41" name="矩形 40">
              <a:extLst>
                <a:ext uri="{FF2B5EF4-FFF2-40B4-BE49-F238E27FC236}">
                  <a16:creationId xmlns:a16="http://schemas.microsoft.com/office/drawing/2014/main" id="{69FA2915-0C52-F87A-1CF0-63F6F0DD2A5A}"/>
                </a:ext>
              </a:extLst>
            </p:cNvPr>
            <p:cNvSpPr/>
            <p:nvPr/>
          </p:nvSpPr>
          <p:spPr>
            <a:xfrm>
              <a:off x="3877909" y="4526360"/>
              <a:ext cx="231832" cy="2318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F02BA972-E63F-46F3-E2C5-67D90409B4FA}"/>
                </a:ext>
              </a:extLst>
            </p:cNvPr>
            <p:cNvSpPr/>
            <p:nvPr/>
          </p:nvSpPr>
          <p:spPr>
            <a:xfrm>
              <a:off x="4248301" y="4526359"/>
              <a:ext cx="231832" cy="591851"/>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3" name="矩形 42">
              <a:extLst>
                <a:ext uri="{FF2B5EF4-FFF2-40B4-BE49-F238E27FC236}">
                  <a16:creationId xmlns:a16="http://schemas.microsoft.com/office/drawing/2014/main" id="{1A1155EC-BA34-C998-0AFA-6E925325228D}"/>
                </a:ext>
              </a:extLst>
            </p:cNvPr>
            <p:cNvSpPr/>
            <p:nvPr/>
          </p:nvSpPr>
          <p:spPr>
            <a:xfrm>
              <a:off x="4614484" y="4896415"/>
              <a:ext cx="231832" cy="2318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4" name="矩形 43">
              <a:extLst>
                <a:ext uri="{FF2B5EF4-FFF2-40B4-BE49-F238E27FC236}">
                  <a16:creationId xmlns:a16="http://schemas.microsoft.com/office/drawing/2014/main" id="{62379031-3B61-464B-7611-900B24887AD6}"/>
                </a:ext>
              </a:extLst>
            </p:cNvPr>
            <p:cNvSpPr/>
            <p:nvPr/>
          </p:nvSpPr>
          <p:spPr>
            <a:xfrm>
              <a:off x="3877909" y="5469882"/>
              <a:ext cx="231832" cy="2318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45" name="矩形 44">
              <a:extLst>
                <a:ext uri="{FF2B5EF4-FFF2-40B4-BE49-F238E27FC236}">
                  <a16:creationId xmlns:a16="http://schemas.microsoft.com/office/drawing/2014/main" id="{A9838B76-3AC5-C832-A536-2EF3C27A09EE}"/>
                </a:ext>
              </a:extLst>
            </p:cNvPr>
            <p:cNvSpPr/>
            <p:nvPr/>
          </p:nvSpPr>
          <p:spPr>
            <a:xfrm>
              <a:off x="4625870" y="5469882"/>
              <a:ext cx="231832" cy="231832"/>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A97238A6-A861-E8F9-6553-EA38F0A21E2B}"/>
                  </a:ext>
                </a:extLst>
              </p:cNvPr>
              <p:cNvSpPr txBox="1"/>
              <p:nvPr/>
            </p:nvSpPr>
            <p:spPr>
              <a:xfrm>
                <a:off x="4019012" y="4258979"/>
                <a:ext cx="1306991"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状态空间：</a:t>
                </a:r>
                <a14:m>
                  <m:oMath xmlns:m="http://schemas.openxmlformats.org/officeDocument/2006/math">
                    <m:sSup>
                      <m:sSupPr>
                        <m:ctrlPr>
                          <a:rPr lang="en-US" altLang="zh-CN" sz="1400" b="0" i="1" smtClean="0">
                            <a:latin typeface="Cambria Math" panose="02040503050406030204" pitchFamily="18" charset="0"/>
                            <a:ea typeface="微软雅黑" panose="020B0503020204020204" pitchFamily="34" charset="-122"/>
                          </a:rPr>
                        </m:ctrlPr>
                      </m:sSupPr>
                      <m:e>
                        <m:r>
                          <a:rPr lang="en-US" altLang="zh-CN" sz="1400" b="0" i="1" smtClean="0">
                            <a:latin typeface="Cambria Math" panose="02040503050406030204" pitchFamily="18" charset="0"/>
                            <a:ea typeface="微软雅黑" panose="020B0503020204020204" pitchFamily="34" charset="-122"/>
                          </a:rPr>
                          <m:t>2</m:t>
                        </m:r>
                      </m:e>
                      <m:sup>
                        <m:r>
                          <a:rPr lang="en-US" altLang="zh-CN" sz="1400" b="0" i="1" smtClean="0">
                            <a:latin typeface="Cambria Math" panose="02040503050406030204" pitchFamily="18" charset="0"/>
                            <a:ea typeface="微软雅黑" panose="020B0503020204020204" pitchFamily="34" charset="-122"/>
                          </a:rPr>
                          <m:t>𝑛</m:t>
                        </m:r>
                      </m:sup>
                    </m:sSup>
                  </m:oMath>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46" name="文本框 45">
                <a:extLst>
                  <a:ext uri="{FF2B5EF4-FFF2-40B4-BE49-F238E27FC236}">
                    <a16:creationId xmlns:a16="http://schemas.microsoft.com/office/drawing/2014/main" id="{A97238A6-A861-E8F9-6553-EA38F0A21E2B}"/>
                  </a:ext>
                </a:extLst>
              </p:cNvPr>
              <p:cNvSpPr txBox="1">
                <a:spLocks noRot="1" noChangeAspect="1" noMove="1" noResize="1" noEditPoints="1" noAdjustHandles="1" noChangeArrowheads="1" noChangeShapeType="1" noTextEdit="1"/>
              </p:cNvSpPr>
              <p:nvPr/>
            </p:nvSpPr>
            <p:spPr>
              <a:xfrm>
                <a:off x="4019012" y="4258979"/>
                <a:ext cx="1306991" cy="307777"/>
              </a:xfrm>
              <a:prstGeom prst="rect">
                <a:avLst/>
              </a:prstGeom>
              <a:blipFill>
                <a:blip r:embed="rId5"/>
                <a:stretch>
                  <a:fillRect t="-4000" b="-20000"/>
                </a:stretch>
              </a:blipFill>
            </p:spPr>
            <p:txBody>
              <a:bodyPr/>
              <a:lstStyle/>
              <a:p>
                <a:r>
                  <a:rPr lang="zh-CN" altLang="en-US">
                    <a:noFill/>
                  </a:rPr>
                  <a:t> </a:t>
                </a:r>
              </a:p>
            </p:txBody>
          </p:sp>
        </mc:Fallback>
      </mc:AlternateContent>
      <p:sp>
        <p:nvSpPr>
          <p:cNvPr id="49" name="矩形: 圆角 48">
            <a:extLst>
              <a:ext uri="{FF2B5EF4-FFF2-40B4-BE49-F238E27FC236}">
                <a16:creationId xmlns:a16="http://schemas.microsoft.com/office/drawing/2014/main" id="{B985E19B-CBBD-243F-C8C9-ADD1C2E7D8E9}"/>
              </a:ext>
            </a:extLst>
          </p:cNvPr>
          <p:cNvSpPr/>
          <p:nvPr/>
        </p:nvSpPr>
        <p:spPr>
          <a:xfrm>
            <a:off x="3400426" y="2305050"/>
            <a:ext cx="2428874" cy="3762375"/>
          </a:xfrm>
          <a:prstGeom prst="roundRect">
            <a:avLst>
              <a:gd name="adj" fmla="val 6769"/>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pic>
        <p:nvPicPr>
          <p:cNvPr id="51" name="Picture 2">
            <a:extLst>
              <a:ext uri="{FF2B5EF4-FFF2-40B4-BE49-F238E27FC236}">
                <a16:creationId xmlns:a16="http://schemas.microsoft.com/office/drawing/2014/main" id="{CCDC21CC-657F-78BE-5DCC-91425A145A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0153" y="3859935"/>
            <a:ext cx="3745896" cy="2108404"/>
          </a:xfrm>
          <a:prstGeom prst="rect">
            <a:avLst/>
          </a:prstGeom>
          <a:noFill/>
          <a:extLst>
            <a:ext uri="{909E8E84-426E-40DD-AFC4-6F175D3DCCD1}">
              <a14:hiddenFill xmlns:a14="http://schemas.microsoft.com/office/drawing/2010/main">
                <a:solidFill>
                  <a:srgbClr val="FFFFFF"/>
                </a:solidFill>
              </a14:hiddenFill>
            </a:ext>
          </a:extLst>
        </p:spPr>
      </p:pic>
      <p:sp>
        <p:nvSpPr>
          <p:cNvPr id="53" name="文本框 52">
            <a:extLst>
              <a:ext uri="{FF2B5EF4-FFF2-40B4-BE49-F238E27FC236}">
                <a16:creationId xmlns:a16="http://schemas.microsoft.com/office/drawing/2014/main" id="{695E436B-429B-A862-4E98-EC07ED154418}"/>
              </a:ext>
            </a:extLst>
          </p:cNvPr>
          <p:cNvSpPr txBox="1"/>
          <p:nvPr/>
        </p:nvSpPr>
        <p:spPr>
          <a:xfrm>
            <a:off x="7594190" y="5639875"/>
            <a:ext cx="3098921"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量子线路运行过程示意图</a:t>
            </a: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92A37013-7273-B461-DC43-7004354DF76F}"/>
                  </a:ext>
                </a:extLst>
              </p:cNvPr>
              <p:cNvSpPr txBox="1"/>
              <p:nvPr/>
            </p:nvSpPr>
            <p:spPr>
              <a:xfrm>
                <a:off x="6673633" y="2390306"/>
                <a:ext cx="5288612" cy="1754326"/>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CN" sz="1800" i="1" dirty="0" smtClean="0">
                        <a:solidFill>
                          <a:prstClr val="black"/>
                        </a:solidFill>
                        <a:latin typeface="Cambria Math" panose="02040503050406030204" pitchFamily="18" charset="0"/>
                      </a:rPr>
                      <m:t>𝑛</m:t>
                    </m:r>
                  </m:oMath>
                </a14:m>
                <a:r>
                  <a:rPr lang="zh-CN" altLang="en-US" sz="1800" dirty="0">
                    <a:solidFill>
                      <a:prstClr val="black"/>
                    </a:solidFill>
                  </a:rPr>
                  <a:t>个量子比特</a:t>
                </a:r>
                <a:r>
                  <a:rPr lang="zh-CN" altLang="en-US" sz="1800" b="1" dirty="0">
                    <a:solidFill>
                      <a:srgbClr val="C00000"/>
                    </a:solidFill>
                  </a:rPr>
                  <a:t>同时处于</a:t>
                </a:r>
                <a14:m>
                  <m:oMath xmlns:m="http://schemas.openxmlformats.org/officeDocument/2006/math">
                    <m:sSup>
                      <m:sSupPr>
                        <m:ctrlPr>
                          <a:rPr lang="en-US" altLang="zh-CN" sz="1800" i="1" dirty="0" smtClean="0">
                            <a:solidFill>
                              <a:prstClr val="black"/>
                            </a:solidFill>
                            <a:latin typeface="Cambria Math" panose="02040503050406030204" pitchFamily="18" charset="0"/>
                          </a:rPr>
                        </m:ctrlPr>
                      </m:sSupPr>
                      <m:e>
                        <m:r>
                          <a:rPr lang="en-US" altLang="zh-CN" sz="1800" i="1" dirty="0" smtClean="0">
                            <a:solidFill>
                              <a:prstClr val="black"/>
                            </a:solidFill>
                            <a:latin typeface="Cambria Math" panose="02040503050406030204" pitchFamily="18" charset="0"/>
                          </a:rPr>
                          <m:t>2</m:t>
                        </m:r>
                      </m:e>
                      <m:sup>
                        <m:r>
                          <a:rPr lang="en-US" altLang="zh-CN" sz="1800" i="1" dirty="0" smtClean="0">
                            <a:solidFill>
                              <a:prstClr val="black"/>
                            </a:solidFill>
                            <a:latin typeface="Cambria Math" panose="02040503050406030204" pitchFamily="18" charset="0"/>
                          </a:rPr>
                          <m:t>𝑛</m:t>
                        </m:r>
                      </m:sup>
                    </m:sSup>
                  </m:oMath>
                </a14:m>
                <a:r>
                  <a:rPr lang="zh-CN" altLang="en-US" sz="1800" dirty="0">
                    <a:solidFill>
                      <a:prstClr val="black"/>
                    </a:solidFill>
                  </a:rPr>
                  <a:t>个状态中的多种状态的</a:t>
                </a:r>
                <a:r>
                  <a:rPr lang="zh-CN" altLang="en-US" sz="1800" b="1" dirty="0">
                    <a:solidFill>
                      <a:srgbClr val="C00000"/>
                    </a:solidFill>
                  </a:rPr>
                  <a:t>叠加态</a:t>
                </a:r>
                <a:r>
                  <a:rPr lang="zh-CN" altLang="en-US" sz="1800" dirty="0">
                    <a:solidFill>
                      <a:prstClr val="black"/>
                    </a:solidFill>
                  </a:rPr>
                  <a:t>，施加操作可天然实现</a:t>
                </a:r>
                <a:r>
                  <a:rPr lang="zh-CN" altLang="en-US" sz="1800" b="1" dirty="0">
                    <a:solidFill>
                      <a:srgbClr val="C00000"/>
                    </a:solidFill>
                  </a:rPr>
                  <a:t>并行</a:t>
                </a:r>
                <a:r>
                  <a:rPr lang="zh-CN" altLang="en-US" sz="1800" dirty="0">
                    <a:solidFill>
                      <a:prstClr val="black"/>
                    </a:solidFill>
                  </a:rPr>
                  <a:t>计算；</a:t>
                </a:r>
                <a:endParaRPr lang="en-US" altLang="zh-CN" sz="1800" dirty="0">
                  <a:solidFill>
                    <a:prstClr val="black"/>
                  </a:solidFill>
                </a:endParaRPr>
              </a:p>
              <a:p>
                <a:pPr marL="285750" indent="-285750">
                  <a:buFont typeface="Arial" panose="020B0604020202020204" pitchFamily="34" charset="0"/>
                  <a:buChar char="•"/>
                </a:pPr>
                <a:r>
                  <a:rPr lang="zh-CN" altLang="en-US" dirty="0">
                    <a:solidFill>
                      <a:prstClr val="black"/>
                    </a:solidFill>
                  </a:rPr>
                  <a:t>单次测量只能得到</a:t>
                </a:r>
                <a:r>
                  <a:rPr lang="en-US" altLang="zh-CN" dirty="0">
                    <a:solidFill>
                      <a:prstClr val="black"/>
                    </a:solidFill>
                  </a:rPr>
                  <a:t>1</a:t>
                </a:r>
                <a:r>
                  <a:rPr lang="zh-CN" altLang="en-US" dirty="0">
                    <a:solidFill>
                      <a:prstClr val="black"/>
                    </a:solidFill>
                  </a:rPr>
                  <a:t>个结果；</a:t>
                </a:r>
                <a:endParaRPr lang="en-US" altLang="zh-CN" dirty="0">
                  <a:solidFill>
                    <a:prstClr val="black"/>
                  </a:solidFill>
                </a:endParaRPr>
              </a:p>
              <a:p>
                <a:pPr marL="285750" indent="-285750">
                  <a:buFont typeface="Arial" panose="020B0604020202020204" pitchFamily="34" charset="0"/>
                  <a:buChar char="•"/>
                </a:pPr>
                <a:r>
                  <a:rPr lang="zh-CN" altLang="zh-CN" dirty="0"/>
                  <a:t>通过</a:t>
                </a:r>
                <a:r>
                  <a:rPr lang="zh-CN" altLang="en-US" dirty="0"/>
                  <a:t>在量子比特上施加“操作”，</a:t>
                </a:r>
                <a:r>
                  <a:rPr lang="zh-CN" altLang="zh-CN" dirty="0"/>
                  <a:t>改变不同基状态的</a:t>
                </a:r>
                <a:r>
                  <a:rPr lang="zh-CN" altLang="zh-CN" b="1" dirty="0"/>
                  <a:t>振幅和相位</a:t>
                </a:r>
                <a:r>
                  <a:rPr lang="zh-CN" altLang="en-US" b="1" dirty="0"/>
                  <a:t>，</a:t>
                </a:r>
                <a:r>
                  <a:rPr lang="zh-CN" altLang="zh-CN" dirty="0"/>
                  <a:t>调整各个结果最终出现的</a:t>
                </a:r>
                <a:r>
                  <a:rPr lang="zh-CN" altLang="en-US" dirty="0"/>
                  <a:t>概率。</a:t>
                </a:r>
                <a:endParaRPr lang="en-US" altLang="zh-CN" dirty="0">
                  <a:solidFill>
                    <a:prstClr val="black"/>
                  </a:solidFill>
                </a:endParaRPr>
              </a:p>
              <a:p>
                <a:endParaRPr lang="zh-CN" altLang="en-US" dirty="0"/>
              </a:p>
            </p:txBody>
          </p:sp>
        </mc:Choice>
        <mc:Fallback xmlns="">
          <p:sp>
            <p:nvSpPr>
              <p:cNvPr id="61" name="文本框 60">
                <a:extLst>
                  <a:ext uri="{FF2B5EF4-FFF2-40B4-BE49-F238E27FC236}">
                    <a16:creationId xmlns:a16="http://schemas.microsoft.com/office/drawing/2014/main" id="{92A37013-7273-B461-DC43-7004354DF76F}"/>
                  </a:ext>
                </a:extLst>
              </p:cNvPr>
              <p:cNvSpPr txBox="1">
                <a:spLocks noRot="1" noChangeAspect="1" noMove="1" noResize="1" noEditPoints="1" noAdjustHandles="1" noChangeArrowheads="1" noChangeShapeType="1" noTextEdit="1"/>
              </p:cNvSpPr>
              <p:nvPr/>
            </p:nvSpPr>
            <p:spPr>
              <a:xfrm>
                <a:off x="6673633" y="2390306"/>
                <a:ext cx="5288612" cy="1754326"/>
              </a:xfrm>
              <a:prstGeom prst="rect">
                <a:avLst/>
              </a:prstGeom>
              <a:blipFill>
                <a:blip r:embed="rId7"/>
                <a:stretch>
                  <a:fillRect l="-807" t="-1736" r="-923"/>
                </a:stretch>
              </a:blipFill>
            </p:spPr>
            <p:txBody>
              <a:bodyPr/>
              <a:lstStyle/>
              <a:p>
                <a:r>
                  <a:rPr lang="zh-CN" altLang="en-US">
                    <a:noFill/>
                  </a:rPr>
                  <a:t> </a:t>
                </a:r>
              </a:p>
            </p:txBody>
          </p:sp>
        </mc:Fallback>
      </mc:AlternateContent>
      <p:sp>
        <p:nvSpPr>
          <p:cNvPr id="63" name="矩形: 圆角 62">
            <a:extLst>
              <a:ext uri="{FF2B5EF4-FFF2-40B4-BE49-F238E27FC236}">
                <a16:creationId xmlns:a16="http://schemas.microsoft.com/office/drawing/2014/main" id="{AC48DFCD-1B77-7416-B788-ED93E3984B02}"/>
              </a:ext>
            </a:extLst>
          </p:cNvPr>
          <p:cNvSpPr/>
          <p:nvPr/>
        </p:nvSpPr>
        <p:spPr>
          <a:xfrm>
            <a:off x="6477000" y="2257425"/>
            <a:ext cx="5353050" cy="3762375"/>
          </a:xfrm>
          <a:prstGeom prst="roundRect">
            <a:avLst>
              <a:gd name="adj" fmla="val 6769"/>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pic>
        <p:nvPicPr>
          <p:cNvPr id="66" name="图片 65">
            <a:extLst>
              <a:ext uri="{FF2B5EF4-FFF2-40B4-BE49-F238E27FC236}">
                <a16:creationId xmlns:a16="http://schemas.microsoft.com/office/drawing/2014/main" id="{30015043-63CB-F027-B464-2EA0E917809D}"/>
              </a:ext>
            </a:extLst>
          </p:cNvPr>
          <p:cNvPicPr>
            <a:picLocks noChangeAspect="1"/>
          </p:cNvPicPr>
          <p:nvPr/>
        </p:nvPicPr>
        <p:blipFill>
          <a:blip r:embed="rId8"/>
          <a:srcRect l="85097" t="76667" r="1615" b="3611"/>
          <a:stretch>
            <a:fillRect/>
          </a:stretch>
        </p:blipFill>
        <p:spPr>
          <a:xfrm>
            <a:off x="10207337" y="4288559"/>
            <a:ext cx="1425396" cy="1190625"/>
          </a:xfrm>
          <a:prstGeom prst="rect">
            <a:avLst/>
          </a:prstGeom>
        </p:spPr>
      </p:pic>
      <p:sp>
        <p:nvSpPr>
          <p:cNvPr id="4" name="文本框 3">
            <a:extLst>
              <a:ext uri="{FF2B5EF4-FFF2-40B4-BE49-F238E27FC236}">
                <a16:creationId xmlns:a16="http://schemas.microsoft.com/office/drawing/2014/main" id="{1D6552B0-A5CA-679C-4081-4E21D1106CD9}"/>
              </a:ext>
            </a:extLst>
          </p:cNvPr>
          <p:cNvSpPr txBox="1"/>
          <p:nvPr/>
        </p:nvSpPr>
        <p:spPr>
          <a:xfrm>
            <a:off x="371764" y="6239014"/>
            <a:ext cx="11655136" cy="400110"/>
          </a:xfrm>
          <a:prstGeom prst="rect">
            <a:avLst/>
          </a:prstGeom>
          <a:solidFill>
            <a:schemeClr val="accent3">
              <a:lumMod val="20000"/>
              <a:lumOff val="80000"/>
            </a:schemeClr>
          </a:solidFill>
        </p:spPr>
        <p:txBody>
          <a:bodyPr wrap="square">
            <a:spAutoFit/>
          </a:bodyPr>
          <a:lstStyle>
            <a:defPPr>
              <a:defRPr lang="zh-CN"/>
            </a:defPPr>
            <a:lvl1pPr algn="ctr">
              <a:lnSpc>
                <a:spcPct val="150000"/>
              </a:lnSpc>
              <a:defRPr sz="1600" b="1">
                <a:solidFill>
                  <a:schemeClr val="accent5">
                    <a:lumMod val="50000"/>
                  </a:schemeClr>
                </a:solidFill>
                <a:latin typeface="微软雅黑" panose="020B0503020204020204" pitchFamily="34" charset="-122"/>
                <a:ea typeface="微软雅黑" panose="020B0503020204020204" pitchFamily="34" charset="-122"/>
              </a:defRPr>
            </a:lvl1pPr>
          </a:lstStyle>
          <a:p>
            <a:r>
              <a:rPr lang="zh-CN" altLang="en-US" dirty="0"/>
              <a:t>量子计算具有信息表示和处理优势，重点在如何把问题对应到量子态上并设计这样的演化过程</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81F6A8A-E37E-A09F-49A5-835FC2D23122}"/>
                  </a:ext>
                </a:extLst>
              </p:cNvPr>
              <p:cNvSpPr txBox="1"/>
              <p:nvPr/>
            </p:nvSpPr>
            <p:spPr>
              <a:xfrm>
                <a:off x="3477260" y="2365048"/>
                <a:ext cx="2364740" cy="646331"/>
              </a:xfrm>
              <a:prstGeom prst="rect">
                <a:avLst/>
              </a:prstGeom>
              <a:noFill/>
            </p:spPr>
            <p:txBody>
              <a:bodyPr wrap="square">
                <a:spAutoFit/>
              </a:bodyPr>
              <a:lstStyle/>
              <a:p>
                <a:r>
                  <a:rPr lang="zh-CN" altLang="zh-CN" sz="1200" b="1" dirty="0"/>
                  <a:t>n 个量子比特对应 </a:t>
                </a:r>
                <a14:m>
                  <m:oMath xmlns:m="http://schemas.openxmlformats.org/officeDocument/2006/math">
                    <m:sSup>
                      <m:sSupPr>
                        <m:ctrlPr>
                          <a:rPr lang="en-US" altLang="zh-CN" sz="1200" kern="1200">
                            <a:solidFill>
                              <a:schemeClr val="tx1"/>
                            </a:solidFill>
                            <a:latin typeface="Cambria Math" panose="02040503050406030204" pitchFamily="18" charset="0"/>
                            <a:ea typeface="+mn-ea"/>
                            <a:cs typeface="+mn-cs"/>
                          </a:rPr>
                        </m:ctrlPr>
                      </m:sSupPr>
                      <m:e>
                        <m:r>
                          <a:rPr lang="en-US" altLang="zh-CN" sz="1200" kern="1200">
                            <a:solidFill>
                              <a:schemeClr val="tx1"/>
                            </a:solidFill>
                            <a:latin typeface="Cambria Math" panose="02040503050406030204" pitchFamily="18" charset="0"/>
                            <a:ea typeface="+mn-ea"/>
                            <a:cs typeface="+mn-cs"/>
                          </a:rPr>
                          <m:t>2</m:t>
                        </m:r>
                      </m:e>
                      <m:sup>
                        <m:r>
                          <a:rPr lang="zh-CN" altLang="en-US" sz="1200" i="1" kern="1200">
                            <a:solidFill>
                              <a:schemeClr val="tx1"/>
                            </a:solidFill>
                            <a:latin typeface="Cambria Math" panose="02040503050406030204" pitchFamily="18" charset="0"/>
                            <a:ea typeface="+mn-ea"/>
                            <a:cs typeface="+mn-cs"/>
                          </a:rPr>
                          <m:t>𝑛</m:t>
                        </m:r>
                      </m:sup>
                    </m:sSup>
                  </m:oMath>
                </a14:m>
                <a:r>
                  <a:rPr lang="zh-CN" altLang="zh-CN" sz="1200" b="1" dirty="0"/>
                  <a:t>个基本状态</a:t>
                </a:r>
                <a:r>
                  <a:rPr lang="zh-CN" altLang="zh-CN" sz="1200" dirty="0"/>
                  <a:t>。量子系统可以处在这些基本状态共同构成的叠加状态中。</a:t>
                </a:r>
                <a:endParaRPr lang="zh-CN" altLang="en-US" dirty="0"/>
              </a:p>
            </p:txBody>
          </p:sp>
        </mc:Choice>
        <mc:Fallback xmlns="">
          <p:sp>
            <p:nvSpPr>
              <p:cNvPr id="6" name="文本框 5">
                <a:extLst>
                  <a:ext uri="{FF2B5EF4-FFF2-40B4-BE49-F238E27FC236}">
                    <a16:creationId xmlns:a16="http://schemas.microsoft.com/office/drawing/2014/main" id="{281F6A8A-E37E-A09F-49A5-835FC2D23122}"/>
                  </a:ext>
                </a:extLst>
              </p:cNvPr>
              <p:cNvSpPr txBox="1">
                <a:spLocks noRot="1" noChangeAspect="1" noMove="1" noResize="1" noEditPoints="1" noAdjustHandles="1" noChangeArrowheads="1" noChangeShapeType="1" noTextEdit="1"/>
              </p:cNvSpPr>
              <p:nvPr/>
            </p:nvSpPr>
            <p:spPr>
              <a:xfrm>
                <a:off x="3477260" y="2365048"/>
                <a:ext cx="2364740" cy="646331"/>
              </a:xfrm>
              <a:prstGeom prst="rect">
                <a:avLst/>
              </a:prstGeom>
              <a:blipFill>
                <a:blip r:embed="rId9"/>
                <a:stretch>
                  <a:fillRect t="-943" r="-6701" b="-6604"/>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13B5AD89-D353-9933-3B66-F1ADCCD670F1}"/>
              </a:ext>
            </a:extLst>
          </p:cNvPr>
          <p:cNvSpPr txBox="1"/>
          <p:nvPr/>
        </p:nvSpPr>
        <p:spPr>
          <a:xfrm>
            <a:off x="1016000" y="2407851"/>
            <a:ext cx="1828800" cy="462349"/>
          </a:xfrm>
          <a:prstGeom prst="rect">
            <a:avLst/>
          </a:prstGeom>
          <a:noFill/>
        </p:spPr>
        <p:txBody>
          <a:bodyPr wrap="square">
            <a:spAutoFit/>
          </a:bodyPr>
          <a:lstStyle/>
          <a:p>
            <a:r>
              <a:rPr lang="zh-CN" altLang="zh-CN" sz="1200" dirty="0"/>
              <a:t>量子比特可以处在 </a:t>
            </a:r>
            <a:r>
              <a:rPr lang="zh-CN" altLang="zh-CN" sz="1200" b="1" dirty="0"/>
              <a:t>0 和 1 的叠加状态</a:t>
            </a:r>
            <a:endParaRPr lang="zh-CN" altLang="en-US" dirty="0"/>
          </a:p>
        </p:txBody>
      </p:sp>
    </p:spTree>
    <p:extLst>
      <p:ext uri="{BB962C8B-B14F-4D97-AF65-F5344CB8AC3E}">
        <p14:creationId xmlns:p14="http://schemas.microsoft.com/office/powerpoint/2010/main" val="20935306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500"/>
                                        <p:tgtEl>
                                          <p:spTgt spid="30"/>
                                        </p:tgtEl>
                                      </p:cBhvr>
                                    </p:animEffect>
                                  </p:childTnLst>
                                </p:cTn>
                              </p:par>
                              <p:par>
                                <p:cTn id="37" presetID="10"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par>
                                <p:cTn id="40" presetID="10" presetClass="entr" presetSubtype="0" fill="hold"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500"/>
                                        <p:tgtEl>
                                          <p:spTgt spid="4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fade">
                                      <p:cBhvr>
                                        <p:cTn id="45" dur="500"/>
                                        <p:tgtEl>
                                          <p:spTgt spid="4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fade">
                                      <p:cBhvr>
                                        <p:cTn id="48" dur="500"/>
                                        <p:tgtEl>
                                          <p:spTgt spid="4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5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fade">
                                      <p:cBhvr>
                                        <p:cTn id="59" dur="500"/>
                                        <p:tgtEl>
                                          <p:spTgt spid="5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fade">
                                      <p:cBhvr>
                                        <p:cTn id="62" dur="500"/>
                                        <p:tgtEl>
                                          <p:spTgt spid="5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1"/>
                                        </p:tgtEl>
                                        <p:attrNameLst>
                                          <p:attrName>style.visibility</p:attrName>
                                        </p:attrNameLst>
                                      </p:cBhvr>
                                      <p:to>
                                        <p:strVal val="visible"/>
                                      </p:to>
                                    </p:set>
                                    <p:animEffect transition="in" filter="fade">
                                      <p:cBhvr>
                                        <p:cTn id="65" dur="500"/>
                                        <p:tgtEl>
                                          <p:spTgt spid="6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3"/>
                                        </p:tgtEl>
                                        <p:attrNameLst>
                                          <p:attrName>style.visibility</p:attrName>
                                        </p:attrNameLst>
                                      </p:cBhvr>
                                      <p:to>
                                        <p:strVal val="visible"/>
                                      </p:to>
                                    </p:set>
                                    <p:animEffect transition="in" filter="fade">
                                      <p:cBhvr>
                                        <p:cTn id="68" dur="500"/>
                                        <p:tgtEl>
                                          <p:spTgt spid="63"/>
                                        </p:tgtEl>
                                      </p:cBhvr>
                                    </p:animEffect>
                                  </p:childTnLst>
                                </p:cTn>
                              </p:par>
                              <p:par>
                                <p:cTn id="69" presetID="10" presetClass="entr" presetSubtype="0" fill="hold" nodeType="withEffect">
                                  <p:stCondLst>
                                    <p:cond delay="0"/>
                                  </p:stCondLst>
                                  <p:childTnLst>
                                    <p:set>
                                      <p:cBhvr>
                                        <p:cTn id="70" dur="1" fill="hold">
                                          <p:stCondLst>
                                            <p:cond delay="0"/>
                                          </p:stCondLst>
                                        </p:cTn>
                                        <p:tgtEl>
                                          <p:spTgt spid="66"/>
                                        </p:tgtEl>
                                        <p:attrNameLst>
                                          <p:attrName>style.visibility</p:attrName>
                                        </p:attrNameLst>
                                      </p:cBhvr>
                                      <p:to>
                                        <p:strVal val="visible"/>
                                      </p:to>
                                    </p:set>
                                    <p:animEffect transition="in" filter="fade">
                                      <p:cBhvr>
                                        <p:cTn id="71" dur="500"/>
                                        <p:tgtEl>
                                          <p:spTgt spid="6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fade">
                                      <p:cBhvr>
                                        <p:cTn id="7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5" grpId="0" animBg="1"/>
      <p:bldP spid="17" grpId="0" animBg="1"/>
      <p:bldP spid="19" grpId="0" animBg="1"/>
      <p:bldP spid="25" grpId="0"/>
      <p:bldP spid="27" grpId="0"/>
      <p:bldP spid="28" grpId="0"/>
      <p:bldP spid="30" grpId="0" animBg="1"/>
      <p:bldP spid="46" grpId="0"/>
      <p:bldP spid="49" grpId="0" animBg="1"/>
      <p:bldP spid="53" grpId="0"/>
      <p:bldP spid="61" grpId="0"/>
      <p:bldP spid="63" grpId="0" animBg="1"/>
      <p:bldP spid="4" grpId="0" animBg="1"/>
      <p:bldP spid="6"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EB5B-FCFD-4824-1EDE-77B0FCBD9FE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C3B7D3C-052B-4BD8-4DA9-6796875CA861}"/>
              </a:ext>
            </a:extLst>
          </p:cNvPr>
          <p:cNvSpPr>
            <a:spLocks noGrp="1"/>
          </p:cNvSpPr>
          <p:nvPr>
            <p:ph type="title"/>
          </p:nvPr>
        </p:nvSpPr>
        <p:spPr/>
        <p:txBody>
          <a:bodyPr>
            <a:normAutofit/>
          </a:bodyPr>
          <a:lstStyle/>
          <a:p>
            <a:r>
              <a:rPr lang="zh-CN" altLang="zh-CN"/>
              <a:t>量子算法：从问题结构到量子线路</a:t>
            </a:r>
            <a:endParaRPr lang="zh-CN" altLang="en-US" dirty="0"/>
          </a:p>
        </p:txBody>
      </p:sp>
      <p:sp>
        <p:nvSpPr>
          <p:cNvPr id="5" name="文本框 4">
            <a:extLst>
              <a:ext uri="{FF2B5EF4-FFF2-40B4-BE49-F238E27FC236}">
                <a16:creationId xmlns:a16="http://schemas.microsoft.com/office/drawing/2014/main" id="{0C721EB1-05EF-6A4C-909B-57410E272B6D}"/>
              </a:ext>
            </a:extLst>
          </p:cNvPr>
          <p:cNvSpPr txBox="1"/>
          <p:nvPr/>
        </p:nvSpPr>
        <p:spPr>
          <a:xfrm>
            <a:off x="225103" y="996875"/>
            <a:ext cx="10014271" cy="416524"/>
          </a:xfrm>
          <a:prstGeom prst="rect">
            <a:avLst/>
          </a:prstGeom>
          <a:noFill/>
        </p:spPr>
        <p:txBody>
          <a:bodyPr wrap="square" rtlCol="0">
            <a:spAutoFit/>
          </a:bodyPr>
          <a:lstStyle/>
          <a:p>
            <a:pPr marL="355600" lvl="0" indent="-355600">
              <a:lnSpc>
                <a:spcPct val="114000"/>
              </a:lnSpc>
              <a:spcBef>
                <a:spcPts val="1000"/>
              </a:spcBef>
              <a:buClr>
                <a:srgbClr val="4472C4"/>
              </a:buClr>
              <a:buSzPct val="90000"/>
              <a:buFont typeface="Wingdings" panose="05000000000000000000" pitchFamily="2" charset="2"/>
              <a:buChar char="q"/>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量子算法如何设计？</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C967D71B-D332-7237-BDC4-4930E30A7D26}"/>
              </a:ext>
            </a:extLst>
          </p:cNvPr>
          <p:cNvSpPr txBox="1"/>
          <p:nvPr/>
        </p:nvSpPr>
        <p:spPr>
          <a:xfrm>
            <a:off x="225103" y="996875"/>
            <a:ext cx="11395397" cy="1074140"/>
          </a:xfrm>
          <a:prstGeom prst="rect">
            <a:avLst/>
          </a:prstGeom>
          <a:gradFill flip="none" rotWithShape="1">
            <a:gsLst>
              <a:gs pos="0">
                <a:schemeClr val="accent1">
                  <a:lumMod val="5000"/>
                  <a:lumOff val="95000"/>
                  <a:alpha val="2000"/>
                </a:schemeClr>
              </a:gs>
              <a:gs pos="44000">
                <a:srgbClr val="EAF2FA"/>
              </a:gs>
              <a:gs pos="100000">
                <a:schemeClr val="accent5">
                  <a:lumMod val="20000"/>
                  <a:lumOff val="80000"/>
                </a:schemeClr>
              </a:gs>
            </a:gsLst>
            <a:lin ang="16200000" scaled="1"/>
            <a:tileRect/>
          </a:gradFill>
        </p:spPr>
        <p:txBody>
          <a:bodyPr wrap="square" rtlCol="0">
            <a:spAutoFit/>
          </a:bodyPr>
          <a:lstStyle/>
          <a:p>
            <a:pPr marL="355600" lvl="0" indent="-355600">
              <a:lnSpc>
                <a:spcPct val="114000"/>
              </a:lnSpc>
              <a:spcBef>
                <a:spcPts val="1000"/>
              </a:spcBef>
              <a:buClr>
                <a:srgbClr val="4472C4"/>
              </a:buClr>
              <a:buSzPct val="90000"/>
              <a:buFont typeface="Wingdings" panose="05000000000000000000" pitchFamily="2" charset="2"/>
              <a:buChar char="q"/>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典型量子算法与应用</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a:spcBef>
                <a:spcPts val="600"/>
              </a:spcBef>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量子计算已经发展出针对不同问题结构的多类算法，但不同算法的理论加速、硬件要求和实际优势成熟度存在显著差异。</a:t>
            </a:r>
          </a:p>
        </p:txBody>
      </p:sp>
      <p:sp>
        <p:nvSpPr>
          <p:cNvPr id="10" name="矩形: 圆角 9">
            <a:extLst>
              <a:ext uri="{FF2B5EF4-FFF2-40B4-BE49-F238E27FC236}">
                <a16:creationId xmlns:a16="http://schemas.microsoft.com/office/drawing/2014/main" id="{5FAACA4F-0994-5399-1E69-0BF38DC6810C}"/>
              </a:ext>
            </a:extLst>
          </p:cNvPr>
          <p:cNvSpPr/>
          <p:nvPr/>
        </p:nvSpPr>
        <p:spPr>
          <a:xfrm>
            <a:off x="368300" y="3491569"/>
            <a:ext cx="936000" cy="324000"/>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en-US" altLang="zh-CN" sz="1400" dirty="0">
                <a:latin typeface="微软雅黑" panose="020B0503020204020204" pitchFamily="34" charset="-122"/>
                <a:ea typeface="微软雅黑" panose="020B0503020204020204" pitchFamily="34" charset="-122"/>
              </a:rPr>
              <a:t>Shor</a:t>
            </a:r>
            <a:r>
              <a:rPr lang="zh-CN" altLang="en-US" sz="1400" dirty="0">
                <a:latin typeface="微软雅黑" panose="020B0503020204020204" pitchFamily="34" charset="-122"/>
                <a:ea typeface="微软雅黑" panose="020B0503020204020204" pitchFamily="34" charset="-122"/>
              </a:rPr>
              <a:t>算法</a:t>
            </a:r>
          </a:p>
        </p:txBody>
      </p:sp>
      <p:sp>
        <p:nvSpPr>
          <p:cNvPr id="12" name="矩形: 圆角 11">
            <a:extLst>
              <a:ext uri="{FF2B5EF4-FFF2-40B4-BE49-F238E27FC236}">
                <a16:creationId xmlns:a16="http://schemas.microsoft.com/office/drawing/2014/main" id="{88D2A38F-9A37-8A67-DD6A-C16ED002B074}"/>
              </a:ext>
            </a:extLst>
          </p:cNvPr>
          <p:cNvSpPr/>
          <p:nvPr/>
        </p:nvSpPr>
        <p:spPr>
          <a:xfrm>
            <a:off x="1607092" y="3491569"/>
            <a:ext cx="1188000" cy="324000"/>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zh-CN" altLang="en-US" sz="1400" dirty="0">
                <a:latin typeface="微软雅黑" panose="020B0503020204020204" pitchFamily="34" charset="-122"/>
                <a:ea typeface="微软雅黑" panose="020B0503020204020204" pitchFamily="34" charset="-122"/>
              </a:rPr>
              <a:t>量子相位估计</a:t>
            </a:r>
          </a:p>
        </p:txBody>
      </p:sp>
      <p:sp>
        <p:nvSpPr>
          <p:cNvPr id="14" name="矩形: 圆角 13">
            <a:extLst>
              <a:ext uri="{FF2B5EF4-FFF2-40B4-BE49-F238E27FC236}">
                <a16:creationId xmlns:a16="http://schemas.microsoft.com/office/drawing/2014/main" id="{33A45A43-6670-F58A-4E1B-603D9ECEA387}"/>
              </a:ext>
            </a:extLst>
          </p:cNvPr>
          <p:cNvSpPr/>
          <p:nvPr/>
        </p:nvSpPr>
        <p:spPr>
          <a:xfrm>
            <a:off x="3348500" y="3491569"/>
            <a:ext cx="1116000" cy="324000"/>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en-US" altLang="zh-CN" sz="1400" dirty="0">
                <a:latin typeface="微软雅黑" panose="020B0503020204020204" pitchFamily="34" charset="-122"/>
                <a:ea typeface="微软雅黑" panose="020B0503020204020204" pitchFamily="34" charset="-122"/>
              </a:rPr>
              <a:t>Grover</a:t>
            </a:r>
            <a:r>
              <a:rPr lang="zh-CN" altLang="en-US" sz="1400" dirty="0">
                <a:latin typeface="微软雅黑" panose="020B0503020204020204" pitchFamily="34" charset="-122"/>
                <a:ea typeface="微软雅黑" panose="020B0503020204020204" pitchFamily="34" charset="-122"/>
              </a:rPr>
              <a:t>算法</a:t>
            </a:r>
          </a:p>
        </p:txBody>
      </p:sp>
      <p:sp>
        <p:nvSpPr>
          <p:cNvPr id="16" name="矩形: 圆角 15">
            <a:extLst>
              <a:ext uri="{FF2B5EF4-FFF2-40B4-BE49-F238E27FC236}">
                <a16:creationId xmlns:a16="http://schemas.microsoft.com/office/drawing/2014/main" id="{70AD2D69-66F1-8293-8275-96CD7F81797F}"/>
              </a:ext>
            </a:extLst>
          </p:cNvPr>
          <p:cNvSpPr/>
          <p:nvPr/>
        </p:nvSpPr>
        <p:spPr>
          <a:xfrm>
            <a:off x="4753744" y="3491569"/>
            <a:ext cx="936000" cy="324000"/>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zh-CN" altLang="en-US" sz="1400" dirty="0">
                <a:latin typeface="微软雅黑" panose="020B0503020204020204" pitchFamily="34" charset="-122"/>
                <a:ea typeface="微软雅黑" panose="020B0503020204020204" pitchFamily="34" charset="-122"/>
              </a:rPr>
              <a:t>幅度估计</a:t>
            </a:r>
          </a:p>
        </p:txBody>
      </p:sp>
      <p:sp>
        <p:nvSpPr>
          <p:cNvPr id="18" name="矩形: 圆角 17">
            <a:extLst>
              <a:ext uri="{FF2B5EF4-FFF2-40B4-BE49-F238E27FC236}">
                <a16:creationId xmlns:a16="http://schemas.microsoft.com/office/drawing/2014/main" id="{FBA88E0C-0F53-4D7F-CE32-FA3B25FB3729}"/>
              </a:ext>
            </a:extLst>
          </p:cNvPr>
          <p:cNvSpPr/>
          <p:nvPr/>
        </p:nvSpPr>
        <p:spPr>
          <a:xfrm>
            <a:off x="6046724" y="3491569"/>
            <a:ext cx="1188000" cy="324000"/>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zh-CN" altLang="en-US" sz="1400" dirty="0">
                <a:latin typeface="微软雅黑" panose="020B0503020204020204" pitchFamily="34" charset="-122"/>
                <a:ea typeface="微软雅黑" panose="020B0503020204020204" pitchFamily="34" charset="-122"/>
              </a:rPr>
              <a:t>哈密顿量模拟</a:t>
            </a:r>
          </a:p>
        </p:txBody>
      </p:sp>
      <p:sp>
        <p:nvSpPr>
          <p:cNvPr id="20" name="矩形: 圆角 19">
            <a:extLst>
              <a:ext uri="{FF2B5EF4-FFF2-40B4-BE49-F238E27FC236}">
                <a16:creationId xmlns:a16="http://schemas.microsoft.com/office/drawing/2014/main" id="{7CD587DA-DBF6-5849-568B-1F17574EE856}"/>
              </a:ext>
            </a:extLst>
          </p:cNvPr>
          <p:cNvSpPr/>
          <p:nvPr/>
        </p:nvSpPr>
        <p:spPr>
          <a:xfrm>
            <a:off x="7442689" y="3491569"/>
            <a:ext cx="936000" cy="324000"/>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en-US" altLang="zh-CN" sz="1400" dirty="0">
                <a:latin typeface="微软雅黑" panose="020B0503020204020204" pitchFamily="34" charset="-122"/>
                <a:ea typeface="微软雅黑" panose="020B0503020204020204" pitchFamily="34" charset="-122"/>
              </a:rPr>
              <a:t>VQE</a:t>
            </a:r>
            <a:endParaRPr lang="zh-CN" altLang="en-US" sz="1400" dirty="0">
              <a:latin typeface="微软雅黑" panose="020B0503020204020204" pitchFamily="34" charset="-122"/>
              <a:ea typeface="微软雅黑" panose="020B0503020204020204" pitchFamily="34" charset="-122"/>
            </a:endParaRPr>
          </a:p>
        </p:txBody>
      </p:sp>
      <p:sp>
        <p:nvSpPr>
          <p:cNvPr id="22" name="矩形: 圆角 21">
            <a:extLst>
              <a:ext uri="{FF2B5EF4-FFF2-40B4-BE49-F238E27FC236}">
                <a16:creationId xmlns:a16="http://schemas.microsoft.com/office/drawing/2014/main" id="{3A608A28-93F8-9D5D-35D6-CB0137228262}"/>
              </a:ext>
            </a:extLst>
          </p:cNvPr>
          <p:cNvSpPr/>
          <p:nvPr/>
        </p:nvSpPr>
        <p:spPr>
          <a:xfrm>
            <a:off x="8932098" y="3483310"/>
            <a:ext cx="780862" cy="340519"/>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en-US" altLang="zh-CN" sz="1400" dirty="0">
                <a:latin typeface="微软雅黑" panose="020B0503020204020204" pitchFamily="34" charset="-122"/>
                <a:ea typeface="微软雅黑" panose="020B0503020204020204" pitchFamily="34" charset="-122"/>
              </a:rPr>
              <a:t>QAOA</a:t>
            </a:r>
            <a:endParaRPr lang="zh-CN" altLang="en-US" sz="1400" dirty="0">
              <a:latin typeface="微软雅黑" panose="020B0503020204020204" pitchFamily="34" charset="-122"/>
              <a:ea typeface="微软雅黑" panose="020B0503020204020204" pitchFamily="34" charset="-122"/>
            </a:endParaRPr>
          </a:p>
        </p:txBody>
      </p:sp>
      <p:sp>
        <p:nvSpPr>
          <p:cNvPr id="24" name="矩形: 圆角 23">
            <a:extLst>
              <a:ext uri="{FF2B5EF4-FFF2-40B4-BE49-F238E27FC236}">
                <a16:creationId xmlns:a16="http://schemas.microsoft.com/office/drawing/2014/main" id="{3C57B15F-90F8-9C6A-E0E0-27D37DAC051A}"/>
              </a:ext>
            </a:extLst>
          </p:cNvPr>
          <p:cNvSpPr/>
          <p:nvPr/>
        </p:nvSpPr>
        <p:spPr>
          <a:xfrm>
            <a:off x="9798358" y="3483310"/>
            <a:ext cx="585162" cy="340519"/>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en-US" altLang="zh-CN" sz="1400" dirty="0">
                <a:latin typeface="微软雅黑" panose="020B0503020204020204" pitchFamily="34" charset="-122"/>
                <a:ea typeface="微软雅黑" panose="020B0503020204020204" pitchFamily="34" charset="-122"/>
              </a:rPr>
              <a:t>HHL</a:t>
            </a:r>
            <a:endParaRPr lang="zh-CN" altLang="en-US" sz="1400" dirty="0">
              <a:latin typeface="微软雅黑" panose="020B0503020204020204" pitchFamily="34" charset="-122"/>
              <a:ea typeface="微软雅黑" panose="020B0503020204020204" pitchFamily="34" charset="-122"/>
            </a:endParaRPr>
          </a:p>
        </p:txBody>
      </p:sp>
      <p:sp>
        <p:nvSpPr>
          <p:cNvPr id="26" name="矩形: 圆角 25">
            <a:extLst>
              <a:ext uri="{FF2B5EF4-FFF2-40B4-BE49-F238E27FC236}">
                <a16:creationId xmlns:a16="http://schemas.microsoft.com/office/drawing/2014/main" id="{98B48972-94E4-203B-64EF-C4B2030A44A0}"/>
              </a:ext>
            </a:extLst>
          </p:cNvPr>
          <p:cNvSpPr/>
          <p:nvPr/>
        </p:nvSpPr>
        <p:spPr>
          <a:xfrm>
            <a:off x="10447867" y="3491569"/>
            <a:ext cx="1188000" cy="324000"/>
          </a:xfrm>
          <a:prstGeom prst="roundRect">
            <a:avLst/>
          </a:prstGeom>
        </p:spPr>
        <p:style>
          <a:lnRef idx="2">
            <a:schemeClr val="accent1"/>
          </a:lnRef>
          <a:fillRef idx="1">
            <a:schemeClr val="lt1"/>
          </a:fillRef>
          <a:effectRef idx="0">
            <a:schemeClr val="accent1"/>
          </a:effectRef>
          <a:fontRef idx="minor">
            <a:schemeClr val="dk1"/>
          </a:fontRef>
        </p:style>
        <p:txBody>
          <a:bodyPr wrap="square" lIns="0" rIns="0" rtlCol="0" anchor="ctr">
            <a:spAutoFit/>
          </a:bodyPr>
          <a:lstStyle/>
          <a:p>
            <a:pPr algn="ctr"/>
            <a:r>
              <a:rPr lang="zh-CN" altLang="en-US" sz="1400" dirty="0">
                <a:latin typeface="微软雅黑" panose="020B0503020204020204" pitchFamily="34" charset="-122"/>
                <a:ea typeface="微软雅黑" panose="020B0503020204020204" pitchFamily="34" charset="-122"/>
              </a:rPr>
              <a:t>量子机器学习</a:t>
            </a:r>
          </a:p>
        </p:txBody>
      </p:sp>
      <p:pic>
        <p:nvPicPr>
          <p:cNvPr id="28" name="图片 27">
            <a:extLst>
              <a:ext uri="{FF2B5EF4-FFF2-40B4-BE49-F238E27FC236}">
                <a16:creationId xmlns:a16="http://schemas.microsoft.com/office/drawing/2014/main" id="{5AB6BF79-FC62-A69C-AB0A-3A7953F05A25}"/>
              </a:ext>
            </a:extLst>
          </p:cNvPr>
          <p:cNvPicPr>
            <a:picLocks noChangeAspect="1"/>
          </p:cNvPicPr>
          <p:nvPr/>
        </p:nvPicPr>
        <p:blipFill>
          <a:blip r:embed="rId3"/>
          <a:srcRect l="2237" t="38148" r="1299" b="41111"/>
          <a:stretch>
            <a:fillRect/>
          </a:stretch>
        </p:blipFill>
        <p:spPr>
          <a:xfrm>
            <a:off x="279401" y="3951107"/>
            <a:ext cx="11323321" cy="1371040"/>
          </a:xfrm>
          <a:prstGeom prst="rect">
            <a:avLst/>
          </a:prstGeom>
        </p:spPr>
      </p:pic>
      <p:graphicFrame>
        <p:nvGraphicFramePr>
          <p:cNvPr id="6" name="表格 5">
            <a:extLst>
              <a:ext uri="{FF2B5EF4-FFF2-40B4-BE49-F238E27FC236}">
                <a16:creationId xmlns:a16="http://schemas.microsoft.com/office/drawing/2014/main" id="{EA73591B-5637-49F3-16E0-89BDC4B9EAD9}"/>
              </a:ext>
            </a:extLst>
          </p:cNvPr>
          <p:cNvGraphicFramePr>
            <a:graphicFrameLocks noGrp="1"/>
          </p:cNvGraphicFramePr>
          <p:nvPr>
            <p:extLst>
              <p:ext uri="{D42A27DB-BD31-4B8C-83A1-F6EECF244321}">
                <p14:modId xmlns:p14="http://schemas.microsoft.com/office/powerpoint/2010/main" val="3278890364"/>
              </p:ext>
            </p:extLst>
          </p:nvPr>
        </p:nvGraphicFramePr>
        <p:xfrm>
          <a:off x="254000" y="2357966"/>
          <a:ext cx="11290300" cy="3077634"/>
        </p:xfrm>
        <a:graphic>
          <a:graphicData uri="http://schemas.openxmlformats.org/drawingml/2006/table">
            <a:tbl>
              <a:tblPr firstRow="1" bandRow="1">
                <a:effectLst>
                  <a:outerShdw blurRad="50800" dist="38100" dir="2700000" algn="tl" rotWithShape="0">
                    <a:prstClr val="black">
                      <a:alpha val="40000"/>
                    </a:prstClr>
                  </a:outerShdw>
                </a:effectLst>
                <a:tableStyleId>{2D5ABB26-0587-4C30-8999-92F81FD0307C}</a:tableStyleId>
              </a:tblPr>
              <a:tblGrid>
                <a:gridCol w="2868507">
                  <a:extLst>
                    <a:ext uri="{9D8B030D-6E8A-4147-A177-3AD203B41FA5}">
                      <a16:colId xmlns:a16="http://schemas.microsoft.com/office/drawing/2014/main" val="3573335320"/>
                    </a:ext>
                  </a:extLst>
                </a:gridCol>
                <a:gridCol w="2790613">
                  <a:extLst>
                    <a:ext uri="{9D8B030D-6E8A-4147-A177-3AD203B41FA5}">
                      <a16:colId xmlns:a16="http://schemas.microsoft.com/office/drawing/2014/main" val="2144760075"/>
                    </a:ext>
                  </a:extLst>
                </a:gridCol>
                <a:gridCol w="2797387">
                  <a:extLst>
                    <a:ext uri="{9D8B030D-6E8A-4147-A177-3AD203B41FA5}">
                      <a16:colId xmlns:a16="http://schemas.microsoft.com/office/drawing/2014/main" val="2054905034"/>
                    </a:ext>
                  </a:extLst>
                </a:gridCol>
                <a:gridCol w="2833793">
                  <a:extLst>
                    <a:ext uri="{9D8B030D-6E8A-4147-A177-3AD203B41FA5}">
                      <a16:colId xmlns:a16="http://schemas.microsoft.com/office/drawing/2014/main" val="4108375566"/>
                    </a:ext>
                  </a:extLst>
                </a:gridCol>
              </a:tblGrid>
              <a:tr h="3077634">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2000" b="1" kern="1200" noProof="0" dirty="0">
                          <a:solidFill>
                            <a:schemeClr val="accent5">
                              <a:lumMod val="75000"/>
                            </a:schemeClr>
                          </a:solidFill>
                          <a:latin typeface="微软雅黑" panose="020B0503020204020204" pitchFamily="34" charset="-122"/>
                          <a:ea typeface="微软雅黑" panose="020B0503020204020204" pitchFamily="34" charset="-122"/>
                        </a:rPr>
                        <a:t>①周期</a:t>
                      </a:r>
                      <a:r>
                        <a:rPr lang="en-US" altLang="zh-CN" sz="2000" b="1" kern="1200" noProof="0"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000" b="1" kern="1200" noProof="0" dirty="0">
                          <a:solidFill>
                            <a:schemeClr val="accent5">
                              <a:lumMod val="75000"/>
                            </a:schemeClr>
                          </a:solidFill>
                          <a:latin typeface="微软雅黑" panose="020B0503020204020204" pitchFamily="34" charset="-122"/>
                          <a:ea typeface="微软雅黑" panose="020B0503020204020204" pitchFamily="34" charset="-122"/>
                        </a:rPr>
                        <a:t>相位</a:t>
                      </a:r>
                      <a:r>
                        <a:rPr lang="en-US" altLang="zh-CN" sz="2000" b="1" kern="1200" noProof="0"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000" b="1" kern="1200" noProof="0" dirty="0">
                          <a:solidFill>
                            <a:schemeClr val="accent5">
                              <a:lumMod val="75000"/>
                            </a:schemeClr>
                          </a:solidFill>
                          <a:latin typeface="微软雅黑" panose="020B0503020204020204" pitchFamily="34" charset="-122"/>
                          <a:ea typeface="微软雅黑" panose="020B0503020204020204" pitchFamily="34" charset="-122"/>
                        </a:rPr>
                        <a:t>代数结构</a:t>
                      </a:r>
                      <a:endParaRPr lang="en-US" altLang="zh-CN" sz="2000" b="1" kern="1200" noProof="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1600" b="0" kern="1200" noProof="0" dirty="0">
                          <a:solidFill>
                            <a:schemeClr val="tx1"/>
                          </a:solidFill>
                          <a:latin typeface="微软雅黑" panose="020B0503020204020204" pitchFamily="34" charset="-122"/>
                          <a:ea typeface="微软雅黑" panose="020B0503020204020204" pitchFamily="34" charset="-122"/>
                        </a:rPr>
                        <a:t>利用叠加干涉提取周期相位等全局结构</a:t>
                      </a:r>
                    </a:p>
                    <a:p>
                      <a:endParaRPr lang="zh-CN" altLang="en-US" dirty="0">
                        <a:latin typeface="微软雅黑" panose="020B0503020204020204" pitchFamily="34" charset="-122"/>
                        <a:ea typeface="微软雅黑" panose="020B0503020204020204" pitchFamily="34" charset="-122"/>
                      </a:endParaRPr>
                    </a:p>
                  </a:txBody>
                  <a:tcPr>
                    <a:lnL>
                      <a:noFill/>
                    </a:lnL>
                    <a:lnR w="12700" cap="flat" cmpd="sng" algn="ctr">
                      <a:solidFill>
                        <a:schemeClr val="accent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2000" b="1" kern="1200" noProof="0" dirty="0">
                          <a:solidFill>
                            <a:schemeClr val="accent5">
                              <a:lumMod val="75000"/>
                            </a:schemeClr>
                          </a:solidFill>
                          <a:latin typeface="微软雅黑" panose="020B0503020204020204" pitchFamily="34" charset="-122"/>
                          <a:ea typeface="微软雅黑" panose="020B0503020204020204" pitchFamily="34" charset="-122"/>
                        </a:rPr>
                        <a:t>②搜索</a:t>
                      </a:r>
                      <a:r>
                        <a:rPr lang="en-US" altLang="zh-CN" sz="2000" b="1" kern="1200" noProof="0"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000" b="1" kern="1200" noProof="0" dirty="0">
                          <a:solidFill>
                            <a:schemeClr val="accent5">
                              <a:lumMod val="75000"/>
                            </a:schemeClr>
                          </a:solidFill>
                          <a:latin typeface="微软雅黑" panose="020B0503020204020204" pitchFamily="34" charset="-122"/>
                          <a:ea typeface="微软雅黑" panose="020B0503020204020204" pitchFamily="34" charset="-122"/>
                        </a:rPr>
                        <a:t>概率估计</a:t>
                      </a:r>
                      <a:endParaRPr lang="en-US" altLang="zh-CN" sz="2000" b="1" kern="1200" noProof="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1600" b="0" kern="1200" noProof="0" dirty="0">
                          <a:solidFill>
                            <a:schemeClr val="tx1"/>
                          </a:solidFill>
                          <a:latin typeface="微软雅黑" panose="020B0503020204020204" pitchFamily="34" charset="-122"/>
                          <a:ea typeface="微软雅黑" panose="020B0503020204020204" pitchFamily="34" charset="-122"/>
                        </a:rPr>
                        <a:t>利用振幅放大提高目标状态的采样概率</a:t>
                      </a:r>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2000" b="1" kern="1200" noProof="0" dirty="0">
                          <a:solidFill>
                            <a:schemeClr val="accent5">
                              <a:lumMod val="75000"/>
                            </a:schemeClr>
                          </a:solidFill>
                          <a:latin typeface="微软雅黑" panose="020B0503020204020204" pitchFamily="34" charset="-122"/>
                          <a:ea typeface="微软雅黑" panose="020B0503020204020204" pitchFamily="34" charset="-122"/>
                        </a:rPr>
                        <a:t>③量子系统模拟</a:t>
                      </a:r>
                      <a:endParaRPr lang="en-US" altLang="zh-CN" sz="2000" b="1" kern="1200" noProof="0" dirty="0">
                        <a:solidFill>
                          <a:schemeClr val="accent5">
                            <a:lumMod val="7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1600" b="0" kern="1200" noProof="0" dirty="0">
                          <a:solidFill>
                            <a:schemeClr val="tx1"/>
                          </a:solidFill>
                          <a:latin typeface="微软雅黑" panose="020B0503020204020204" pitchFamily="34" charset="-122"/>
                          <a:ea typeface="微软雅黑" panose="020B0503020204020204" pitchFamily="34" charset="-122"/>
                        </a:rPr>
                        <a:t>利用量子计算机自然模拟量子多体系统的演化</a:t>
                      </a:r>
                      <a:endParaRPr lang="zh-CN" altLang="en-US" sz="1600" dirty="0">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2000" b="1" kern="1200" noProof="0" dirty="0">
                          <a:solidFill>
                            <a:schemeClr val="accent5">
                              <a:lumMod val="75000"/>
                            </a:schemeClr>
                          </a:solidFill>
                          <a:latin typeface="微软雅黑" panose="020B0503020204020204" pitchFamily="34" charset="-122"/>
                          <a:ea typeface="微软雅黑" panose="020B0503020204020204" pitchFamily="34" charset="-122"/>
                        </a:rPr>
                        <a:t>④优化</a:t>
                      </a:r>
                      <a:r>
                        <a:rPr lang="en-US" altLang="zh-CN" sz="2000" b="1" kern="1200" noProof="0"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000" b="1" kern="1200" noProof="0" dirty="0">
                          <a:solidFill>
                            <a:schemeClr val="accent5">
                              <a:lumMod val="75000"/>
                            </a:schemeClr>
                          </a:solidFill>
                          <a:latin typeface="微软雅黑" panose="020B0503020204020204" pitchFamily="34" charset="-122"/>
                          <a:ea typeface="微软雅黑" panose="020B0503020204020204" pitchFamily="34" charset="-122"/>
                        </a:rPr>
                        <a:t>科学计算</a:t>
                      </a:r>
                      <a:r>
                        <a:rPr lang="en-US" altLang="zh-CN" sz="2000" b="1" kern="1200" noProof="0" dirty="0">
                          <a:solidFill>
                            <a:schemeClr val="accent5">
                              <a:lumMod val="75000"/>
                            </a:schemeClr>
                          </a:solidFill>
                          <a:latin typeface="微软雅黑" panose="020B0503020204020204" pitchFamily="34" charset="-122"/>
                          <a:ea typeface="微软雅黑" panose="020B0503020204020204" pitchFamily="34" charset="-122"/>
                        </a:rPr>
                        <a:t>/AI</a:t>
                      </a:r>
                    </a:p>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1600" b="0" kern="1200" noProof="0" dirty="0">
                          <a:solidFill>
                            <a:schemeClr val="tx1"/>
                          </a:solidFill>
                          <a:latin typeface="微软雅黑" panose="020B0503020204020204" pitchFamily="34" charset="-122"/>
                          <a:ea typeface="微软雅黑" panose="020B0503020204020204" pitchFamily="34" charset="-122"/>
                        </a:rPr>
                        <a:t>面向组合优化、线性代数和机器学习等问题</a:t>
                      </a:r>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719390783"/>
                  </a:ext>
                </a:extLst>
              </a:tr>
            </a:tbl>
          </a:graphicData>
        </a:graphic>
      </p:graphicFrame>
      <p:sp>
        <p:nvSpPr>
          <p:cNvPr id="31" name="文本框 30">
            <a:extLst>
              <a:ext uri="{FF2B5EF4-FFF2-40B4-BE49-F238E27FC236}">
                <a16:creationId xmlns:a16="http://schemas.microsoft.com/office/drawing/2014/main" id="{B03BB14F-2068-0FF9-9632-E07E514DA932}"/>
              </a:ext>
            </a:extLst>
          </p:cNvPr>
          <p:cNvSpPr txBox="1"/>
          <p:nvPr/>
        </p:nvSpPr>
        <p:spPr>
          <a:xfrm>
            <a:off x="276225" y="5493619"/>
            <a:ext cx="5553075" cy="397907"/>
          </a:xfrm>
          <a:prstGeom prst="roundRect">
            <a:avLst>
              <a:gd name="adj" fmla="val 12812"/>
            </a:avLst>
          </a:prstGeom>
          <a:solidFill>
            <a:schemeClr val="accent6">
              <a:lumMod val="20000"/>
              <a:lumOff val="80000"/>
            </a:schemeClr>
          </a:solidFill>
          <a:ln>
            <a:solidFill>
              <a:schemeClr val="accent6">
                <a:lumMod val="60000"/>
                <a:lumOff val="40000"/>
              </a:schemeClr>
            </a:solidFill>
          </a:ln>
        </p:spPr>
        <p:txBody>
          <a:bodyPr wrap="square" rtlCol="0">
            <a:spAutoFit/>
          </a:bodyPr>
          <a:lstStyle/>
          <a:p>
            <a:pPr algn="ctr"/>
            <a:r>
              <a:rPr lang="zh-CN" altLang="en-US" dirty="0">
                <a:solidFill>
                  <a:schemeClr val="accent6">
                    <a:lumMod val="50000"/>
                  </a:schemeClr>
                </a:solidFill>
                <a:latin typeface="微软雅黑" panose="020B0503020204020204" pitchFamily="34" charset="-122"/>
                <a:ea typeface="微软雅黑" panose="020B0503020204020204" pitchFamily="34" charset="-122"/>
              </a:rPr>
              <a:t>理论复杂度优势明确</a:t>
            </a:r>
          </a:p>
        </p:txBody>
      </p:sp>
      <p:sp>
        <p:nvSpPr>
          <p:cNvPr id="33" name="文本框 32">
            <a:extLst>
              <a:ext uri="{FF2B5EF4-FFF2-40B4-BE49-F238E27FC236}">
                <a16:creationId xmlns:a16="http://schemas.microsoft.com/office/drawing/2014/main" id="{801F4C49-07E4-73E2-9279-B06017E963B3}"/>
              </a:ext>
            </a:extLst>
          </p:cNvPr>
          <p:cNvSpPr txBox="1"/>
          <p:nvPr/>
        </p:nvSpPr>
        <p:spPr>
          <a:xfrm>
            <a:off x="6000750" y="5493619"/>
            <a:ext cx="5581650" cy="397907"/>
          </a:xfrm>
          <a:prstGeom prst="roundRect">
            <a:avLst>
              <a:gd name="adj" fmla="val 12812"/>
            </a:avLst>
          </a:prstGeom>
          <a:solidFill>
            <a:schemeClr val="accent2">
              <a:lumMod val="20000"/>
              <a:lumOff val="80000"/>
            </a:schemeClr>
          </a:solidFill>
          <a:ln>
            <a:solidFill>
              <a:schemeClr val="accent2"/>
            </a:solidFill>
          </a:ln>
        </p:spPr>
        <p:txBody>
          <a:bodyPr wrap="square" rtlCol="0">
            <a:spAutoFit/>
          </a:bodyPr>
          <a:lstStyle/>
          <a:p>
            <a:pPr algn="ctr"/>
            <a:r>
              <a:rPr lang="zh-CN" altLang="en-US" dirty="0">
                <a:solidFill>
                  <a:schemeClr val="accent2">
                    <a:lumMod val="50000"/>
                  </a:schemeClr>
                </a:solidFill>
                <a:latin typeface="微软雅黑" panose="020B0503020204020204" pitchFamily="34" charset="-122"/>
                <a:ea typeface="微软雅黑" panose="020B0503020204020204" pitchFamily="34" charset="-122"/>
              </a:rPr>
              <a:t>部分可以真机运行，实际计算优势仍在探索</a:t>
            </a:r>
          </a:p>
        </p:txBody>
      </p:sp>
      <p:sp>
        <p:nvSpPr>
          <p:cNvPr id="7" name="文本框 6">
            <a:extLst>
              <a:ext uri="{FF2B5EF4-FFF2-40B4-BE49-F238E27FC236}">
                <a16:creationId xmlns:a16="http://schemas.microsoft.com/office/drawing/2014/main" id="{400CC737-A239-2211-21B1-EE3658EA2FAE}"/>
              </a:ext>
            </a:extLst>
          </p:cNvPr>
          <p:cNvSpPr txBox="1"/>
          <p:nvPr/>
        </p:nvSpPr>
        <p:spPr>
          <a:xfrm>
            <a:off x="868218" y="5966061"/>
            <a:ext cx="10206182" cy="787523"/>
          </a:xfrm>
          <a:prstGeom prst="rect">
            <a:avLst/>
          </a:prstGeom>
          <a:solidFill>
            <a:schemeClr val="accent3">
              <a:lumMod val="20000"/>
              <a:lumOff val="80000"/>
            </a:schemeClr>
          </a:solidFill>
        </p:spPr>
        <p:txBody>
          <a:bodyPr wrap="square">
            <a:spAutoFit/>
          </a:bodyPr>
          <a:lstStyle/>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计算机视角：不同量子算法最终都需要被表示为</a:t>
            </a:r>
            <a:r>
              <a:rPr lang="en-US" altLang="zh-CN" sz="1600" b="1" dirty="0">
                <a:solidFill>
                  <a:schemeClr val="accent5">
                    <a:lumMod val="50000"/>
                  </a:schemeClr>
                </a:solidFill>
                <a:latin typeface="微软雅黑" panose="020B0503020204020204" pitchFamily="34" charset="-122"/>
                <a:ea typeface="微软雅黑" panose="020B0503020204020204" pitchFamily="34" charset="-122"/>
              </a:rPr>
              <a:t>——</a:t>
            </a: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量子线路（程序）</a:t>
            </a:r>
            <a:endParaRPr lang="en-US" altLang="zh-CN" sz="1600" b="1" dirty="0">
              <a:solidFill>
                <a:schemeClr val="accent5">
                  <a:lumMod val="50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经典问题怎么映射到量子程序的输入，量子算法对应的程序怎么写，结果的输出怎么分析。</a:t>
            </a:r>
          </a:p>
        </p:txBody>
      </p:sp>
    </p:spTree>
    <p:extLst>
      <p:ext uri="{BB962C8B-B14F-4D97-AF65-F5344CB8AC3E}">
        <p14:creationId xmlns:p14="http://schemas.microsoft.com/office/powerpoint/2010/main" val="785476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F5A91-EEE8-6CDA-4A4F-BE3E297E4DD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22A587C-24FA-C35C-A4DB-23A175577ECA}"/>
              </a:ext>
            </a:extLst>
          </p:cNvPr>
          <p:cNvSpPr>
            <a:spLocks noGrp="1"/>
          </p:cNvSpPr>
          <p:nvPr>
            <p:ph type="title"/>
          </p:nvPr>
        </p:nvSpPr>
        <p:spPr>
          <a:xfrm>
            <a:off x="166255" y="0"/>
            <a:ext cx="11425670" cy="738893"/>
          </a:xfrm>
        </p:spPr>
        <p:txBody>
          <a:bodyPr>
            <a:normAutofit/>
          </a:bodyPr>
          <a:lstStyle/>
          <a:p>
            <a:r>
              <a:rPr lang="zh-CN" altLang="zh-CN" dirty="0"/>
              <a:t>量子算法：从</a:t>
            </a:r>
            <a:r>
              <a:rPr lang="en-US" altLang="zh-CN" dirty="0" err="1"/>
              <a:t>MaxCut</a:t>
            </a:r>
            <a:r>
              <a:rPr lang="zh-CN" altLang="en-US" dirty="0"/>
              <a:t>问题到</a:t>
            </a:r>
            <a:r>
              <a:rPr lang="en-US" altLang="zh-CN" dirty="0"/>
              <a:t>QAOA</a:t>
            </a:r>
            <a:r>
              <a:rPr lang="zh-CN" altLang="en-US" dirty="0"/>
              <a:t>线路</a:t>
            </a:r>
          </a:p>
        </p:txBody>
      </p:sp>
      <p:sp>
        <p:nvSpPr>
          <p:cNvPr id="8" name="文本框 7">
            <a:extLst>
              <a:ext uri="{FF2B5EF4-FFF2-40B4-BE49-F238E27FC236}">
                <a16:creationId xmlns:a16="http://schemas.microsoft.com/office/drawing/2014/main" id="{AC2D19A3-6E75-00F2-742D-17EE22A2DDF3}"/>
              </a:ext>
            </a:extLst>
          </p:cNvPr>
          <p:cNvSpPr txBox="1"/>
          <p:nvPr/>
        </p:nvSpPr>
        <p:spPr>
          <a:xfrm>
            <a:off x="347152" y="2894978"/>
            <a:ext cx="236219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1600" b="1" kern="1200" noProof="0" dirty="0">
                <a:solidFill>
                  <a:schemeClr val="tx1"/>
                </a:solidFill>
                <a:latin typeface="微软雅黑" panose="020B0503020204020204" pitchFamily="34" charset="-122"/>
                <a:ea typeface="微软雅黑" panose="020B0503020204020204" pitchFamily="34" charset="-122"/>
              </a:rPr>
              <a:t>最大割问题</a:t>
            </a:r>
            <a:r>
              <a:rPr lang="zh-CN" altLang="en-US" sz="1600" b="0" kern="1200" noProof="0" dirty="0">
                <a:solidFill>
                  <a:schemeClr val="tx1"/>
                </a:solidFill>
                <a:latin typeface="微软雅黑" panose="020B0503020204020204" pitchFamily="34" charset="-122"/>
                <a:ea typeface="微软雅黑" panose="020B0503020204020204" pitchFamily="34" charset="-122"/>
              </a:rPr>
              <a:t>：将点分成两组，并使跨组边最多</a:t>
            </a:r>
            <a:endParaRPr lang="en-US" altLang="zh-CN" sz="1600" b="0" kern="1200" noProof="0" dirty="0">
              <a:solidFill>
                <a:schemeClr val="tx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93182A2C-E276-F15A-A7DD-6C8FC6517C95}"/>
              </a:ext>
            </a:extLst>
          </p:cNvPr>
          <p:cNvSpPr/>
          <p:nvPr/>
        </p:nvSpPr>
        <p:spPr>
          <a:xfrm>
            <a:off x="2779432" y="1226802"/>
            <a:ext cx="8709586" cy="5358147"/>
          </a:xfrm>
          <a:prstGeom prst="rect">
            <a:avLst/>
          </a:prstGeom>
          <a:noFill/>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nchor="ctr">
            <a:noAutofit/>
          </a:bodyPr>
          <a:lstStyle/>
          <a:p>
            <a:pPr algn="ctr"/>
            <a:endParaRPr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101214B-4932-06E6-55C2-4985F8DF40BB}"/>
                  </a:ext>
                </a:extLst>
              </p:cNvPr>
              <p:cNvSpPr txBox="1"/>
              <p:nvPr/>
            </p:nvSpPr>
            <p:spPr>
              <a:xfrm>
                <a:off x="298554" y="5017232"/>
                <a:ext cx="2243921" cy="1292662"/>
              </a:xfrm>
              <a:prstGeom prst="rect">
                <a:avLst/>
              </a:prstGeom>
              <a:solidFill>
                <a:schemeClr val="bg1">
                  <a:lumMod val="95000"/>
                </a:schemeClr>
              </a:solid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量子化启示</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量子叠加态可以用</a:t>
                </a:r>
                <a:r>
                  <a:rPr lang="en-US" altLang="zh-CN" sz="1200" dirty="0">
                    <a:latin typeface="微软雅黑" panose="020B0503020204020204" pitchFamily="34" charset="-122"/>
                    <a:ea typeface="微软雅黑" panose="020B0503020204020204" pitchFamily="34" charset="-122"/>
                  </a:rPr>
                  <a:t>n</a:t>
                </a:r>
                <a:r>
                  <a:rPr lang="zh-CN" altLang="en-US" sz="1200" dirty="0">
                    <a:latin typeface="微软雅黑" panose="020B0503020204020204" pitchFamily="34" charset="-122"/>
                    <a:ea typeface="微软雅黑" panose="020B0503020204020204" pitchFamily="34" charset="-122"/>
                  </a:rPr>
                  <a:t>个比特同时表示</a:t>
                </a:r>
                <a14:m>
                  <m:oMath xmlns:m="http://schemas.openxmlformats.org/officeDocument/2006/math">
                    <m:sSup>
                      <m:sSupPr>
                        <m:ctrlPr>
                          <a:rPr lang="en-US" altLang="zh-CN" sz="1200" b="1" i="1">
                            <a:latin typeface="Cambria Math" panose="02040503050406030204" pitchFamily="18" charset="0"/>
                          </a:rPr>
                        </m:ctrlPr>
                      </m:sSupPr>
                      <m:e>
                        <m:r>
                          <a:rPr lang="en-US" altLang="zh-CN" sz="1200" b="1" i="1">
                            <a:latin typeface="Cambria Math" panose="02040503050406030204" pitchFamily="18" charset="0"/>
                          </a:rPr>
                          <m:t>𝟐</m:t>
                        </m:r>
                      </m:e>
                      <m:sup>
                        <m:r>
                          <a:rPr lang="zh-CN" altLang="en-US" sz="1200" b="1" i="1">
                            <a:latin typeface="Cambria Math" panose="02040503050406030204" pitchFamily="18" charset="0"/>
                          </a:rPr>
                          <m:t>𝒏</m:t>
                        </m:r>
                      </m:sup>
                    </m:sSup>
                  </m:oMath>
                </a14:m>
                <a:r>
                  <a:rPr lang="zh-CN" altLang="en-US" sz="1200" dirty="0">
                    <a:latin typeface="微软雅黑" panose="020B0503020204020204" pitchFamily="34" charset="-122"/>
                    <a:ea typeface="微软雅黑" panose="020B0503020204020204" pitchFamily="34" charset="-122"/>
                  </a:rPr>
                  <a:t>种分组方案；</a:t>
                </a:r>
                <a:endParaRPr lang="en-US" altLang="zh-CN" sz="12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通过操控改变量子态的概率分布，使高质量候选解更有机会被采样。</a:t>
                </a:r>
                <a:endParaRPr lang="en-US" altLang="zh-CN" sz="1200" dirty="0">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F101214B-4932-06E6-55C2-4985F8DF40BB}"/>
                  </a:ext>
                </a:extLst>
              </p:cNvPr>
              <p:cNvSpPr txBox="1">
                <a:spLocks noRot="1" noChangeAspect="1" noMove="1" noResize="1" noEditPoints="1" noAdjustHandles="1" noChangeArrowheads="1" noChangeShapeType="1" noTextEdit="1"/>
              </p:cNvSpPr>
              <p:nvPr/>
            </p:nvSpPr>
            <p:spPr>
              <a:xfrm>
                <a:off x="298554" y="5017232"/>
                <a:ext cx="2243921" cy="1292662"/>
              </a:xfrm>
              <a:prstGeom prst="rect">
                <a:avLst/>
              </a:prstGeom>
              <a:blipFill>
                <a:blip r:embed="rId3"/>
                <a:stretch>
                  <a:fillRect t="-2358" b="-2830"/>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29F2860A-3635-7300-0099-4F80193D80E6}"/>
              </a:ext>
            </a:extLst>
          </p:cNvPr>
          <p:cNvSpPr txBox="1"/>
          <p:nvPr/>
        </p:nvSpPr>
        <p:spPr>
          <a:xfrm>
            <a:off x="3221999" y="1277588"/>
            <a:ext cx="1905352" cy="9694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2000" b="1" kern="1200" noProof="0" dirty="0">
                <a:solidFill>
                  <a:schemeClr val="accent1">
                    <a:lumMod val="75000"/>
                  </a:schemeClr>
                </a:solidFill>
                <a:latin typeface="微软雅黑" panose="020B0503020204020204" pitchFamily="34" charset="-122"/>
                <a:ea typeface="微软雅黑" panose="020B0503020204020204" pitchFamily="34" charset="-122"/>
              </a:rPr>
              <a:t>①</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编码</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把所有可能解通过量子叠加态表示</a:t>
            </a:r>
            <a:endParaRPr lang="en-US" altLang="zh-CN" sz="16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D759BBF6-B01A-AE3D-CF40-71C901BDED01}"/>
              </a:ext>
            </a:extLst>
          </p:cNvPr>
          <p:cNvSpPr txBox="1"/>
          <p:nvPr/>
        </p:nvSpPr>
        <p:spPr>
          <a:xfrm>
            <a:off x="5477532" y="1277588"/>
            <a:ext cx="3160903" cy="12157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2000" b="1" kern="1200" noProof="0" dirty="0">
                <a:solidFill>
                  <a:schemeClr val="accent1">
                    <a:lumMod val="75000"/>
                  </a:schemeClr>
                </a:solidFill>
                <a:latin typeface="微软雅黑" panose="020B0503020204020204" pitchFamily="34" charset="-122"/>
                <a:ea typeface="微软雅黑" panose="020B0503020204020204" pitchFamily="34" charset="-122"/>
              </a:rPr>
              <a:t>②</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操控调整候选解的概率</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通过编码问题结构和解评价函数、构造演化层，使得高质量解概率更高</a:t>
            </a:r>
            <a:endParaRPr lang="en-US" altLang="zh-CN" sz="16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7EEA5A1C-68DA-6E35-B5D8-D61321232A16}"/>
              </a:ext>
            </a:extLst>
          </p:cNvPr>
          <p:cNvSpPr txBox="1"/>
          <p:nvPr/>
        </p:nvSpPr>
        <p:spPr>
          <a:xfrm>
            <a:off x="8751286" y="1277588"/>
            <a:ext cx="2737732" cy="9694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2000" b="1" kern="1200" noProof="0" dirty="0">
                <a:solidFill>
                  <a:schemeClr val="accent1">
                    <a:lumMod val="75000"/>
                  </a:schemeClr>
                </a:solidFill>
                <a:latin typeface="微软雅黑" panose="020B0503020204020204" pitchFamily="34" charset="-122"/>
                <a:ea typeface="微软雅黑" panose="020B0503020204020204" pitchFamily="34" charset="-122"/>
              </a:rPr>
              <a:t>③</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测量与经典评估</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zh-CN" altLang="en-US" sz="1600" dirty="0">
                <a:solidFill>
                  <a:schemeClr val="accent1">
                    <a:lumMod val="75000"/>
                  </a:schemeClr>
                </a:solidFill>
                <a:latin typeface="微软雅黑" panose="020B0503020204020204" pitchFamily="34" charset="-122"/>
                <a:ea typeface="微软雅黑" panose="020B0503020204020204" pitchFamily="34" charset="-122"/>
              </a:rPr>
              <a:t>在经典计算机上评估各候选解，并选取高质量解。</a:t>
            </a:r>
            <a:endParaRPr lang="en-US" altLang="zh-CN" sz="1600"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371A739A-46E6-7913-7B69-F57D5F2306C2}"/>
              </a:ext>
            </a:extLst>
          </p:cNvPr>
          <p:cNvSpPr txBox="1"/>
          <p:nvPr/>
        </p:nvSpPr>
        <p:spPr>
          <a:xfrm>
            <a:off x="8961186" y="2492742"/>
            <a:ext cx="2228982" cy="523220"/>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高概率候选解示例：</a:t>
            </a:r>
            <a:r>
              <a:rPr lang="en-US" altLang="zh-CN" sz="1400" b="1" dirty="0">
                <a:latin typeface="微软雅黑" panose="020B0503020204020204" pitchFamily="34" charset="-122"/>
                <a:ea typeface="微软雅黑" panose="020B0503020204020204" pitchFamily="34" charset="-122"/>
              </a:rPr>
              <a:t>01001</a:t>
            </a:r>
            <a:endParaRPr lang="zh-CN" altLang="en-US" sz="1600" dirty="0"/>
          </a:p>
        </p:txBody>
      </p:sp>
      <p:pic>
        <p:nvPicPr>
          <p:cNvPr id="5" name="图片 4">
            <a:extLst>
              <a:ext uri="{FF2B5EF4-FFF2-40B4-BE49-F238E27FC236}">
                <a16:creationId xmlns:a16="http://schemas.microsoft.com/office/drawing/2014/main" id="{B712CE0F-995A-E453-C457-8A503846C4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553" y="1543161"/>
            <a:ext cx="1656265" cy="1244512"/>
          </a:xfrm>
          <a:prstGeom prst="rect">
            <a:avLst/>
          </a:prstGeom>
        </p:spPr>
      </p:pic>
      <p:pic>
        <p:nvPicPr>
          <p:cNvPr id="12" name="图片 11">
            <a:extLst>
              <a:ext uri="{FF2B5EF4-FFF2-40B4-BE49-F238E27FC236}">
                <a16:creationId xmlns:a16="http://schemas.microsoft.com/office/drawing/2014/main" id="{6D055D9B-3C33-6E55-B19A-BB579105EA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004" y="3437416"/>
            <a:ext cx="1929201" cy="531229"/>
          </a:xfrm>
          <a:prstGeom prst="rect">
            <a:avLst/>
          </a:prstGeom>
        </p:spPr>
      </p:pic>
      <p:pic>
        <p:nvPicPr>
          <p:cNvPr id="15" name="图片 14">
            <a:extLst>
              <a:ext uri="{FF2B5EF4-FFF2-40B4-BE49-F238E27FC236}">
                <a16:creationId xmlns:a16="http://schemas.microsoft.com/office/drawing/2014/main" id="{CA232A0E-A676-3143-4CF8-07A8976EF6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6569" y="3993782"/>
            <a:ext cx="1942507" cy="439813"/>
          </a:xfrm>
          <a:prstGeom prst="rect">
            <a:avLst/>
          </a:prstGeom>
        </p:spPr>
      </p:pic>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A544F548-4634-1166-91B1-C510D05CAE22}"/>
                  </a:ext>
                </a:extLst>
              </p:cNvPr>
              <p:cNvSpPr txBox="1"/>
              <p:nvPr/>
            </p:nvSpPr>
            <p:spPr>
              <a:xfrm>
                <a:off x="240170" y="4488721"/>
                <a:ext cx="2362199" cy="338554"/>
              </a:xfrm>
              <a:prstGeom prst="rect">
                <a:avLst/>
              </a:prstGeom>
              <a:noFill/>
            </p:spPr>
            <p:txBody>
              <a:bodyPr wrap="square">
                <a:spAutoFit/>
              </a:bodyPr>
              <a:lstStyle/>
              <a:p>
                <a:pPr lvl="0" algn="ctr">
                  <a:spcAft>
                    <a:spcPts val="600"/>
                  </a:spcAft>
                  <a:defRPr/>
                </a:pPr>
                <a14:m>
                  <m:oMath xmlns:m="http://schemas.openxmlformats.org/officeDocument/2006/math">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𝟐</m:t>
                        </m:r>
                      </m:e>
                      <m:sup>
                        <m:r>
                          <a:rPr lang="zh-CN" altLang="en-US" sz="1600" b="1" i="1">
                            <a:latin typeface="Cambria Math" panose="02040503050406030204" pitchFamily="18" charset="0"/>
                          </a:rPr>
                          <m:t>𝒏</m:t>
                        </m:r>
                      </m:sup>
                    </m:sSup>
                  </m:oMath>
                </a14:m>
                <a:r>
                  <a:rPr lang="zh-CN" altLang="en-US" sz="1600" b="1" dirty="0">
                    <a:latin typeface="微软雅黑" panose="020B0503020204020204" pitchFamily="34" charset="-122"/>
                    <a:ea typeface="微软雅黑" panose="020B0503020204020204" pitchFamily="34" charset="-122"/>
                  </a:rPr>
                  <a:t>种方案，</a:t>
                </a:r>
                <a:r>
                  <a:rPr lang="en-US" altLang="zh-CN" sz="1600" b="1" kern="1200" noProof="0" dirty="0">
                    <a:solidFill>
                      <a:schemeClr val="tx1"/>
                    </a:solidFill>
                    <a:latin typeface="微软雅黑" panose="020B0503020204020204" pitchFamily="34" charset="-122"/>
                    <a:ea typeface="微软雅黑" panose="020B0503020204020204" pitchFamily="34" charset="-122"/>
                  </a:rPr>
                  <a:t>NP</a:t>
                </a:r>
                <a:r>
                  <a:rPr lang="zh-CN" altLang="en-US" sz="1600" b="1" kern="1200" noProof="0" dirty="0">
                    <a:solidFill>
                      <a:schemeClr val="tx1"/>
                    </a:solidFill>
                    <a:latin typeface="微软雅黑" panose="020B0503020204020204" pitchFamily="34" charset="-122"/>
                    <a:ea typeface="微软雅黑" panose="020B0503020204020204" pitchFamily="34" charset="-122"/>
                  </a:rPr>
                  <a:t>问题</a:t>
                </a:r>
                <a:endParaRPr lang="en-US" altLang="zh-CN" sz="1600" b="1" kern="1200" noProof="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9" name="文本框 18">
                <a:extLst>
                  <a:ext uri="{FF2B5EF4-FFF2-40B4-BE49-F238E27FC236}">
                    <a16:creationId xmlns:a16="http://schemas.microsoft.com/office/drawing/2014/main" id="{A544F548-4634-1166-91B1-C510D05CAE22}"/>
                  </a:ext>
                </a:extLst>
              </p:cNvPr>
              <p:cNvSpPr txBox="1">
                <a:spLocks noRot="1" noChangeAspect="1" noMove="1" noResize="1" noEditPoints="1" noAdjustHandles="1" noChangeArrowheads="1" noChangeShapeType="1" noTextEdit="1"/>
              </p:cNvSpPr>
              <p:nvPr/>
            </p:nvSpPr>
            <p:spPr>
              <a:xfrm>
                <a:off x="240170" y="4488721"/>
                <a:ext cx="2362199" cy="338554"/>
              </a:xfrm>
              <a:prstGeom prst="rect">
                <a:avLst/>
              </a:prstGeom>
              <a:blipFill>
                <a:blip r:embed="rId7"/>
                <a:stretch>
                  <a:fillRect t="-5357" b="-21429"/>
                </a:stretch>
              </a:blipFill>
            </p:spPr>
            <p:txBody>
              <a:bodyPr/>
              <a:lstStyle/>
              <a:p>
                <a:r>
                  <a:rPr lang="zh-CN" altLang="en-US">
                    <a:noFill/>
                  </a:rPr>
                  <a:t> </a:t>
                </a:r>
              </a:p>
            </p:txBody>
          </p:sp>
        </mc:Fallback>
      </mc:AlternateContent>
      <p:pic>
        <p:nvPicPr>
          <p:cNvPr id="44" name="图片 43">
            <a:extLst>
              <a:ext uri="{FF2B5EF4-FFF2-40B4-BE49-F238E27FC236}">
                <a16:creationId xmlns:a16="http://schemas.microsoft.com/office/drawing/2014/main" id="{D7AF956D-F600-9110-28B3-D4FF5E2F23DD}"/>
              </a:ext>
            </a:extLst>
          </p:cNvPr>
          <p:cNvPicPr>
            <a:picLocks noChangeAspect="1"/>
          </p:cNvPicPr>
          <p:nvPr/>
        </p:nvPicPr>
        <p:blipFill>
          <a:blip r:embed="rId8"/>
          <a:srcRect l="21131" t="52539" r="53908" b="27610"/>
          <a:stretch>
            <a:fillRect/>
          </a:stretch>
        </p:blipFill>
        <p:spPr>
          <a:xfrm>
            <a:off x="3041651" y="3938560"/>
            <a:ext cx="2209799" cy="989039"/>
          </a:xfrm>
          <a:prstGeom prst="rect">
            <a:avLst/>
          </a:prstGeom>
        </p:spPr>
      </p:pic>
      <p:pic>
        <p:nvPicPr>
          <p:cNvPr id="46" name="图片 45">
            <a:extLst>
              <a:ext uri="{FF2B5EF4-FFF2-40B4-BE49-F238E27FC236}">
                <a16:creationId xmlns:a16="http://schemas.microsoft.com/office/drawing/2014/main" id="{453035F2-B4F2-CBAE-D791-EBC0AE7BE2E2}"/>
              </a:ext>
            </a:extLst>
          </p:cNvPr>
          <p:cNvPicPr>
            <a:picLocks noChangeAspect="1"/>
          </p:cNvPicPr>
          <p:nvPr/>
        </p:nvPicPr>
        <p:blipFill>
          <a:blip r:embed="rId8"/>
          <a:srcRect l="47348" t="25116" r="26756" b="47920"/>
          <a:stretch>
            <a:fillRect/>
          </a:stretch>
        </p:blipFill>
        <p:spPr>
          <a:xfrm>
            <a:off x="6000750" y="2405288"/>
            <a:ext cx="2266950" cy="1328512"/>
          </a:xfrm>
          <a:prstGeom prst="rect">
            <a:avLst/>
          </a:prstGeom>
        </p:spPr>
      </p:pic>
      <p:pic>
        <p:nvPicPr>
          <p:cNvPr id="48" name="图片 47">
            <a:extLst>
              <a:ext uri="{FF2B5EF4-FFF2-40B4-BE49-F238E27FC236}">
                <a16:creationId xmlns:a16="http://schemas.microsoft.com/office/drawing/2014/main" id="{7F6E8F25-9129-8D0D-E4F2-65CD0598BD78}"/>
              </a:ext>
            </a:extLst>
          </p:cNvPr>
          <p:cNvPicPr>
            <a:picLocks noChangeAspect="1"/>
          </p:cNvPicPr>
          <p:nvPr/>
        </p:nvPicPr>
        <p:blipFill>
          <a:blip r:embed="rId8"/>
          <a:srcRect l="46895" t="51162" r="26499" b="27152"/>
          <a:stretch>
            <a:fillRect/>
          </a:stretch>
        </p:blipFill>
        <p:spPr>
          <a:xfrm>
            <a:off x="5753100" y="3863774"/>
            <a:ext cx="2457450" cy="1127325"/>
          </a:xfrm>
          <a:prstGeom prst="rect">
            <a:avLst/>
          </a:prstGeom>
        </p:spPr>
      </p:pic>
      <p:pic>
        <p:nvPicPr>
          <p:cNvPr id="50" name="图片 49">
            <a:extLst>
              <a:ext uri="{FF2B5EF4-FFF2-40B4-BE49-F238E27FC236}">
                <a16:creationId xmlns:a16="http://schemas.microsoft.com/office/drawing/2014/main" id="{2B27A7A7-869F-79C9-6B05-5EE62776A037}"/>
              </a:ext>
            </a:extLst>
          </p:cNvPr>
          <p:cNvPicPr>
            <a:picLocks noChangeAspect="1"/>
          </p:cNvPicPr>
          <p:nvPr/>
        </p:nvPicPr>
        <p:blipFill>
          <a:blip r:embed="rId8"/>
          <a:srcRect l="24422" t="79961" r="20752" b="1680"/>
          <a:stretch>
            <a:fillRect/>
          </a:stretch>
        </p:blipFill>
        <p:spPr>
          <a:xfrm>
            <a:off x="4749800" y="5397500"/>
            <a:ext cx="5391150" cy="1016000"/>
          </a:xfrm>
          <a:prstGeom prst="rect">
            <a:avLst/>
          </a:prstGeom>
        </p:spPr>
      </p:pic>
      <p:pic>
        <p:nvPicPr>
          <p:cNvPr id="52" name="图片 51">
            <a:extLst>
              <a:ext uri="{FF2B5EF4-FFF2-40B4-BE49-F238E27FC236}">
                <a16:creationId xmlns:a16="http://schemas.microsoft.com/office/drawing/2014/main" id="{9F185F69-38EC-FBAF-E00B-A176FDD6E369}"/>
              </a:ext>
            </a:extLst>
          </p:cNvPr>
          <p:cNvPicPr>
            <a:picLocks noChangeAspect="1"/>
          </p:cNvPicPr>
          <p:nvPr/>
        </p:nvPicPr>
        <p:blipFill>
          <a:blip r:embed="rId8"/>
          <a:srcRect l="76019" t="55176" r="12615" b="23022"/>
          <a:stretch>
            <a:fillRect/>
          </a:stretch>
        </p:blipFill>
        <p:spPr>
          <a:xfrm>
            <a:off x="9555019" y="3520855"/>
            <a:ext cx="1022350" cy="1103673"/>
          </a:xfrm>
          <a:prstGeom prst="rect">
            <a:avLst/>
          </a:prstGeom>
        </p:spPr>
      </p:pic>
      <p:pic>
        <p:nvPicPr>
          <p:cNvPr id="54" name="图片 53">
            <a:extLst>
              <a:ext uri="{FF2B5EF4-FFF2-40B4-BE49-F238E27FC236}">
                <a16:creationId xmlns:a16="http://schemas.microsoft.com/office/drawing/2014/main" id="{B3AFD4AE-E7EB-C9D3-87AA-45F975CD3E1A}"/>
              </a:ext>
            </a:extLst>
          </p:cNvPr>
          <p:cNvPicPr>
            <a:picLocks noChangeAspect="1"/>
          </p:cNvPicPr>
          <p:nvPr/>
        </p:nvPicPr>
        <p:blipFill>
          <a:blip r:embed="rId8"/>
          <a:srcRect l="88666" t="61574" r="1589" b="31482"/>
          <a:stretch>
            <a:fillRect/>
          </a:stretch>
        </p:blipFill>
        <p:spPr>
          <a:xfrm>
            <a:off x="9478818" y="3037029"/>
            <a:ext cx="1187451" cy="476250"/>
          </a:xfrm>
          <a:prstGeom prst="rect">
            <a:avLst/>
          </a:prstGeom>
        </p:spPr>
      </p:pic>
      <p:pic>
        <p:nvPicPr>
          <p:cNvPr id="6" name="图片 5">
            <a:extLst>
              <a:ext uri="{FF2B5EF4-FFF2-40B4-BE49-F238E27FC236}">
                <a16:creationId xmlns:a16="http://schemas.microsoft.com/office/drawing/2014/main" id="{67E92F57-0AB4-709A-1161-C20DFFCC45CA}"/>
              </a:ext>
            </a:extLst>
          </p:cNvPr>
          <p:cNvPicPr>
            <a:picLocks noChangeAspect="1"/>
          </p:cNvPicPr>
          <p:nvPr/>
        </p:nvPicPr>
        <p:blipFill>
          <a:blip r:embed="rId9"/>
          <a:stretch>
            <a:fillRect/>
          </a:stretch>
        </p:blipFill>
        <p:spPr>
          <a:xfrm>
            <a:off x="3175949" y="2427111"/>
            <a:ext cx="2106151" cy="1224000"/>
          </a:xfrm>
          <a:prstGeom prst="rect">
            <a:avLst/>
          </a:prstGeom>
        </p:spPr>
      </p:pic>
    </p:spTree>
    <p:extLst>
      <p:ext uri="{BB962C8B-B14F-4D97-AF65-F5344CB8AC3E}">
        <p14:creationId xmlns:p14="http://schemas.microsoft.com/office/powerpoint/2010/main" val="310031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AB25B-979A-F994-4702-AC2B3056F25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5CE8596-CB13-E755-EDA7-7E050895A78A}"/>
              </a:ext>
            </a:extLst>
          </p:cNvPr>
          <p:cNvSpPr>
            <a:spLocks noGrp="1"/>
          </p:cNvSpPr>
          <p:nvPr>
            <p:ph type="title"/>
          </p:nvPr>
        </p:nvSpPr>
        <p:spPr>
          <a:xfrm>
            <a:off x="166255" y="0"/>
            <a:ext cx="11425670" cy="738893"/>
          </a:xfrm>
        </p:spPr>
        <p:txBody>
          <a:bodyPr>
            <a:normAutofit/>
          </a:bodyPr>
          <a:lstStyle/>
          <a:p>
            <a:r>
              <a:rPr lang="zh-CN" altLang="zh-CN" dirty="0"/>
              <a:t>量子算法：</a:t>
            </a:r>
            <a:r>
              <a:rPr lang="zh-CN" altLang="en-US" dirty="0"/>
              <a:t>从</a:t>
            </a:r>
            <a:r>
              <a:rPr lang="en-US" altLang="zh-CN" dirty="0"/>
              <a:t>QAOA</a:t>
            </a:r>
            <a:r>
              <a:rPr lang="zh-CN" altLang="en-US" dirty="0"/>
              <a:t>线路到量子程序</a:t>
            </a:r>
          </a:p>
        </p:txBody>
      </p:sp>
      <p:sp>
        <p:nvSpPr>
          <p:cNvPr id="7" name="矩形 6">
            <a:extLst>
              <a:ext uri="{FF2B5EF4-FFF2-40B4-BE49-F238E27FC236}">
                <a16:creationId xmlns:a16="http://schemas.microsoft.com/office/drawing/2014/main" id="{BAF649DD-D719-C91E-C414-D82DAED89374}"/>
              </a:ext>
            </a:extLst>
          </p:cNvPr>
          <p:cNvSpPr/>
          <p:nvPr/>
        </p:nvSpPr>
        <p:spPr>
          <a:xfrm>
            <a:off x="0" y="1996019"/>
            <a:ext cx="3435350" cy="369332"/>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lang="en-US" altLang="zh-CN" b="1" dirty="0">
                <a:latin typeface="微软雅黑" panose="020B0503020204020204" pitchFamily="34" charset="-122"/>
                <a:ea typeface="微软雅黑" panose="020B0503020204020204" pitchFamily="34" charset="-122"/>
              </a:rPr>
              <a:t>QAOA</a:t>
            </a:r>
            <a:r>
              <a:rPr lang="zh-CN" altLang="en-US" b="1" dirty="0">
                <a:latin typeface="微软雅黑" panose="020B0503020204020204" pitchFamily="34" charset="-122"/>
                <a:ea typeface="微软雅黑" panose="020B0503020204020204" pitchFamily="34" charset="-122"/>
              </a:rPr>
              <a:t>的</a:t>
            </a:r>
            <a:r>
              <a:rPr lang="en-US" altLang="zh-CN" b="1" dirty="0">
                <a:latin typeface="微软雅黑" panose="020B0503020204020204" pitchFamily="34" charset="-122"/>
                <a:ea typeface="微软雅黑" panose="020B0503020204020204" pitchFamily="34" charset="-122"/>
              </a:rPr>
              <a:t>Python</a:t>
            </a:r>
            <a:r>
              <a:rPr lang="zh-CN" altLang="en-US" b="1" dirty="0">
                <a:latin typeface="微软雅黑" panose="020B0503020204020204" pitchFamily="34" charset="-122"/>
                <a:ea typeface="微软雅黑" panose="020B0503020204020204" pitchFamily="34" charset="-122"/>
              </a:rPr>
              <a:t>程序</a:t>
            </a:r>
          </a:p>
        </p:txBody>
      </p:sp>
      <mc:AlternateContent xmlns:mc="http://schemas.openxmlformats.org/markup-compatibility/2006" xmlns:a14="http://schemas.microsoft.com/office/drawing/2010/main">
        <mc:Choice Requires="a14">
          <p:sp>
            <p:nvSpPr>
              <p:cNvPr id="21" name="矩形: 圆角 20">
                <a:extLst>
                  <a:ext uri="{FF2B5EF4-FFF2-40B4-BE49-F238E27FC236}">
                    <a16:creationId xmlns:a16="http://schemas.microsoft.com/office/drawing/2014/main" id="{F417CAAD-6EE7-0820-CA24-E80D54FD0D86}"/>
                  </a:ext>
                </a:extLst>
              </p:cNvPr>
              <p:cNvSpPr/>
              <p:nvPr/>
            </p:nvSpPr>
            <p:spPr>
              <a:xfrm>
                <a:off x="4764776" y="2724353"/>
                <a:ext cx="6848104" cy="1627658"/>
              </a:xfrm>
              <a:prstGeom prst="roundRect">
                <a:avLst>
                  <a:gd name="adj" fmla="val 12679"/>
                </a:avLst>
              </a:prstGeom>
              <a:ln>
                <a:solidFill>
                  <a:schemeClr val="accent5">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08000" tIns="108000" rIns="108000" bIns="108000" rtlCol="0" anchor="ctr">
                <a:spAutoFit/>
              </a:bodyPr>
              <a:lstStyle/>
              <a:p>
                <a:r>
                  <a:rPr lang="zh-CN" altLang="en-US" sz="1400" i="0" dirty="0">
                    <a:solidFill>
                      <a:schemeClr val="accent1">
                        <a:lumMod val="75000"/>
                      </a:schemeClr>
                    </a:solidFill>
                    <a:latin typeface="Cambria Math" panose="02040503050406030204" pitchFamily="18" charset="0"/>
                    <a:ea typeface="微软雅黑" panose="020B0503020204020204" pitchFamily="34" charset="-122"/>
                  </a:rPr>
                  <a:t>程序代码说明：</a:t>
                </a:r>
                <a:endParaRPr lang="en-US" altLang="zh-CN" sz="1400" i="0" dirty="0">
                  <a:solidFill>
                    <a:schemeClr val="accent1">
                      <a:lumMod val="75000"/>
                    </a:schemeClr>
                  </a:solidFill>
                  <a:latin typeface="Cambria Math" panose="02040503050406030204" pitchFamily="18" charset="0"/>
                  <a:ea typeface="微软雅黑" panose="020B0503020204020204" pitchFamily="34" charset="-122"/>
                </a:endParaRPr>
              </a:p>
              <a:p>
                <a:pPr marL="285750" indent="-285750">
                  <a:buFont typeface="Arial" panose="020B0604020202020204" pitchFamily="34" charset="0"/>
                  <a:buChar char="•"/>
                </a:pPr>
                <a14:m>
                  <m:oMath xmlns:m="http://schemas.openxmlformats.org/officeDocument/2006/math">
                    <m:r>
                      <m:rPr>
                        <m:sty m:val="p"/>
                      </m:rPr>
                      <a:rPr lang="en-US" altLang="zh-CN" sz="1400" i="0" dirty="0" smtClean="0">
                        <a:solidFill>
                          <a:schemeClr val="accent1">
                            <a:lumMod val="75000"/>
                          </a:schemeClr>
                        </a:solidFill>
                        <a:latin typeface="Cambria Math" panose="02040503050406030204" pitchFamily="18" charset="0"/>
                        <a:ea typeface="微软雅黑" panose="020B0503020204020204" pitchFamily="34" charset="-122"/>
                      </a:rPr>
                      <m:t>QuantumCircuit</m:t>
                    </m:r>
                    <m:r>
                      <a:rPr lang="en-US" altLang="zh-CN" sz="1400" i="0" dirty="0">
                        <a:solidFill>
                          <a:schemeClr val="accent1">
                            <a:lumMod val="75000"/>
                          </a:schemeClr>
                        </a:solidFill>
                        <a:latin typeface="Cambria Math" panose="02040503050406030204" pitchFamily="18" charset="0"/>
                        <a:ea typeface="微软雅黑" panose="020B0503020204020204" pitchFamily="34" charset="-122"/>
                      </a:rPr>
                      <m:t>(</m:t>
                    </m:r>
                    <m:r>
                      <m:rPr>
                        <m:sty m:val="p"/>
                      </m:rPr>
                      <a:rPr lang="en-US" altLang="zh-CN" sz="1400" i="0" dirty="0">
                        <a:solidFill>
                          <a:schemeClr val="accent1">
                            <a:lumMod val="75000"/>
                          </a:schemeClr>
                        </a:solidFill>
                        <a:latin typeface="Cambria Math" panose="02040503050406030204" pitchFamily="18" charset="0"/>
                        <a:ea typeface="微软雅黑" panose="020B0503020204020204" pitchFamily="34" charset="-122"/>
                      </a:rPr>
                      <m:t>n</m:t>
                    </m:r>
                    <m:r>
                      <a:rPr lang="en-US" altLang="zh-CN" sz="1400" i="0" dirty="0">
                        <a:solidFill>
                          <a:schemeClr val="accent1">
                            <a:lumMod val="75000"/>
                          </a:schemeClr>
                        </a:solidFill>
                        <a:latin typeface="Cambria Math" panose="02040503050406030204" pitchFamily="18" charset="0"/>
                        <a:ea typeface="微软雅黑" panose="020B0503020204020204" pitchFamily="34" charset="-122"/>
                      </a:rPr>
                      <m:t>)</m:t>
                    </m:r>
                  </m:oMath>
                </a14:m>
                <a:r>
                  <a:rPr lang="zh-CN" altLang="en-US" sz="1400" dirty="0">
                    <a:solidFill>
                      <a:schemeClr val="accent1">
                        <a:lumMod val="75000"/>
                      </a:schemeClr>
                    </a:solidFill>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创建一个包含</a:t>
                </a:r>
                <a:r>
                  <a:rPr lang="en-US" altLang="zh-CN" sz="1200" dirty="0">
                    <a:latin typeface="微软雅黑" panose="020B0503020204020204" pitchFamily="34" charset="-122"/>
                    <a:ea typeface="微软雅黑" panose="020B0503020204020204" pitchFamily="34" charset="-122"/>
                  </a:rPr>
                  <a:t>n</a:t>
                </a:r>
                <a:r>
                  <a:rPr lang="zh-CN" altLang="en-US" sz="1200" dirty="0">
                    <a:latin typeface="微软雅黑" panose="020B0503020204020204" pitchFamily="34" charset="-122"/>
                    <a:ea typeface="微软雅黑" panose="020B0503020204020204" pitchFamily="34" charset="-122"/>
                  </a:rPr>
                  <a:t>个量子比特的量子线路对象</a:t>
                </a: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dirty="0" err="1">
                    <a:solidFill>
                      <a:schemeClr val="accent1">
                        <a:lumMod val="75000"/>
                      </a:schemeClr>
                    </a:solidFill>
                    <a:latin typeface="Cambria Math" panose="02040503050406030204" pitchFamily="18" charset="0"/>
                    <a:ea typeface="微软雅黑" panose="020B0503020204020204" pitchFamily="34" charset="-122"/>
                  </a:rPr>
                  <a:t>qc.h</a:t>
                </a:r>
                <a:r>
                  <a:rPr lang="en-US" altLang="zh-CN" sz="1400" dirty="0">
                    <a:solidFill>
                      <a:schemeClr val="accent1">
                        <a:lumMod val="75000"/>
                      </a:schemeClr>
                    </a:solidFill>
                    <a:latin typeface="Cambria Math" panose="02040503050406030204" pitchFamily="18" charset="0"/>
                    <a:ea typeface="微软雅黑" panose="020B0503020204020204" pitchFamily="34" charset="-122"/>
                  </a:rPr>
                  <a:t>(</a:t>
                </a:r>
                <a:r>
                  <a:rPr lang="en-US" altLang="zh-CN" sz="1400" dirty="0" err="1">
                    <a:solidFill>
                      <a:schemeClr val="accent1">
                        <a:lumMod val="75000"/>
                      </a:schemeClr>
                    </a:solidFill>
                    <a:latin typeface="Cambria Math" panose="02040503050406030204" pitchFamily="18" charset="0"/>
                    <a:ea typeface="微软雅黑" panose="020B0503020204020204" pitchFamily="34" charset="-122"/>
                  </a:rPr>
                  <a:t>i</a:t>
                </a:r>
                <a:r>
                  <a:rPr lang="en-US" altLang="zh-CN" sz="1400" dirty="0">
                    <a:solidFill>
                      <a:schemeClr val="accent1">
                        <a:lumMod val="75000"/>
                      </a:schemeClr>
                    </a:solidFill>
                    <a:latin typeface="Cambria Math" panose="02040503050406030204" pitchFamily="18" charset="0"/>
                    <a:ea typeface="微软雅黑" panose="020B0503020204020204" pitchFamily="34" charset="-122"/>
                  </a:rPr>
                  <a:t>)</a:t>
                </a:r>
                <a:r>
                  <a:rPr lang="zh-CN" altLang="en-US" sz="1400" dirty="0">
                    <a:solidFill>
                      <a:schemeClr val="accent1">
                        <a:lumMod val="75000"/>
                      </a:schemeClr>
                    </a:solidFill>
                    <a:latin typeface="Cambria Math" panose="02040503050406030204" pitchFamily="18" charset="0"/>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：在第</a:t>
                </a:r>
                <a:r>
                  <a:rPr lang="en-US" altLang="zh-CN" sz="1200" dirty="0" err="1">
                    <a:latin typeface="微软雅黑" panose="020B0503020204020204" pitchFamily="34" charset="-122"/>
                    <a:ea typeface="微软雅黑" panose="020B0503020204020204" pitchFamily="34" charset="-122"/>
                  </a:rPr>
                  <a:t>i</a:t>
                </a:r>
                <a:r>
                  <a:rPr lang="zh-CN" altLang="en-US" sz="1200" dirty="0">
                    <a:latin typeface="微软雅黑" panose="020B0503020204020204" pitchFamily="34" charset="-122"/>
                    <a:ea typeface="微软雅黑" panose="020B0503020204020204" pitchFamily="34" charset="-122"/>
                  </a:rPr>
                  <a:t>个量子比特上施加</a:t>
                </a:r>
                <a:r>
                  <a:rPr lang="en-US" altLang="zh-CN" sz="1200" dirty="0">
                    <a:latin typeface="微软雅黑" panose="020B0503020204020204" pitchFamily="34" charset="-122"/>
                    <a:ea typeface="微软雅黑" panose="020B0503020204020204" pitchFamily="34" charset="-122"/>
                  </a:rPr>
                  <a:t>H</a:t>
                </a:r>
                <a:r>
                  <a:rPr lang="zh-CN" altLang="en-US" sz="1200" dirty="0">
                    <a:latin typeface="微软雅黑" panose="020B0503020204020204" pitchFamily="34" charset="-122"/>
                    <a:ea typeface="微软雅黑" panose="020B0503020204020204" pitchFamily="34" charset="-122"/>
                  </a:rPr>
                  <a:t>门，使所有量子比特处于均匀叠加态</a:t>
                </a:r>
                <a:endParaRPr lang="en-US" altLang="zh-CN" sz="12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dirty="0" err="1">
                    <a:solidFill>
                      <a:schemeClr val="accent1">
                        <a:lumMod val="75000"/>
                      </a:schemeClr>
                    </a:solidFill>
                    <a:latin typeface="Cambria Math" panose="02040503050406030204" pitchFamily="18" charset="0"/>
                    <a:ea typeface="微软雅黑" panose="020B0503020204020204" pitchFamily="34" charset="-122"/>
                  </a:rPr>
                  <a:t>qc.rzz</a:t>
                </a:r>
                <a:r>
                  <a:rPr lang="en-US" altLang="zh-CN" sz="1400" dirty="0">
                    <a:solidFill>
                      <a:schemeClr val="accent1">
                        <a:lumMod val="75000"/>
                      </a:schemeClr>
                    </a:solidFill>
                    <a:latin typeface="Cambria Math" panose="02040503050406030204" pitchFamily="18" charset="0"/>
                    <a:ea typeface="微软雅黑" panose="020B0503020204020204" pitchFamily="34" charset="-122"/>
                  </a:rPr>
                  <a:t>(0,jj)</a:t>
                </a:r>
                <a:r>
                  <a:rPr lang="zh-CN" altLang="en-US" sz="1400" dirty="0">
                    <a:solidFill>
                      <a:schemeClr val="accent1">
                        <a:lumMod val="75000"/>
                      </a:schemeClr>
                    </a:solidFill>
                    <a:latin typeface="Cambria Math" panose="02040503050406030204" pitchFamily="18" charset="0"/>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：在第</a:t>
                </a:r>
                <a:r>
                  <a:rPr lang="en-US" altLang="zh-CN" sz="1200" dirty="0" err="1">
                    <a:latin typeface="微软雅黑" panose="020B0503020204020204" pitchFamily="34" charset="-122"/>
                    <a:ea typeface="微软雅黑" panose="020B0503020204020204" pitchFamily="34" charset="-122"/>
                  </a:rPr>
                  <a:t>i</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j</a:t>
                </a:r>
                <a:r>
                  <a:rPr lang="zh-CN" altLang="en-US" sz="1200" dirty="0">
                    <a:latin typeface="微软雅黑" panose="020B0503020204020204" pitchFamily="34" charset="-122"/>
                    <a:ea typeface="微软雅黑" panose="020B0503020204020204" pitchFamily="34" charset="-122"/>
                  </a:rPr>
                  <a:t>个量子比特上施加</a:t>
                </a:r>
                <a:r>
                  <a:rPr lang="en-US" altLang="zh-CN" sz="1200" dirty="0">
                    <a:latin typeface="微软雅黑" panose="020B0503020204020204" pitchFamily="34" charset="-122"/>
                    <a:ea typeface="微软雅黑" panose="020B0503020204020204" pitchFamily="34" charset="-122"/>
                  </a:rPr>
                  <a:t>RZZ</a:t>
                </a:r>
                <a:r>
                  <a:rPr lang="zh-CN" altLang="en-US" sz="1200" dirty="0">
                    <a:latin typeface="微软雅黑" panose="020B0503020204020204" pitchFamily="34" charset="-122"/>
                    <a:ea typeface="微软雅黑" panose="020B0503020204020204" pitchFamily="34" charset="-122"/>
                  </a:rPr>
                  <a:t>门</a:t>
                </a:r>
                <a:endParaRPr lang="en-US" altLang="zh-CN" sz="12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dirty="0" err="1">
                    <a:solidFill>
                      <a:schemeClr val="accent1">
                        <a:lumMod val="75000"/>
                      </a:schemeClr>
                    </a:solidFill>
                    <a:latin typeface="Cambria Math" panose="02040503050406030204" pitchFamily="18" charset="0"/>
                    <a:ea typeface="微软雅黑" panose="020B0503020204020204" pitchFamily="34" charset="-122"/>
                  </a:rPr>
                  <a:t>qc.x</a:t>
                </a:r>
                <a:r>
                  <a:rPr lang="en-US" altLang="zh-CN" sz="1400" dirty="0">
                    <a:solidFill>
                      <a:schemeClr val="accent1">
                        <a:lumMod val="75000"/>
                      </a:schemeClr>
                    </a:solidFill>
                    <a:latin typeface="Cambria Math" panose="02040503050406030204" pitchFamily="18" charset="0"/>
                    <a:ea typeface="微软雅黑" panose="020B0503020204020204" pitchFamily="34" charset="-122"/>
                  </a:rPr>
                  <a:t>(0,i) </a:t>
                </a:r>
                <a:r>
                  <a:rPr lang="zh-CN" altLang="en-US" sz="1200" dirty="0">
                    <a:latin typeface="微软雅黑" panose="020B0503020204020204" pitchFamily="34" charset="-122"/>
                    <a:ea typeface="微软雅黑" panose="020B0503020204020204" pitchFamily="34" charset="-122"/>
                  </a:rPr>
                  <a:t>：在第</a:t>
                </a:r>
                <a:r>
                  <a:rPr lang="en-US" altLang="zh-CN" sz="1200" dirty="0" err="1">
                    <a:latin typeface="微软雅黑" panose="020B0503020204020204" pitchFamily="34" charset="-122"/>
                    <a:ea typeface="微软雅黑" panose="020B0503020204020204" pitchFamily="34" charset="-122"/>
                  </a:rPr>
                  <a:t>i</a:t>
                </a:r>
                <a:r>
                  <a:rPr lang="zh-CN" altLang="en-US" sz="1200" dirty="0">
                    <a:latin typeface="微软雅黑" panose="020B0503020204020204" pitchFamily="34" charset="-122"/>
                    <a:ea typeface="微软雅黑" panose="020B0503020204020204" pitchFamily="34" charset="-122"/>
                  </a:rPr>
                  <a:t>个量子比特上施加</a:t>
                </a:r>
                <a:r>
                  <a:rPr lang="en-US" altLang="zh-CN" sz="1200" dirty="0">
                    <a:latin typeface="微软雅黑" panose="020B0503020204020204" pitchFamily="34" charset="-122"/>
                    <a:ea typeface="微软雅黑" panose="020B0503020204020204" pitchFamily="34" charset="-122"/>
                  </a:rPr>
                  <a:t>X</a:t>
                </a:r>
                <a:r>
                  <a:rPr lang="zh-CN" altLang="en-US" sz="1200" dirty="0">
                    <a:latin typeface="微软雅黑" panose="020B0503020204020204" pitchFamily="34" charset="-122"/>
                    <a:ea typeface="微软雅黑" panose="020B0503020204020204" pitchFamily="34" charset="-122"/>
                  </a:rPr>
                  <a:t>方向旋转门</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dirty="0" err="1">
                    <a:solidFill>
                      <a:schemeClr val="accent1">
                        <a:lumMod val="75000"/>
                      </a:schemeClr>
                    </a:solidFill>
                    <a:latin typeface="Cambria Math" panose="02040503050406030204" pitchFamily="18" charset="0"/>
                    <a:ea typeface="微软雅黑" panose="020B0503020204020204" pitchFamily="34" charset="-122"/>
                  </a:rPr>
                  <a:t>qc.measure_all</a:t>
                </a:r>
                <a:r>
                  <a:rPr lang="en-US" altLang="zh-CN" sz="1400" dirty="0">
                    <a:solidFill>
                      <a:schemeClr val="accent1">
                        <a:lumMod val="75000"/>
                      </a:schemeClr>
                    </a:solidFill>
                    <a:latin typeface="Cambria Math" panose="02040503050406030204" pitchFamily="18" charset="0"/>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：测量所有量子比特，得到一个比特串结果</a:t>
                </a:r>
                <a:endParaRPr lang="zh-CN" altLang="en-US" sz="1400" dirty="0">
                  <a:latin typeface="微软雅黑" panose="020B0503020204020204" pitchFamily="34" charset="-122"/>
                  <a:ea typeface="微软雅黑" panose="020B0503020204020204" pitchFamily="34" charset="-122"/>
                </a:endParaRPr>
              </a:p>
            </p:txBody>
          </p:sp>
        </mc:Choice>
        <mc:Fallback xmlns="">
          <p:sp>
            <p:nvSpPr>
              <p:cNvPr id="21" name="矩形: 圆角 20">
                <a:extLst>
                  <a:ext uri="{FF2B5EF4-FFF2-40B4-BE49-F238E27FC236}">
                    <a16:creationId xmlns:a16="http://schemas.microsoft.com/office/drawing/2014/main" id="{F417CAAD-6EE7-0820-CA24-E80D54FD0D86}"/>
                  </a:ext>
                </a:extLst>
              </p:cNvPr>
              <p:cNvSpPr>
                <a:spLocks noRot="1" noChangeAspect="1" noMove="1" noResize="1" noEditPoints="1" noAdjustHandles="1" noChangeArrowheads="1" noChangeShapeType="1" noTextEdit="1"/>
              </p:cNvSpPr>
              <p:nvPr/>
            </p:nvSpPr>
            <p:spPr>
              <a:xfrm>
                <a:off x="4764776" y="2724353"/>
                <a:ext cx="6848104" cy="1627658"/>
              </a:xfrm>
              <a:prstGeom prst="roundRect">
                <a:avLst>
                  <a:gd name="adj" fmla="val 12679"/>
                </a:avLst>
              </a:prstGeom>
              <a:blipFill>
                <a:blip r:embed="rId3"/>
                <a:stretch>
                  <a:fillRect/>
                </a:stretch>
              </a:blipFill>
              <a:ln>
                <a:solidFill>
                  <a:schemeClr val="accent5">
                    <a:lumMod val="20000"/>
                    <a:lumOff val="80000"/>
                  </a:schemeClr>
                </a:solidFill>
              </a:ln>
            </p:spPr>
            <p:txBody>
              <a:bodyPr/>
              <a:lstStyle/>
              <a:p>
                <a:r>
                  <a:rPr lang="zh-CN" altLang="en-US">
                    <a:noFill/>
                  </a:rPr>
                  <a:t> </a:t>
                </a:r>
              </a:p>
            </p:txBody>
          </p:sp>
        </mc:Fallback>
      </mc:AlternateContent>
      <p:pic>
        <p:nvPicPr>
          <p:cNvPr id="24" name="图片 23">
            <a:extLst>
              <a:ext uri="{FF2B5EF4-FFF2-40B4-BE49-F238E27FC236}">
                <a16:creationId xmlns:a16="http://schemas.microsoft.com/office/drawing/2014/main" id="{815E151E-8278-CEC3-58EC-30A648BF838A}"/>
              </a:ext>
            </a:extLst>
          </p:cNvPr>
          <p:cNvPicPr>
            <a:picLocks noChangeAspect="1"/>
          </p:cNvPicPr>
          <p:nvPr/>
        </p:nvPicPr>
        <p:blipFill>
          <a:blip r:embed="rId4"/>
          <a:srcRect l="1348" t="16313" r="54095" b="2408"/>
          <a:stretch>
            <a:fillRect/>
          </a:stretch>
        </p:blipFill>
        <p:spPr>
          <a:xfrm>
            <a:off x="679348" y="2349500"/>
            <a:ext cx="3854552" cy="4146550"/>
          </a:xfrm>
          <a:prstGeom prst="roundRect">
            <a:avLst>
              <a:gd name="adj" fmla="val 6189"/>
            </a:avLst>
          </a:prstGeom>
          <a:ln>
            <a:solidFill>
              <a:schemeClr val="accent6">
                <a:lumMod val="50000"/>
              </a:schemeClr>
            </a:solidFill>
          </a:ln>
        </p:spPr>
      </p:pic>
      <p:pic>
        <p:nvPicPr>
          <p:cNvPr id="26" name="图片 25">
            <a:extLst>
              <a:ext uri="{FF2B5EF4-FFF2-40B4-BE49-F238E27FC236}">
                <a16:creationId xmlns:a16="http://schemas.microsoft.com/office/drawing/2014/main" id="{FD36B599-4A42-16C5-33FB-81115F5EB806}"/>
              </a:ext>
            </a:extLst>
          </p:cNvPr>
          <p:cNvPicPr>
            <a:picLocks noChangeAspect="1"/>
          </p:cNvPicPr>
          <p:nvPr/>
        </p:nvPicPr>
        <p:blipFill>
          <a:blip r:embed="rId4"/>
          <a:srcRect l="48198" t="16759" r="2223" b="52593"/>
          <a:stretch>
            <a:fillRect/>
          </a:stretch>
        </p:blipFill>
        <p:spPr>
          <a:xfrm>
            <a:off x="7672070" y="1908536"/>
            <a:ext cx="3251200" cy="1185184"/>
          </a:xfrm>
          <a:prstGeom prst="rect">
            <a:avLst/>
          </a:prstGeom>
        </p:spPr>
      </p:pic>
      <p:sp>
        <p:nvSpPr>
          <p:cNvPr id="30" name="矩形: 圆角 29">
            <a:extLst>
              <a:ext uri="{FF2B5EF4-FFF2-40B4-BE49-F238E27FC236}">
                <a16:creationId xmlns:a16="http://schemas.microsoft.com/office/drawing/2014/main" id="{CB8DEFDD-FE12-57A1-D64C-CF2C49A40B51}"/>
              </a:ext>
            </a:extLst>
          </p:cNvPr>
          <p:cNvSpPr/>
          <p:nvPr/>
        </p:nvSpPr>
        <p:spPr>
          <a:xfrm>
            <a:off x="1041400" y="2381250"/>
            <a:ext cx="2374900" cy="336550"/>
          </a:xfrm>
          <a:prstGeom prst="round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nchor="ctr">
            <a:no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E6B8C1C0-1139-3CE3-25DD-235E4CFD694F}"/>
              </a:ext>
            </a:extLst>
          </p:cNvPr>
          <p:cNvSpPr txBox="1"/>
          <p:nvPr/>
        </p:nvSpPr>
        <p:spPr>
          <a:xfrm>
            <a:off x="3206750" y="2204604"/>
            <a:ext cx="3873500" cy="400110"/>
          </a:xfrm>
          <a:prstGeom prst="rect">
            <a:avLst/>
          </a:prstGeom>
          <a:solidFill>
            <a:schemeClr val="bg1">
              <a:lumMod val="95000"/>
            </a:schemeClr>
          </a:solidFill>
        </p:spPr>
        <p:txBody>
          <a:bodyPr wrap="square" rtlCol="0">
            <a:spAutoFit/>
          </a:bodyPr>
          <a:lstStyle/>
          <a:p>
            <a:r>
              <a:rPr lang="en-US" altLang="zh-CN" sz="1000" dirty="0" err="1">
                <a:latin typeface="微软雅黑" panose="020B0503020204020204" pitchFamily="34" charset="-122"/>
                <a:ea typeface="微软雅黑" panose="020B0503020204020204" pitchFamily="34" charset="-122"/>
              </a:rPr>
              <a:t>Qiskit</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IBM</a:t>
            </a:r>
            <a:r>
              <a:rPr lang="zh-CN" altLang="en-US" sz="1000" dirty="0">
                <a:latin typeface="微软雅黑" panose="020B0503020204020204" pitchFamily="34" charset="-122"/>
                <a:ea typeface="微软雅黑" panose="020B0503020204020204" pitchFamily="34" charset="-122"/>
              </a:rPr>
              <a:t>量子计算</a:t>
            </a:r>
            <a:r>
              <a:rPr lang="en-US" altLang="zh-CN" sz="1000" dirty="0">
                <a:latin typeface="微软雅黑" panose="020B0503020204020204" pitchFamily="34" charset="-122"/>
                <a:ea typeface="微软雅黑" panose="020B0503020204020204" pitchFamily="34" charset="-122"/>
              </a:rPr>
              <a:t>Python</a:t>
            </a:r>
            <a:r>
              <a:rPr lang="zh-CN" altLang="en-US" sz="1000" dirty="0">
                <a:latin typeface="微软雅黑" panose="020B0503020204020204" pitchFamily="34" charset="-122"/>
                <a:ea typeface="微软雅黑" panose="020B0503020204020204" pitchFamily="34" charset="-122"/>
              </a:rPr>
              <a:t>框架，提供了构建、编译、模拟和提交量子程序所需的工具。</a:t>
            </a:r>
          </a:p>
        </p:txBody>
      </p:sp>
      <p:sp>
        <p:nvSpPr>
          <p:cNvPr id="39" name="矩形: 圆角 38">
            <a:extLst>
              <a:ext uri="{FF2B5EF4-FFF2-40B4-BE49-F238E27FC236}">
                <a16:creationId xmlns:a16="http://schemas.microsoft.com/office/drawing/2014/main" id="{BECE9AE5-3E42-2825-A131-F3D9B5D6D848}"/>
              </a:ext>
            </a:extLst>
          </p:cNvPr>
          <p:cNvSpPr/>
          <p:nvPr/>
        </p:nvSpPr>
        <p:spPr>
          <a:xfrm>
            <a:off x="4740646" y="4421371"/>
            <a:ext cx="6902714" cy="2091883"/>
          </a:xfrm>
          <a:prstGeom prst="roundRect">
            <a:avLst>
              <a:gd name="adj" fmla="val 12679"/>
            </a:avLst>
          </a:prstGeom>
          <a:ln>
            <a:solidFill>
              <a:schemeClr val="accent5">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08000" tIns="108000" rIns="108000" bIns="108000" rtlCol="0" anchor="ctr">
            <a:spAutoFit/>
          </a:bodyPr>
          <a:lstStyle/>
          <a:p>
            <a:r>
              <a:rPr lang="zh-CN" altLang="en-US" sz="1400" i="0" dirty="0">
                <a:solidFill>
                  <a:schemeClr val="accent1">
                    <a:lumMod val="75000"/>
                  </a:schemeClr>
                </a:solidFill>
                <a:latin typeface="Cambria Math" panose="02040503050406030204" pitchFamily="18" charset="0"/>
                <a:ea typeface="微软雅黑" panose="020B0503020204020204" pitchFamily="34" charset="-122"/>
              </a:rPr>
              <a:t>提交到量子计算真机：</a:t>
            </a:r>
            <a:endParaRPr lang="en-US" altLang="zh-CN" sz="1400" i="0" dirty="0">
              <a:solidFill>
                <a:schemeClr val="accent1">
                  <a:lumMod val="75000"/>
                </a:schemeClr>
              </a:solidFill>
              <a:latin typeface="Cambria Math" panose="02040503050406030204" pitchFamily="18" charset="0"/>
              <a:ea typeface="微软雅黑" panose="020B0503020204020204" pitchFamily="34" charset="-122"/>
            </a:endParaRPr>
          </a:p>
          <a:p>
            <a:endParaRPr lang="en-US" altLang="zh-CN" sz="1400" i="0" dirty="0">
              <a:solidFill>
                <a:schemeClr val="accent1">
                  <a:lumMod val="75000"/>
                </a:schemeClr>
              </a:solidFill>
              <a:latin typeface="Cambria Math" panose="02040503050406030204" pitchFamily="18" charset="0"/>
              <a:ea typeface="微软雅黑" panose="020B0503020204020204" pitchFamily="34" charset="-122"/>
            </a:endParaRPr>
          </a:p>
          <a:p>
            <a:endParaRPr lang="en-US" altLang="zh-CN" sz="1400" i="0" dirty="0">
              <a:solidFill>
                <a:schemeClr val="accent1">
                  <a:lumMod val="75000"/>
                </a:schemeClr>
              </a:solidFill>
              <a:latin typeface="Cambria Math" panose="02040503050406030204" pitchFamily="18" charset="0"/>
              <a:ea typeface="微软雅黑" panose="020B0503020204020204" pitchFamily="34" charset="-122"/>
            </a:endParaRPr>
          </a:p>
          <a:p>
            <a:endParaRPr lang="en-US" altLang="zh-CN" sz="1400" i="0" dirty="0">
              <a:solidFill>
                <a:schemeClr val="accent1">
                  <a:lumMod val="75000"/>
                </a:schemeClr>
              </a:solidFill>
              <a:latin typeface="Cambria Math" panose="02040503050406030204" pitchFamily="18" charset="0"/>
              <a:ea typeface="微软雅黑" panose="020B0503020204020204" pitchFamily="34" charset="-122"/>
            </a:endParaRPr>
          </a:p>
          <a:p>
            <a:endParaRPr lang="en-US" altLang="zh-CN" sz="1400" dirty="0">
              <a:solidFill>
                <a:schemeClr val="accent1">
                  <a:lumMod val="75000"/>
                </a:schemeClr>
              </a:solidFill>
              <a:latin typeface="Cambria Math" panose="02040503050406030204" pitchFamily="18" charset="0"/>
              <a:ea typeface="微软雅黑" panose="020B0503020204020204" pitchFamily="34" charset="-122"/>
            </a:endParaRPr>
          </a:p>
          <a:p>
            <a:endParaRPr lang="en-US" altLang="zh-CN" sz="1400" i="0" dirty="0">
              <a:solidFill>
                <a:schemeClr val="accent1">
                  <a:lumMod val="75000"/>
                </a:schemeClr>
              </a:solidFill>
              <a:latin typeface="Cambria Math" panose="02040503050406030204" pitchFamily="18" charset="0"/>
              <a:ea typeface="微软雅黑" panose="020B0503020204020204" pitchFamily="34" charset="-122"/>
            </a:endParaRPr>
          </a:p>
          <a:p>
            <a:endParaRPr lang="en-US" altLang="zh-CN" sz="1400" i="0" dirty="0">
              <a:solidFill>
                <a:schemeClr val="accent1">
                  <a:lumMod val="75000"/>
                </a:schemeClr>
              </a:solidFill>
              <a:latin typeface="Cambria Math" panose="02040503050406030204" pitchFamily="18" charset="0"/>
              <a:ea typeface="微软雅黑" panose="020B0503020204020204" pitchFamily="34" charset="-122"/>
            </a:endParaRPr>
          </a:p>
          <a:p>
            <a:endParaRPr lang="en-US" altLang="zh-CN" sz="1400" dirty="0">
              <a:solidFill>
                <a:schemeClr val="accent1">
                  <a:lumMod val="75000"/>
                </a:schemeClr>
              </a:solidFill>
              <a:latin typeface="Cambria Math" panose="02040503050406030204" pitchFamily="18" charset="0"/>
              <a:ea typeface="微软雅黑" panose="020B0503020204020204" pitchFamily="34" charset="-122"/>
            </a:endParaRPr>
          </a:p>
        </p:txBody>
      </p:sp>
      <p:pic>
        <p:nvPicPr>
          <p:cNvPr id="42" name="图片 41">
            <a:extLst>
              <a:ext uri="{FF2B5EF4-FFF2-40B4-BE49-F238E27FC236}">
                <a16:creationId xmlns:a16="http://schemas.microsoft.com/office/drawing/2014/main" id="{5190FE7B-E2A9-4F18-4A38-FC83ACCED1C4}"/>
              </a:ext>
            </a:extLst>
          </p:cNvPr>
          <p:cNvPicPr>
            <a:picLocks noChangeAspect="1"/>
          </p:cNvPicPr>
          <p:nvPr/>
        </p:nvPicPr>
        <p:blipFill>
          <a:blip r:embed="rId5"/>
          <a:srcRect t="30642" b="14220"/>
          <a:stretch>
            <a:fillRect/>
          </a:stretch>
        </p:blipFill>
        <p:spPr>
          <a:xfrm>
            <a:off x="4910199" y="4917440"/>
            <a:ext cx="3145412" cy="1403350"/>
          </a:xfrm>
          <a:prstGeom prst="roundRect">
            <a:avLst>
              <a:gd name="adj" fmla="val 14405"/>
            </a:avLst>
          </a:prstGeom>
        </p:spPr>
      </p:pic>
      <p:pic>
        <p:nvPicPr>
          <p:cNvPr id="45" name="图片 44">
            <a:extLst>
              <a:ext uri="{FF2B5EF4-FFF2-40B4-BE49-F238E27FC236}">
                <a16:creationId xmlns:a16="http://schemas.microsoft.com/office/drawing/2014/main" id="{5E794E89-1DD7-3464-9F35-8F58F8FEC6C2}"/>
              </a:ext>
            </a:extLst>
          </p:cNvPr>
          <p:cNvPicPr>
            <a:picLocks noChangeAspect="1"/>
          </p:cNvPicPr>
          <p:nvPr/>
        </p:nvPicPr>
        <p:blipFill>
          <a:blip r:embed="rId6"/>
          <a:stretch>
            <a:fillRect/>
          </a:stretch>
        </p:blipFill>
        <p:spPr>
          <a:xfrm>
            <a:off x="8107680" y="4696747"/>
            <a:ext cx="3444240" cy="1696100"/>
          </a:xfrm>
          <a:prstGeom prst="rect">
            <a:avLst/>
          </a:prstGeom>
        </p:spPr>
      </p:pic>
      <p:sp>
        <p:nvSpPr>
          <p:cNvPr id="2" name="文本框 1">
            <a:extLst>
              <a:ext uri="{FF2B5EF4-FFF2-40B4-BE49-F238E27FC236}">
                <a16:creationId xmlns:a16="http://schemas.microsoft.com/office/drawing/2014/main" id="{CCD539B4-194E-701B-4F21-AF774D002262}"/>
              </a:ext>
            </a:extLst>
          </p:cNvPr>
          <p:cNvSpPr txBox="1"/>
          <p:nvPr/>
        </p:nvSpPr>
        <p:spPr>
          <a:xfrm>
            <a:off x="419100" y="1004065"/>
            <a:ext cx="10960100" cy="954107"/>
          </a:xfrm>
          <a:prstGeom prst="rect">
            <a:avLst/>
          </a:prstGeom>
          <a:gradFill flip="none" rotWithShape="1">
            <a:gsLst>
              <a:gs pos="0">
                <a:schemeClr val="accent1">
                  <a:lumMod val="5000"/>
                  <a:lumOff val="95000"/>
                  <a:alpha val="2000"/>
                </a:schemeClr>
              </a:gs>
              <a:gs pos="100000">
                <a:schemeClr val="accent5">
                  <a:lumMod val="20000"/>
                  <a:lumOff val="80000"/>
                </a:schemeClr>
              </a:gs>
            </a:gsLst>
            <a:lin ang="10800000" scaled="1"/>
            <a:tileRect/>
          </a:gradFill>
          <a:effectLst>
            <a:softEdge rad="127000"/>
          </a:effectLst>
        </p:spPr>
        <p:txBody>
          <a:bodyPr wrap="square" rtlCol="0">
            <a:spAutoFit/>
          </a:bodyPr>
          <a:lstStyle>
            <a:defPPr>
              <a:defRPr lang="zh-CN"/>
            </a:defPPr>
            <a:lvl1pPr>
              <a:defRPr b="1">
                <a:latin typeface="微软雅黑" panose="020B0503020204020204" pitchFamily="34" charset="-122"/>
                <a:ea typeface="微软雅黑" panose="020B0503020204020204" pitchFamily="34" charset="-122"/>
              </a:defRPr>
            </a:lvl1pPr>
          </a:lstStyle>
          <a:p>
            <a:pPr marL="342900" indent="-342900">
              <a:buFont typeface="Arial" panose="020B0604020202020204" pitchFamily="34" charset="0"/>
              <a:buChar char="•"/>
            </a:pPr>
            <a:r>
              <a:rPr lang="zh-CN" altLang="en-US" sz="2000" dirty="0"/>
              <a:t>不同的计算模型 </a:t>
            </a:r>
            <a:r>
              <a:rPr lang="en-US" altLang="zh-CN" sz="2000" dirty="0"/>
              <a:t>= </a:t>
            </a:r>
            <a:r>
              <a:rPr lang="zh-CN" altLang="en-US" sz="2000" dirty="0"/>
              <a:t>不同的编程语言？</a:t>
            </a:r>
            <a:endParaRPr lang="en-US" altLang="zh-CN" sz="2000" dirty="0"/>
          </a:p>
          <a:p>
            <a:r>
              <a:rPr lang="zh-CN" altLang="en-US" b="0" dirty="0"/>
              <a:t>主流量子程序开发仍基于经典编程语言（</a:t>
            </a:r>
            <a:r>
              <a:rPr lang="en-US" altLang="zh-CN" b="0" dirty="0"/>
              <a:t>Python</a:t>
            </a:r>
            <a:r>
              <a:rPr lang="zh-CN" altLang="en-US" b="0" dirty="0"/>
              <a:t>、</a:t>
            </a:r>
            <a:r>
              <a:rPr lang="en-US" altLang="zh-CN" b="0" dirty="0"/>
              <a:t>C++</a:t>
            </a:r>
            <a:r>
              <a:rPr lang="zh-CN" altLang="en-US" b="0" dirty="0"/>
              <a:t>等），在经典语言基础上，通过量子</a:t>
            </a:r>
            <a:r>
              <a:rPr lang="en-US" altLang="zh-CN" b="0" dirty="0"/>
              <a:t>SDK</a:t>
            </a:r>
            <a:r>
              <a:rPr lang="zh-CN" altLang="en-US" b="0" dirty="0"/>
              <a:t>引入：量子比特、量子门、量子线路、测量等新的量子计算抽象数据结构、操作。</a:t>
            </a:r>
            <a:endParaRPr lang="en-US" altLang="zh-CN" b="0" dirty="0"/>
          </a:p>
        </p:txBody>
      </p:sp>
    </p:spTree>
    <p:extLst>
      <p:ext uri="{BB962C8B-B14F-4D97-AF65-F5344CB8AC3E}">
        <p14:creationId xmlns:p14="http://schemas.microsoft.com/office/powerpoint/2010/main" val="3410663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807FF-D4E9-1D29-D632-971299AEE933}"/>
            </a:ext>
          </a:extLst>
        </p:cNvPr>
        <p:cNvGrpSpPr/>
        <p:nvPr/>
      </p:nvGrpSpPr>
      <p:grpSpPr>
        <a:xfrm>
          <a:off x="0" y="0"/>
          <a:ext cx="0" cy="0"/>
          <a:chOff x="0" y="0"/>
          <a:chExt cx="0" cy="0"/>
        </a:xfrm>
      </p:grpSpPr>
      <p:grpSp>
        <p:nvGrpSpPr>
          <p:cNvPr id="68" name="组合 67">
            <a:extLst>
              <a:ext uri="{FF2B5EF4-FFF2-40B4-BE49-F238E27FC236}">
                <a16:creationId xmlns:a16="http://schemas.microsoft.com/office/drawing/2014/main" id="{6A91E739-C049-21F3-59FB-998BCA13CE5F}"/>
              </a:ext>
            </a:extLst>
          </p:cNvPr>
          <p:cNvGrpSpPr/>
          <p:nvPr/>
        </p:nvGrpSpPr>
        <p:grpSpPr>
          <a:xfrm>
            <a:off x="2739852" y="2739409"/>
            <a:ext cx="2994660" cy="1672456"/>
            <a:chOff x="2344420" y="2725554"/>
            <a:chExt cx="2994660" cy="1672456"/>
          </a:xfrm>
        </p:grpSpPr>
        <p:cxnSp>
          <p:nvCxnSpPr>
            <p:cNvPr id="168" name="连接符: 曲线 167">
              <a:extLst>
                <a:ext uri="{FF2B5EF4-FFF2-40B4-BE49-F238E27FC236}">
                  <a16:creationId xmlns:a16="http://schemas.microsoft.com/office/drawing/2014/main" id="{BC741BDC-933F-67F2-37C6-D2A53ABCA674}"/>
                </a:ext>
              </a:extLst>
            </p:cNvPr>
            <p:cNvCxnSpPr>
              <a:cxnSpLocks/>
            </p:cNvCxnSpPr>
            <p:nvPr/>
          </p:nvCxnSpPr>
          <p:spPr>
            <a:xfrm rot="5400000" flipH="1" flipV="1">
              <a:off x="3005522" y="2064452"/>
              <a:ext cx="1672456" cy="2994660"/>
            </a:xfrm>
            <a:prstGeom prst="curvedConnector2">
              <a:avLst/>
            </a:prstGeom>
            <a:ln>
              <a:headEnd type="triangle" w="med" len="med"/>
              <a:tailEnd type="none" w="med" len="med"/>
            </a:ln>
          </p:spPr>
          <p:style>
            <a:lnRef idx="1">
              <a:schemeClr val="accent2"/>
            </a:lnRef>
            <a:fillRef idx="0">
              <a:schemeClr val="accent2"/>
            </a:fillRef>
            <a:effectRef idx="0">
              <a:schemeClr val="accent2"/>
            </a:effectRef>
            <a:fontRef idx="minor">
              <a:schemeClr val="tx1"/>
            </a:fontRef>
          </p:style>
        </p:cxnSp>
        <p:pic>
          <p:nvPicPr>
            <p:cNvPr id="42" name="图片 41">
              <a:extLst>
                <a:ext uri="{FF2B5EF4-FFF2-40B4-BE49-F238E27FC236}">
                  <a16:creationId xmlns:a16="http://schemas.microsoft.com/office/drawing/2014/main" id="{2F54D970-AB31-DC6D-415D-FE67048D4720}"/>
                </a:ext>
              </a:extLst>
            </p:cNvPr>
            <p:cNvPicPr>
              <a:picLocks noChangeAspect="1"/>
            </p:cNvPicPr>
            <p:nvPr/>
          </p:nvPicPr>
          <p:blipFill>
            <a:blip r:embed="rId3"/>
            <a:srcRect l="20575" t="56116" r="70470" b="29883"/>
            <a:stretch>
              <a:fillRect/>
            </a:stretch>
          </p:blipFill>
          <p:spPr>
            <a:xfrm>
              <a:off x="2984499" y="3448050"/>
              <a:ext cx="920751" cy="794752"/>
            </a:xfrm>
            <a:prstGeom prst="rect">
              <a:avLst/>
            </a:prstGeom>
          </p:spPr>
        </p:pic>
      </p:grpSp>
      <p:pic>
        <p:nvPicPr>
          <p:cNvPr id="9" name="图片 8">
            <a:extLst>
              <a:ext uri="{FF2B5EF4-FFF2-40B4-BE49-F238E27FC236}">
                <a16:creationId xmlns:a16="http://schemas.microsoft.com/office/drawing/2014/main" id="{49F400EC-135D-76CA-BA15-F0146301B6CA}"/>
              </a:ext>
            </a:extLst>
          </p:cNvPr>
          <p:cNvPicPr>
            <a:picLocks noChangeAspect="1"/>
          </p:cNvPicPr>
          <p:nvPr/>
        </p:nvPicPr>
        <p:blipFill>
          <a:blip r:embed="rId4">
            <a:extLst>
              <a:ext uri="{28A0092B-C50C-407E-A947-70E740481C1C}">
                <a14:useLocalDpi xmlns:a14="http://schemas.microsoft.com/office/drawing/2010/main" val="0"/>
              </a:ext>
            </a:extLst>
          </a:blip>
          <a:srcRect r="613" b="1182"/>
          <a:stretch>
            <a:fillRect/>
          </a:stretch>
        </p:blipFill>
        <p:spPr>
          <a:xfrm>
            <a:off x="1259965" y="2862696"/>
            <a:ext cx="1284510" cy="1153318"/>
          </a:xfrm>
          <a:prstGeom prst="rect">
            <a:avLst/>
          </a:prstGeom>
        </p:spPr>
      </p:pic>
      <p:sp>
        <p:nvSpPr>
          <p:cNvPr id="3" name="标题 2">
            <a:extLst>
              <a:ext uri="{FF2B5EF4-FFF2-40B4-BE49-F238E27FC236}">
                <a16:creationId xmlns:a16="http://schemas.microsoft.com/office/drawing/2014/main" id="{25C19BF1-7B32-0EC0-9199-F6D92B462424}"/>
              </a:ext>
            </a:extLst>
          </p:cNvPr>
          <p:cNvSpPr>
            <a:spLocks noGrp="1"/>
          </p:cNvSpPr>
          <p:nvPr>
            <p:ph type="title"/>
          </p:nvPr>
        </p:nvSpPr>
        <p:spPr>
          <a:xfrm>
            <a:off x="166255" y="0"/>
            <a:ext cx="12025745" cy="738893"/>
          </a:xfrm>
        </p:spPr>
        <p:txBody>
          <a:bodyPr>
            <a:normAutofit/>
          </a:bodyPr>
          <a:lstStyle/>
          <a:p>
            <a:r>
              <a:rPr lang="zh-CN" altLang="en-US" dirty="0"/>
              <a:t>量子程序如何在</a:t>
            </a:r>
            <a:r>
              <a:rPr lang="en-US" altLang="zh-CN" dirty="0"/>
              <a:t>QPU</a:t>
            </a:r>
            <a:r>
              <a:rPr lang="zh-CN" altLang="en-US" dirty="0"/>
              <a:t>上运行？</a:t>
            </a:r>
          </a:p>
        </p:txBody>
      </p:sp>
      <p:sp>
        <p:nvSpPr>
          <p:cNvPr id="18" name="文本框 17">
            <a:extLst>
              <a:ext uri="{FF2B5EF4-FFF2-40B4-BE49-F238E27FC236}">
                <a16:creationId xmlns:a16="http://schemas.microsoft.com/office/drawing/2014/main" id="{E823200F-6E88-771B-BE65-DE49BD3C2165}"/>
              </a:ext>
            </a:extLst>
          </p:cNvPr>
          <p:cNvSpPr txBox="1"/>
          <p:nvPr/>
        </p:nvSpPr>
        <p:spPr>
          <a:xfrm>
            <a:off x="8964111" y="4584609"/>
            <a:ext cx="210739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600" b="1" kern="1200" noProof="0" dirty="0">
                <a:solidFill>
                  <a:schemeClr val="tx1"/>
                </a:solidFill>
                <a:latin typeface="微软雅黑" panose="020B0503020204020204" pitchFamily="34" charset="-122"/>
                <a:ea typeface="微软雅黑" panose="020B0503020204020204" pitchFamily="34" charset="-122"/>
              </a:rPr>
              <a:t>量子计算机</a:t>
            </a:r>
            <a:endParaRPr lang="en-US" altLang="zh-CN" sz="1600" b="0" kern="1200" noProof="0" dirty="0">
              <a:solidFill>
                <a:schemeClr val="tx1"/>
              </a:solidFill>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CCC2C152-53DE-2BA9-3CD4-B535F2580D6D}"/>
              </a:ext>
            </a:extLst>
          </p:cNvPr>
          <p:cNvSpPr/>
          <p:nvPr/>
        </p:nvSpPr>
        <p:spPr>
          <a:xfrm>
            <a:off x="6034901" y="2180275"/>
            <a:ext cx="1529080" cy="276999"/>
          </a:xfrm>
          <a:prstGeom prst="rect">
            <a:avLst/>
          </a:prstGeom>
          <a:noFill/>
        </p:spPr>
        <p:txBody>
          <a:bodyPr wrap="square">
            <a:spAutoFit/>
          </a:bodyPr>
          <a:lstStyle/>
          <a:p>
            <a:pPr algn="ctr">
              <a:spcAft>
                <a:spcPts val="600"/>
              </a:spcAft>
            </a:pPr>
            <a:r>
              <a:rPr lang="zh-CN" altLang="en-US" sz="1200" b="1" dirty="0">
                <a:solidFill>
                  <a:schemeClr val="tx1"/>
                </a:solidFill>
                <a:latin typeface="微软雅黑" panose="020B0503020204020204" pitchFamily="34" charset="-122"/>
                <a:ea typeface="微软雅黑" panose="020B0503020204020204" pitchFamily="34" charset="-122"/>
              </a:rPr>
              <a:t>量子汇编指令</a:t>
            </a:r>
            <a:endParaRPr lang="en-US" altLang="zh-CN" sz="1200" b="1" dirty="0">
              <a:solidFill>
                <a:schemeClr val="tx1"/>
              </a:solidFill>
              <a:latin typeface="微软雅黑" panose="020B0503020204020204" pitchFamily="34" charset="-122"/>
              <a:ea typeface="微软雅黑" panose="020B0503020204020204" pitchFamily="34" charset="-122"/>
            </a:endParaRPr>
          </a:p>
        </p:txBody>
      </p:sp>
      <p:grpSp>
        <p:nvGrpSpPr>
          <p:cNvPr id="72" name="组合 71">
            <a:extLst>
              <a:ext uri="{FF2B5EF4-FFF2-40B4-BE49-F238E27FC236}">
                <a16:creationId xmlns:a16="http://schemas.microsoft.com/office/drawing/2014/main" id="{1946AD6E-E2DF-BA2C-CD6A-6225A99BFDFC}"/>
              </a:ext>
            </a:extLst>
          </p:cNvPr>
          <p:cNvGrpSpPr/>
          <p:nvPr/>
        </p:nvGrpSpPr>
        <p:grpSpPr>
          <a:xfrm>
            <a:off x="5374513" y="3337445"/>
            <a:ext cx="2107393" cy="2609333"/>
            <a:chOff x="4979081" y="3323590"/>
            <a:chExt cx="2107393" cy="2609333"/>
          </a:xfrm>
        </p:grpSpPr>
        <p:cxnSp>
          <p:nvCxnSpPr>
            <p:cNvPr id="173" name="连接符: 曲线 172">
              <a:extLst>
                <a:ext uri="{FF2B5EF4-FFF2-40B4-BE49-F238E27FC236}">
                  <a16:creationId xmlns:a16="http://schemas.microsoft.com/office/drawing/2014/main" id="{C67B0487-F23C-E43E-7C2E-3958EAD5A41E}"/>
                </a:ext>
              </a:extLst>
            </p:cNvPr>
            <p:cNvCxnSpPr>
              <a:cxnSpLocks/>
            </p:cNvCxnSpPr>
            <p:nvPr/>
          </p:nvCxnSpPr>
          <p:spPr>
            <a:xfrm rot="16200000" flipH="1">
              <a:off x="4405630" y="4510444"/>
              <a:ext cx="2150110" cy="171450"/>
            </a:xfrm>
            <a:prstGeom prst="curvedConnector2">
              <a:avLst/>
            </a:prstGeom>
            <a:ln>
              <a:headEnd type="triangle" w="med" len="med"/>
              <a:tailEnd type="none" w="med" len="med"/>
            </a:ln>
          </p:spPr>
          <p:style>
            <a:lnRef idx="1">
              <a:schemeClr val="accent2"/>
            </a:lnRef>
            <a:fillRef idx="0">
              <a:schemeClr val="accent2"/>
            </a:fillRef>
            <a:effectRef idx="0">
              <a:schemeClr val="accent2"/>
            </a:effectRef>
            <a:fontRef idx="minor">
              <a:schemeClr val="tx1"/>
            </a:fontRef>
          </p:style>
        </p:cxnSp>
        <p:sp>
          <p:nvSpPr>
            <p:cNvPr id="22" name="文本框 21">
              <a:extLst>
                <a:ext uri="{FF2B5EF4-FFF2-40B4-BE49-F238E27FC236}">
                  <a16:creationId xmlns:a16="http://schemas.microsoft.com/office/drawing/2014/main" id="{3C07BD2C-2815-862B-E49B-C4F461F5D622}"/>
                </a:ext>
              </a:extLst>
            </p:cNvPr>
            <p:cNvSpPr txBox="1"/>
            <p:nvPr/>
          </p:nvSpPr>
          <p:spPr>
            <a:xfrm>
              <a:off x="4979081" y="4434961"/>
              <a:ext cx="210739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600" b="1" kern="1200" noProof="0" dirty="0">
                  <a:solidFill>
                    <a:schemeClr val="tx1"/>
                  </a:solidFill>
                  <a:latin typeface="微软雅黑" panose="020B0503020204020204" pitchFamily="34" charset="-122"/>
                  <a:ea typeface="微软雅黑" panose="020B0503020204020204" pitchFamily="34" charset="-122"/>
                </a:rPr>
                <a:t>超算集群</a:t>
              </a:r>
              <a:endParaRPr lang="en-US" altLang="zh-CN" sz="1600" b="0" kern="1200" noProof="0" dirty="0">
                <a:solidFill>
                  <a:schemeClr val="tx1"/>
                </a:solidFill>
                <a:latin typeface="微软雅黑" panose="020B0503020204020204" pitchFamily="34" charset="-122"/>
                <a:ea typeface="微软雅黑" panose="020B0503020204020204" pitchFamily="34" charset="-122"/>
              </a:endParaRPr>
            </a:p>
          </p:txBody>
        </p:sp>
        <p:pic>
          <p:nvPicPr>
            <p:cNvPr id="97" name="图片 96">
              <a:extLst>
                <a:ext uri="{FF2B5EF4-FFF2-40B4-BE49-F238E27FC236}">
                  <a16:creationId xmlns:a16="http://schemas.microsoft.com/office/drawing/2014/main" id="{7DCB3422-45D4-2D8A-2A12-AF83899D9B2D}"/>
                </a:ext>
              </a:extLst>
            </p:cNvPr>
            <p:cNvPicPr>
              <a:picLocks noChangeAspect="1"/>
            </p:cNvPicPr>
            <p:nvPr/>
          </p:nvPicPr>
          <p:blipFill>
            <a:blip r:embed="rId5"/>
            <a:stretch>
              <a:fillRect/>
            </a:stretch>
          </p:blipFill>
          <p:spPr>
            <a:xfrm>
              <a:off x="5388610" y="4843184"/>
              <a:ext cx="1550670" cy="1033780"/>
            </a:xfrm>
            <a:prstGeom prst="roundRect">
              <a:avLst/>
            </a:prstGeom>
          </p:spPr>
        </p:pic>
        <p:sp>
          <p:nvSpPr>
            <p:cNvPr id="167" name="矩形: 圆角 166">
              <a:extLst>
                <a:ext uri="{FF2B5EF4-FFF2-40B4-BE49-F238E27FC236}">
                  <a16:creationId xmlns:a16="http://schemas.microsoft.com/office/drawing/2014/main" id="{1A8AAF5A-593D-EBDE-F428-4EED758BB979}"/>
                </a:ext>
              </a:extLst>
            </p:cNvPr>
            <p:cNvSpPr/>
            <p:nvPr/>
          </p:nvSpPr>
          <p:spPr>
            <a:xfrm>
              <a:off x="5346930" y="5592404"/>
              <a:ext cx="1638300" cy="340519"/>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square" rtlCol="0" anchor="ctr">
              <a:spAutoFit/>
            </a:bodyPr>
            <a:lstStyle/>
            <a:p>
              <a:pPr marL="285750" indent="-285750">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rPr>
                <a:t>大规模模拟器</a:t>
              </a:r>
            </a:p>
          </p:txBody>
        </p:sp>
        <p:cxnSp>
          <p:nvCxnSpPr>
            <p:cNvPr id="170" name="连接符: 曲线 169">
              <a:extLst>
                <a:ext uri="{FF2B5EF4-FFF2-40B4-BE49-F238E27FC236}">
                  <a16:creationId xmlns:a16="http://schemas.microsoft.com/office/drawing/2014/main" id="{DA571C0C-B823-FFCF-3BEE-6111CEA1A39F}"/>
                </a:ext>
              </a:extLst>
            </p:cNvPr>
            <p:cNvCxnSpPr>
              <a:stCxn id="5" idx="2"/>
              <a:endCxn id="97" idx="1"/>
            </p:cNvCxnSpPr>
            <p:nvPr/>
          </p:nvCxnSpPr>
          <p:spPr>
            <a:xfrm rot="16200000" flipH="1">
              <a:off x="4200823" y="4172287"/>
              <a:ext cx="2036484" cy="33909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6" name="直接箭头连接符 5">
            <a:extLst>
              <a:ext uri="{FF2B5EF4-FFF2-40B4-BE49-F238E27FC236}">
                <a16:creationId xmlns:a16="http://schemas.microsoft.com/office/drawing/2014/main" id="{4AF04FA8-9EC6-B1D9-3351-99B100C77CDD}"/>
              </a:ext>
            </a:extLst>
          </p:cNvPr>
          <p:cNvCxnSpPr>
            <a:cxnSpLocks/>
          </p:cNvCxnSpPr>
          <p:nvPr/>
        </p:nvCxnSpPr>
        <p:spPr>
          <a:xfrm flipH="1">
            <a:off x="6328872" y="2709461"/>
            <a:ext cx="100711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67" name="组合 66">
            <a:extLst>
              <a:ext uri="{FF2B5EF4-FFF2-40B4-BE49-F238E27FC236}">
                <a16:creationId xmlns:a16="http://schemas.microsoft.com/office/drawing/2014/main" id="{9FEF49B0-9131-B666-79FE-490D07BAFB7D}"/>
              </a:ext>
            </a:extLst>
          </p:cNvPr>
          <p:cNvGrpSpPr/>
          <p:nvPr/>
        </p:nvGrpSpPr>
        <p:grpSpPr>
          <a:xfrm>
            <a:off x="6279342" y="1203794"/>
            <a:ext cx="4877117" cy="3031254"/>
            <a:chOff x="5883910" y="1189939"/>
            <a:chExt cx="4877117" cy="3031254"/>
          </a:xfrm>
        </p:grpSpPr>
        <p:cxnSp>
          <p:nvCxnSpPr>
            <p:cNvPr id="34" name="连接符: 肘形 33">
              <a:extLst>
                <a:ext uri="{FF2B5EF4-FFF2-40B4-BE49-F238E27FC236}">
                  <a16:creationId xmlns:a16="http://schemas.microsoft.com/office/drawing/2014/main" id="{27DE174D-098D-48CD-B975-FC24C909EEDC}"/>
                </a:ext>
              </a:extLst>
            </p:cNvPr>
            <p:cNvCxnSpPr>
              <a:cxnSpLocks/>
              <a:stCxn id="5" idx="3"/>
              <a:endCxn id="118" idx="1"/>
            </p:cNvCxnSpPr>
            <p:nvPr/>
          </p:nvCxnSpPr>
          <p:spPr>
            <a:xfrm flipV="1">
              <a:off x="5883910" y="1581353"/>
              <a:ext cx="2321560" cy="9460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4679EFE4-4DE7-762C-DA00-F84E04A5CC35}"/>
                </a:ext>
              </a:extLst>
            </p:cNvPr>
            <p:cNvCxnSpPr>
              <a:cxnSpLocks/>
              <a:stCxn id="5" idx="3"/>
              <a:endCxn id="131" idx="1"/>
            </p:cNvCxnSpPr>
            <p:nvPr/>
          </p:nvCxnSpPr>
          <p:spPr>
            <a:xfrm>
              <a:off x="5883910" y="2527434"/>
              <a:ext cx="2321560" cy="6018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E146C8A7-39F5-B5E1-1415-4F1584D2FCE4}"/>
                </a:ext>
              </a:extLst>
            </p:cNvPr>
            <p:cNvCxnSpPr>
              <a:cxnSpLocks/>
              <a:stCxn id="5" idx="3"/>
              <a:endCxn id="135" idx="1"/>
            </p:cNvCxnSpPr>
            <p:nvPr/>
          </p:nvCxnSpPr>
          <p:spPr>
            <a:xfrm>
              <a:off x="5883910" y="2527434"/>
              <a:ext cx="2321560" cy="105783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5" name="组合 54">
              <a:extLst>
                <a:ext uri="{FF2B5EF4-FFF2-40B4-BE49-F238E27FC236}">
                  <a16:creationId xmlns:a16="http://schemas.microsoft.com/office/drawing/2014/main" id="{1671B7F8-9CD2-D02D-C273-F3F6AE0C84D3}"/>
                </a:ext>
              </a:extLst>
            </p:cNvPr>
            <p:cNvGrpSpPr/>
            <p:nvPr/>
          </p:nvGrpSpPr>
          <p:grpSpPr>
            <a:xfrm>
              <a:off x="8205470" y="1189939"/>
              <a:ext cx="2555557" cy="1044771"/>
              <a:chOff x="8205470" y="1189939"/>
              <a:chExt cx="2555557" cy="1044771"/>
            </a:xfrm>
          </p:grpSpPr>
          <p:sp>
            <p:nvSpPr>
              <p:cNvPr id="118" name="矩形: 圆角 117">
                <a:extLst>
                  <a:ext uri="{FF2B5EF4-FFF2-40B4-BE49-F238E27FC236}">
                    <a16:creationId xmlns:a16="http://schemas.microsoft.com/office/drawing/2014/main" id="{B0977CC1-98A5-4516-275B-5AD1642B6114}"/>
                  </a:ext>
                </a:extLst>
              </p:cNvPr>
              <p:cNvSpPr/>
              <p:nvPr/>
            </p:nvSpPr>
            <p:spPr>
              <a:xfrm>
                <a:off x="8205470" y="1249347"/>
                <a:ext cx="540000" cy="664012"/>
              </a:xfrm>
              <a:prstGeom prst="roundRect">
                <a:avLst/>
              </a:prstGeom>
              <a:ln w="6350">
                <a:solidFill>
                  <a:schemeClr val="accent5">
                    <a:lumMod val="75000"/>
                  </a:schemeClr>
                </a:solidFill>
              </a:ln>
            </p:spPr>
            <p:txBody>
              <a:bodyPr wrap="square" rtlCol="0" anchor="ctr">
                <a:spAutoFit/>
              </a:bodyPr>
              <a:lstStyle/>
              <a:p>
                <a:pPr algn="ctr"/>
                <a:r>
                  <a:rPr lang="zh-CN" altLang="en-US" sz="1100" dirty="0">
                    <a:solidFill>
                      <a:schemeClr val="accent1">
                        <a:lumMod val="50000"/>
                      </a:schemeClr>
                    </a:solidFill>
                    <a:latin typeface="微软雅黑" panose="020B0503020204020204" pitchFamily="34" charset="-122"/>
                    <a:ea typeface="微软雅黑" panose="020B0503020204020204" pitchFamily="34" charset="-122"/>
                  </a:rPr>
                  <a:t>超导控制系统</a:t>
                </a:r>
              </a:p>
            </p:txBody>
          </p:sp>
          <p:cxnSp>
            <p:nvCxnSpPr>
              <p:cNvPr id="125" name="直接箭头连接符 124">
                <a:extLst>
                  <a:ext uri="{FF2B5EF4-FFF2-40B4-BE49-F238E27FC236}">
                    <a16:creationId xmlns:a16="http://schemas.microsoft.com/office/drawing/2014/main" id="{1F01D5CA-5A49-1871-F07B-0C17DCFB7AC8}"/>
                  </a:ext>
                </a:extLst>
              </p:cNvPr>
              <p:cNvCxnSpPr>
                <a:cxnSpLocks/>
                <a:stCxn id="118" idx="3"/>
                <a:endCxn id="12" idx="1"/>
              </p:cNvCxnSpPr>
              <p:nvPr/>
            </p:nvCxnSpPr>
            <p:spPr>
              <a:xfrm>
                <a:off x="8745470" y="1581353"/>
                <a:ext cx="81669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矩形: 圆角 128">
                <a:extLst>
                  <a:ext uri="{FF2B5EF4-FFF2-40B4-BE49-F238E27FC236}">
                    <a16:creationId xmlns:a16="http://schemas.microsoft.com/office/drawing/2014/main" id="{439AF375-82D0-DC2A-CFF0-4E626B44A698}"/>
                  </a:ext>
                </a:extLst>
              </p:cNvPr>
              <p:cNvSpPr/>
              <p:nvPr/>
            </p:nvSpPr>
            <p:spPr>
              <a:xfrm>
                <a:off x="9191307" y="1962295"/>
                <a:ext cx="1569720" cy="272415"/>
              </a:xfrm>
              <a:prstGeom prst="roundRect">
                <a:avLst/>
              </a:prstGeom>
            </p:spPr>
            <p:txBody>
              <a:bodyPr wrap="square" rtlCol="0" anchor="ctr">
                <a:spAutoFit/>
              </a:bodyPr>
              <a:lstStyle/>
              <a:p>
                <a:pPr algn="ctr"/>
                <a:r>
                  <a:rPr lang="zh-CN" altLang="en-US" sz="1000" dirty="0">
                    <a:latin typeface="微软雅黑" panose="020B0503020204020204" pitchFamily="34" charset="-122"/>
                    <a:ea typeface="微软雅黑" panose="020B0503020204020204" pitchFamily="34" charset="-122"/>
                  </a:rPr>
                  <a:t>超导量子计算机</a:t>
                </a:r>
              </a:p>
            </p:txBody>
          </p:sp>
          <p:sp>
            <p:nvSpPr>
              <p:cNvPr id="145" name="矩形 144">
                <a:extLst>
                  <a:ext uri="{FF2B5EF4-FFF2-40B4-BE49-F238E27FC236}">
                    <a16:creationId xmlns:a16="http://schemas.microsoft.com/office/drawing/2014/main" id="{9FD2CC1A-82CB-DE36-67D3-A7B0CCB760AB}"/>
                  </a:ext>
                </a:extLst>
              </p:cNvPr>
              <p:cNvSpPr/>
              <p:nvPr/>
            </p:nvSpPr>
            <p:spPr>
              <a:xfrm>
                <a:off x="8832850" y="1328939"/>
                <a:ext cx="641350" cy="2308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lang="zh-CN" altLang="zh-CN" sz="900" dirty="0"/>
                  <a:t>微波</a:t>
                </a:r>
                <a:endParaRPr lang="en-US" altLang="zh-CN" sz="900"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EB312D0B-7292-74C4-9086-2293F1527DC4}"/>
                  </a:ext>
                </a:extLst>
              </p:cNvPr>
              <p:cNvPicPr>
                <a:picLocks noChangeAspect="1"/>
              </p:cNvPicPr>
              <p:nvPr/>
            </p:nvPicPr>
            <p:blipFill>
              <a:blip r:embed="rId3"/>
              <a:srcRect l="87708" t="13622" b="65330"/>
              <a:stretch>
                <a:fillRect/>
              </a:stretch>
            </p:blipFill>
            <p:spPr>
              <a:xfrm>
                <a:off x="9562167" y="1189939"/>
                <a:ext cx="828000" cy="782829"/>
              </a:xfrm>
              <a:prstGeom prst="rect">
                <a:avLst/>
              </a:prstGeom>
            </p:spPr>
          </p:pic>
        </p:grpSp>
        <p:grpSp>
          <p:nvGrpSpPr>
            <p:cNvPr id="57" name="组合 56">
              <a:extLst>
                <a:ext uri="{FF2B5EF4-FFF2-40B4-BE49-F238E27FC236}">
                  <a16:creationId xmlns:a16="http://schemas.microsoft.com/office/drawing/2014/main" id="{E1F98AAF-07A9-7299-F166-CD5571C1F86F}"/>
                </a:ext>
              </a:extLst>
            </p:cNvPr>
            <p:cNvGrpSpPr/>
            <p:nvPr/>
          </p:nvGrpSpPr>
          <p:grpSpPr>
            <a:xfrm>
              <a:off x="8205470" y="2173132"/>
              <a:ext cx="2555557" cy="1059227"/>
              <a:chOff x="8205470" y="2216349"/>
              <a:chExt cx="2555557" cy="1059227"/>
            </a:xfrm>
          </p:grpSpPr>
          <p:sp>
            <p:nvSpPr>
              <p:cNvPr id="131" name="矩形: 圆角 130">
                <a:extLst>
                  <a:ext uri="{FF2B5EF4-FFF2-40B4-BE49-F238E27FC236}">
                    <a16:creationId xmlns:a16="http://schemas.microsoft.com/office/drawing/2014/main" id="{281095FC-C663-133A-169D-38806853D019}"/>
                  </a:ext>
                </a:extLst>
              </p:cNvPr>
              <p:cNvSpPr/>
              <p:nvPr/>
            </p:nvSpPr>
            <p:spPr>
              <a:xfrm>
                <a:off x="8205470" y="2216349"/>
                <a:ext cx="540000" cy="828973"/>
              </a:xfrm>
              <a:prstGeom prst="roundRect">
                <a:avLst/>
              </a:prstGeom>
              <a:ln w="6350">
                <a:solidFill>
                  <a:schemeClr val="accent5">
                    <a:lumMod val="75000"/>
                  </a:schemeClr>
                </a:solidFill>
              </a:ln>
            </p:spPr>
            <p:txBody>
              <a:bodyPr wrap="square" rtlCol="0" anchor="ctr">
                <a:spAutoFit/>
              </a:bodyPr>
              <a:lstStyle/>
              <a:p>
                <a:pPr algn="ctr"/>
                <a:r>
                  <a:rPr lang="zh-CN" altLang="en-US" sz="1100" dirty="0">
                    <a:solidFill>
                      <a:schemeClr val="accent1">
                        <a:lumMod val="50000"/>
                      </a:schemeClr>
                    </a:solidFill>
                    <a:latin typeface="微软雅黑" panose="020B0503020204020204" pitchFamily="34" charset="-122"/>
                    <a:ea typeface="微软雅黑" panose="020B0503020204020204" pitchFamily="34" charset="-122"/>
                  </a:rPr>
                  <a:t>离子阱控制系统</a:t>
                </a:r>
              </a:p>
            </p:txBody>
          </p:sp>
          <p:cxnSp>
            <p:nvCxnSpPr>
              <p:cNvPr id="132" name="直接箭头连接符 131">
                <a:extLst>
                  <a:ext uri="{FF2B5EF4-FFF2-40B4-BE49-F238E27FC236}">
                    <a16:creationId xmlns:a16="http://schemas.microsoft.com/office/drawing/2014/main" id="{8C852ED8-717A-417C-6869-FB99E5CAF9A0}"/>
                  </a:ext>
                </a:extLst>
              </p:cNvPr>
              <p:cNvCxnSpPr>
                <a:cxnSpLocks/>
                <a:stCxn id="131" idx="3"/>
                <a:endCxn id="15" idx="1"/>
              </p:cNvCxnSpPr>
              <p:nvPr/>
            </p:nvCxnSpPr>
            <p:spPr>
              <a:xfrm>
                <a:off x="8745470" y="2630836"/>
                <a:ext cx="816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3" name="矩形: 圆角 132">
                <a:extLst>
                  <a:ext uri="{FF2B5EF4-FFF2-40B4-BE49-F238E27FC236}">
                    <a16:creationId xmlns:a16="http://schemas.microsoft.com/office/drawing/2014/main" id="{FCE82FA0-B1D9-EF14-682C-23B616330BD7}"/>
                  </a:ext>
                </a:extLst>
              </p:cNvPr>
              <p:cNvSpPr/>
              <p:nvPr/>
            </p:nvSpPr>
            <p:spPr>
              <a:xfrm>
                <a:off x="9191307" y="3003161"/>
                <a:ext cx="1569720" cy="272415"/>
              </a:xfrm>
              <a:prstGeom prst="roundRect">
                <a:avLst/>
              </a:prstGeom>
            </p:spPr>
            <p:txBody>
              <a:bodyPr wrap="square" rtlCol="0" anchor="ctr">
                <a:spAutoFit/>
              </a:bodyPr>
              <a:lstStyle/>
              <a:p>
                <a:pPr algn="ctr"/>
                <a:r>
                  <a:rPr lang="zh-CN" altLang="en-US" sz="1000" dirty="0">
                    <a:latin typeface="微软雅黑" panose="020B0503020204020204" pitchFamily="34" charset="-122"/>
                    <a:ea typeface="微软雅黑" panose="020B0503020204020204" pitchFamily="34" charset="-122"/>
                  </a:rPr>
                  <a:t>离子阱量子计算机</a:t>
                </a:r>
              </a:p>
            </p:txBody>
          </p:sp>
          <p:sp>
            <p:nvSpPr>
              <p:cNvPr id="147" name="矩形 146">
                <a:extLst>
                  <a:ext uri="{FF2B5EF4-FFF2-40B4-BE49-F238E27FC236}">
                    <a16:creationId xmlns:a16="http://schemas.microsoft.com/office/drawing/2014/main" id="{1406CA0F-380F-FE5A-DED3-1442B73396A0}"/>
                  </a:ext>
                </a:extLst>
              </p:cNvPr>
              <p:cNvSpPr/>
              <p:nvPr/>
            </p:nvSpPr>
            <p:spPr>
              <a:xfrm>
                <a:off x="8843010" y="2390660"/>
                <a:ext cx="650240" cy="2308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lang="zh-CN" altLang="en-US" sz="900" dirty="0"/>
                  <a:t>激光</a:t>
                </a:r>
                <a:endParaRPr lang="en-US" altLang="zh-CN" sz="900" dirty="0"/>
              </a:p>
            </p:txBody>
          </p:sp>
          <p:pic>
            <p:nvPicPr>
              <p:cNvPr id="15" name="图片 14">
                <a:extLst>
                  <a:ext uri="{FF2B5EF4-FFF2-40B4-BE49-F238E27FC236}">
                    <a16:creationId xmlns:a16="http://schemas.microsoft.com/office/drawing/2014/main" id="{5F8783FF-6079-6C56-075E-74715B72FDE8}"/>
                  </a:ext>
                </a:extLst>
              </p:cNvPr>
              <p:cNvPicPr>
                <a:picLocks noChangeAspect="1"/>
              </p:cNvPicPr>
              <p:nvPr/>
            </p:nvPicPr>
            <p:blipFill>
              <a:blip r:embed="rId3"/>
              <a:srcRect l="87083" t="38148" r="625" b="40803"/>
              <a:stretch>
                <a:fillRect/>
              </a:stretch>
            </p:blipFill>
            <p:spPr>
              <a:xfrm>
                <a:off x="9562167" y="2239421"/>
                <a:ext cx="828000" cy="782829"/>
              </a:xfrm>
              <a:prstGeom prst="rect">
                <a:avLst/>
              </a:prstGeom>
            </p:spPr>
          </p:pic>
        </p:grpSp>
        <p:grpSp>
          <p:nvGrpSpPr>
            <p:cNvPr id="58" name="组合 57">
              <a:extLst>
                <a:ext uri="{FF2B5EF4-FFF2-40B4-BE49-F238E27FC236}">
                  <a16:creationId xmlns:a16="http://schemas.microsoft.com/office/drawing/2014/main" id="{87EE8229-ED95-690C-661E-8C0777DA8A74}"/>
                </a:ext>
              </a:extLst>
            </p:cNvPr>
            <p:cNvGrpSpPr/>
            <p:nvPr/>
          </p:nvGrpSpPr>
          <p:grpSpPr>
            <a:xfrm>
              <a:off x="8205470" y="3170781"/>
              <a:ext cx="2555557" cy="1050412"/>
              <a:chOff x="8205470" y="3170781"/>
              <a:chExt cx="2555557" cy="1050412"/>
            </a:xfrm>
          </p:grpSpPr>
          <p:sp>
            <p:nvSpPr>
              <p:cNvPr id="135" name="矩形: 圆角 134">
                <a:extLst>
                  <a:ext uri="{FF2B5EF4-FFF2-40B4-BE49-F238E27FC236}">
                    <a16:creationId xmlns:a16="http://schemas.microsoft.com/office/drawing/2014/main" id="{91F7905C-52EA-AE76-69CB-4F27C58844B6}"/>
                  </a:ext>
                </a:extLst>
              </p:cNvPr>
              <p:cNvSpPr/>
              <p:nvPr/>
            </p:nvSpPr>
            <p:spPr>
              <a:xfrm>
                <a:off x="8205470" y="3170781"/>
                <a:ext cx="540000" cy="828973"/>
              </a:xfrm>
              <a:prstGeom prst="roundRect">
                <a:avLst/>
              </a:prstGeom>
              <a:ln w="6350">
                <a:solidFill>
                  <a:schemeClr val="accent5">
                    <a:lumMod val="75000"/>
                  </a:schemeClr>
                </a:solidFill>
              </a:ln>
            </p:spPr>
            <p:txBody>
              <a:bodyPr wrap="square" rtlCol="0" anchor="ctr">
                <a:spAutoFit/>
              </a:bodyPr>
              <a:lstStyle/>
              <a:p>
                <a:pPr algn="ctr"/>
                <a:r>
                  <a:rPr lang="zh-CN" altLang="en-US" sz="1100" dirty="0">
                    <a:solidFill>
                      <a:schemeClr val="accent1">
                        <a:lumMod val="50000"/>
                      </a:schemeClr>
                    </a:solidFill>
                    <a:latin typeface="微软雅黑" panose="020B0503020204020204" pitchFamily="34" charset="-122"/>
                    <a:ea typeface="微软雅黑" panose="020B0503020204020204" pitchFamily="34" charset="-122"/>
                  </a:rPr>
                  <a:t>光量子控制系统</a:t>
                </a:r>
              </a:p>
            </p:txBody>
          </p:sp>
          <p:cxnSp>
            <p:nvCxnSpPr>
              <p:cNvPr id="136" name="直接箭头连接符 135">
                <a:extLst>
                  <a:ext uri="{FF2B5EF4-FFF2-40B4-BE49-F238E27FC236}">
                    <a16:creationId xmlns:a16="http://schemas.microsoft.com/office/drawing/2014/main" id="{B9566870-351D-E8DF-72DA-F2DD7121506C}"/>
                  </a:ext>
                </a:extLst>
              </p:cNvPr>
              <p:cNvCxnSpPr>
                <a:cxnSpLocks/>
                <a:stCxn id="135" idx="3"/>
                <a:endCxn id="17" idx="1"/>
              </p:cNvCxnSpPr>
              <p:nvPr/>
            </p:nvCxnSpPr>
            <p:spPr>
              <a:xfrm>
                <a:off x="8745470" y="3585268"/>
                <a:ext cx="8166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7" name="矩形: 圆角 136">
                <a:extLst>
                  <a:ext uri="{FF2B5EF4-FFF2-40B4-BE49-F238E27FC236}">
                    <a16:creationId xmlns:a16="http://schemas.microsoft.com/office/drawing/2014/main" id="{D8E1B2BE-2F21-55D5-4412-A8C2CFFD7EB9}"/>
                  </a:ext>
                </a:extLst>
              </p:cNvPr>
              <p:cNvSpPr/>
              <p:nvPr/>
            </p:nvSpPr>
            <p:spPr>
              <a:xfrm>
                <a:off x="9191307" y="3948778"/>
                <a:ext cx="1569720" cy="272415"/>
              </a:xfrm>
              <a:prstGeom prst="roundRect">
                <a:avLst/>
              </a:prstGeom>
            </p:spPr>
            <p:txBody>
              <a:bodyPr wrap="square" rtlCol="0" anchor="ctr">
                <a:spAutoFit/>
              </a:bodyPr>
              <a:lstStyle/>
              <a:p>
                <a:pPr algn="ctr"/>
                <a:r>
                  <a:rPr lang="zh-CN" altLang="en-US" sz="1000" dirty="0">
                    <a:latin typeface="微软雅黑" panose="020B0503020204020204" pitchFamily="34" charset="-122"/>
                    <a:ea typeface="微软雅黑" panose="020B0503020204020204" pitchFamily="34" charset="-122"/>
                  </a:rPr>
                  <a:t>光量子计算机</a:t>
                </a:r>
              </a:p>
            </p:txBody>
          </p:sp>
          <p:sp>
            <p:nvSpPr>
              <p:cNvPr id="149" name="矩形 148">
                <a:extLst>
                  <a:ext uri="{FF2B5EF4-FFF2-40B4-BE49-F238E27FC236}">
                    <a16:creationId xmlns:a16="http://schemas.microsoft.com/office/drawing/2014/main" id="{1043D10B-788D-1802-7952-96A3C6188B32}"/>
                  </a:ext>
                </a:extLst>
              </p:cNvPr>
              <p:cNvSpPr/>
              <p:nvPr/>
            </p:nvSpPr>
            <p:spPr>
              <a:xfrm>
                <a:off x="8809990" y="3358399"/>
                <a:ext cx="759460" cy="2308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lang="zh-CN" altLang="en-US" sz="900" dirty="0"/>
                  <a:t>光学调制</a:t>
                </a:r>
                <a:endParaRPr lang="en-US" altLang="zh-CN" sz="900" dirty="0"/>
              </a:p>
            </p:txBody>
          </p:sp>
          <p:pic>
            <p:nvPicPr>
              <p:cNvPr id="17" name="图片 16">
                <a:extLst>
                  <a:ext uri="{FF2B5EF4-FFF2-40B4-BE49-F238E27FC236}">
                    <a16:creationId xmlns:a16="http://schemas.microsoft.com/office/drawing/2014/main" id="{12CAE07A-6C26-832C-BCDA-1DA97CF49864}"/>
                  </a:ext>
                </a:extLst>
              </p:cNvPr>
              <p:cNvPicPr>
                <a:picLocks noChangeAspect="1"/>
              </p:cNvPicPr>
              <p:nvPr/>
            </p:nvPicPr>
            <p:blipFill>
              <a:blip r:embed="rId3"/>
              <a:srcRect l="86927" t="64091" r="781" b="14860"/>
              <a:stretch>
                <a:fillRect/>
              </a:stretch>
            </p:blipFill>
            <p:spPr>
              <a:xfrm>
                <a:off x="9562167" y="3193853"/>
                <a:ext cx="828000" cy="782829"/>
              </a:xfrm>
              <a:prstGeom prst="rect">
                <a:avLst/>
              </a:prstGeom>
            </p:spPr>
          </p:pic>
        </p:grpSp>
      </p:grpSp>
      <p:grpSp>
        <p:nvGrpSpPr>
          <p:cNvPr id="66" name="组合 65">
            <a:extLst>
              <a:ext uri="{FF2B5EF4-FFF2-40B4-BE49-F238E27FC236}">
                <a16:creationId xmlns:a16="http://schemas.microsoft.com/office/drawing/2014/main" id="{B0CAA7BB-417B-BDFC-7276-ED1975FC8143}"/>
              </a:ext>
            </a:extLst>
          </p:cNvPr>
          <p:cNvGrpSpPr/>
          <p:nvPr/>
        </p:nvGrpSpPr>
        <p:grpSpPr>
          <a:xfrm>
            <a:off x="1162512" y="1745132"/>
            <a:ext cx="5307782" cy="3559543"/>
            <a:chOff x="767080" y="1731277"/>
            <a:chExt cx="5307782" cy="3559543"/>
          </a:xfrm>
        </p:grpSpPr>
        <p:pic>
          <p:nvPicPr>
            <p:cNvPr id="5" name="图片 4">
              <a:extLst>
                <a:ext uri="{FF2B5EF4-FFF2-40B4-BE49-F238E27FC236}">
                  <a16:creationId xmlns:a16="http://schemas.microsoft.com/office/drawing/2014/main" id="{6AE06A45-3EA1-4831-7131-C58DBB986157}"/>
                </a:ext>
              </a:extLst>
            </p:cNvPr>
            <p:cNvPicPr>
              <a:picLocks noChangeAspect="1"/>
            </p:cNvPicPr>
            <p:nvPr/>
          </p:nvPicPr>
          <p:blipFill>
            <a:blip r:embed="rId6"/>
            <a:srcRect l="35925" t="4111" r="36592" b="56555"/>
            <a:stretch>
              <a:fillRect/>
            </a:stretch>
          </p:blipFill>
          <p:spPr>
            <a:xfrm>
              <a:off x="4215130" y="1731277"/>
              <a:ext cx="1668780" cy="1592313"/>
            </a:xfrm>
            <a:prstGeom prst="roundRect">
              <a:avLst/>
            </a:prstGeom>
          </p:spPr>
        </p:pic>
        <p:cxnSp>
          <p:nvCxnSpPr>
            <p:cNvPr id="13" name="连接符: 曲线 12">
              <a:extLst>
                <a:ext uri="{FF2B5EF4-FFF2-40B4-BE49-F238E27FC236}">
                  <a16:creationId xmlns:a16="http://schemas.microsoft.com/office/drawing/2014/main" id="{7AA70F63-39C1-FB9B-1E32-182EFD081D72}"/>
                </a:ext>
              </a:extLst>
            </p:cNvPr>
            <p:cNvCxnSpPr>
              <a:cxnSpLocks/>
              <a:stCxn id="70" idx="0"/>
              <a:endCxn id="5" idx="1"/>
            </p:cNvCxnSpPr>
            <p:nvPr/>
          </p:nvCxnSpPr>
          <p:spPr>
            <a:xfrm rot="5400000" flipH="1" flipV="1">
              <a:off x="2336232" y="2009842"/>
              <a:ext cx="1361306" cy="239649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5" name="组合 64">
              <a:extLst>
                <a:ext uri="{FF2B5EF4-FFF2-40B4-BE49-F238E27FC236}">
                  <a16:creationId xmlns:a16="http://schemas.microsoft.com/office/drawing/2014/main" id="{B270426C-1264-62F1-1B3D-2420691AB4DE}"/>
                </a:ext>
              </a:extLst>
            </p:cNvPr>
            <p:cNvGrpSpPr/>
            <p:nvPr/>
          </p:nvGrpSpPr>
          <p:grpSpPr>
            <a:xfrm>
              <a:off x="767080" y="3888740"/>
              <a:ext cx="3174182" cy="1402080"/>
              <a:chOff x="767080" y="3888740"/>
              <a:chExt cx="3174182" cy="1402080"/>
            </a:xfrm>
          </p:grpSpPr>
          <p:sp>
            <p:nvSpPr>
              <p:cNvPr id="11" name="文本框 10">
                <a:extLst>
                  <a:ext uri="{FF2B5EF4-FFF2-40B4-BE49-F238E27FC236}">
                    <a16:creationId xmlns:a16="http://schemas.microsoft.com/office/drawing/2014/main" id="{7FC94B00-865B-A760-7CC8-AD999DF77E06}"/>
                  </a:ext>
                </a:extLst>
              </p:cNvPr>
              <p:cNvSpPr txBox="1"/>
              <p:nvPr/>
            </p:nvSpPr>
            <p:spPr>
              <a:xfrm>
                <a:off x="1833869" y="4348504"/>
                <a:ext cx="210739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600" b="1" dirty="0">
                    <a:latin typeface="微软雅黑" panose="020B0503020204020204" pitchFamily="34" charset="-122"/>
                    <a:ea typeface="微软雅黑" panose="020B0503020204020204" pitchFamily="34" charset="-122"/>
                  </a:rPr>
                  <a:t>个人终端</a:t>
                </a:r>
                <a:endParaRPr lang="en-US" altLang="zh-CN" sz="1600" b="0" kern="1200" noProof="0" dirty="0">
                  <a:solidFill>
                    <a:schemeClr val="tx1"/>
                  </a:solidFill>
                  <a:latin typeface="微软雅黑" panose="020B0503020204020204" pitchFamily="34" charset="-122"/>
                  <a:ea typeface="微软雅黑" panose="020B0503020204020204" pitchFamily="34" charset="-122"/>
                </a:endParaRPr>
              </a:p>
            </p:txBody>
          </p:sp>
          <p:pic>
            <p:nvPicPr>
              <p:cNvPr id="70" name="图片 69">
                <a:extLst>
                  <a:ext uri="{FF2B5EF4-FFF2-40B4-BE49-F238E27FC236}">
                    <a16:creationId xmlns:a16="http://schemas.microsoft.com/office/drawing/2014/main" id="{E8C534D1-F78E-2A7E-07BA-9E8A5D7B32B8}"/>
                  </a:ext>
                </a:extLst>
              </p:cNvPr>
              <p:cNvPicPr>
                <a:picLocks noChangeAspect="1"/>
              </p:cNvPicPr>
              <p:nvPr/>
            </p:nvPicPr>
            <p:blipFill>
              <a:blip r:embed="rId7"/>
              <a:stretch>
                <a:fillRect/>
              </a:stretch>
            </p:blipFill>
            <p:spPr>
              <a:xfrm>
                <a:off x="767080" y="3888740"/>
                <a:ext cx="2103120" cy="1402080"/>
              </a:xfrm>
              <a:prstGeom prst="rect">
                <a:avLst/>
              </a:prstGeom>
            </p:spPr>
          </p:pic>
        </p:grpSp>
        <p:sp>
          <p:nvSpPr>
            <p:cNvPr id="7" name="文本框 6">
              <a:extLst>
                <a:ext uri="{FF2B5EF4-FFF2-40B4-BE49-F238E27FC236}">
                  <a16:creationId xmlns:a16="http://schemas.microsoft.com/office/drawing/2014/main" id="{E576D8CE-EFB0-72E8-F050-D9407F89640A}"/>
                </a:ext>
              </a:extLst>
            </p:cNvPr>
            <p:cNvSpPr txBox="1"/>
            <p:nvPr/>
          </p:nvSpPr>
          <p:spPr>
            <a:xfrm>
              <a:off x="3967469" y="3303294"/>
              <a:ext cx="210739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600" b="1" dirty="0">
                  <a:latin typeface="微软雅黑" panose="020B0503020204020204" pitchFamily="34" charset="-122"/>
                  <a:ea typeface="微软雅黑" panose="020B0503020204020204" pitchFamily="34" charset="-122"/>
                </a:rPr>
                <a:t>云平台服务器</a:t>
              </a:r>
              <a:endParaRPr lang="en-US" altLang="zh-CN" sz="1600" b="0" kern="1200" noProof="0" dirty="0">
                <a:solidFill>
                  <a:schemeClr val="tx1"/>
                </a:solidFill>
                <a:latin typeface="微软雅黑" panose="020B0503020204020204" pitchFamily="34" charset="-122"/>
                <a:ea typeface="微软雅黑" panose="020B0503020204020204" pitchFamily="34" charset="-122"/>
              </a:endParaRPr>
            </a:p>
          </p:txBody>
        </p:sp>
      </p:grpSp>
      <p:pic>
        <p:nvPicPr>
          <p:cNvPr id="44" name="图片 43">
            <a:extLst>
              <a:ext uri="{FF2B5EF4-FFF2-40B4-BE49-F238E27FC236}">
                <a16:creationId xmlns:a16="http://schemas.microsoft.com/office/drawing/2014/main" id="{672B37F2-1852-C54C-E0E3-701FFAF8B21B}"/>
              </a:ext>
            </a:extLst>
          </p:cNvPr>
          <p:cNvPicPr>
            <a:picLocks noChangeAspect="1"/>
          </p:cNvPicPr>
          <p:nvPr/>
        </p:nvPicPr>
        <p:blipFill>
          <a:blip r:embed="rId3"/>
          <a:srcRect l="20575" t="56116" r="70470" b="29883"/>
          <a:stretch>
            <a:fillRect/>
          </a:stretch>
        </p:blipFill>
        <p:spPr>
          <a:xfrm>
            <a:off x="6478731" y="2845285"/>
            <a:ext cx="730251" cy="630321"/>
          </a:xfrm>
          <a:prstGeom prst="rect">
            <a:avLst/>
          </a:prstGeom>
        </p:spPr>
      </p:pic>
      <p:pic>
        <p:nvPicPr>
          <p:cNvPr id="50" name="图片 49">
            <a:extLst>
              <a:ext uri="{FF2B5EF4-FFF2-40B4-BE49-F238E27FC236}">
                <a16:creationId xmlns:a16="http://schemas.microsoft.com/office/drawing/2014/main" id="{41225CDA-299A-37C6-DD2A-6C8AB10FE9D9}"/>
              </a:ext>
            </a:extLst>
          </p:cNvPr>
          <p:cNvPicPr>
            <a:picLocks noChangeAspect="1"/>
          </p:cNvPicPr>
          <p:nvPr/>
        </p:nvPicPr>
        <p:blipFill>
          <a:blip r:embed="rId8"/>
          <a:srcRect l="41301" t="26700" r="48490" b="54905"/>
          <a:stretch>
            <a:fillRect/>
          </a:stretch>
        </p:blipFill>
        <p:spPr>
          <a:xfrm>
            <a:off x="6325731" y="1212216"/>
            <a:ext cx="933450" cy="928688"/>
          </a:xfrm>
          <a:prstGeom prst="roundRect">
            <a:avLst>
              <a:gd name="adj" fmla="val 8462"/>
            </a:avLst>
          </a:prstGeom>
          <a:ln>
            <a:solidFill>
              <a:schemeClr val="accent1">
                <a:lumMod val="75000"/>
              </a:schemeClr>
            </a:solidFill>
          </a:ln>
        </p:spPr>
      </p:pic>
      <p:sp>
        <p:nvSpPr>
          <p:cNvPr id="56" name="矩形: 圆角 55">
            <a:extLst>
              <a:ext uri="{FF2B5EF4-FFF2-40B4-BE49-F238E27FC236}">
                <a16:creationId xmlns:a16="http://schemas.microsoft.com/office/drawing/2014/main" id="{6E873285-4D60-86DA-4209-71A5B0ABBDF9}"/>
              </a:ext>
            </a:extLst>
          </p:cNvPr>
          <p:cNvSpPr/>
          <p:nvPr/>
        </p:nvSpPr>
        <p:spPr>
          <a:xfrm>
            <a:off x="4610562" y="1436573"/>
            <a:ext cx="1684020" cy="817245"/>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square" rtlCol="0" anchor="ctr">
            <a:spAutoFit/>
          </a:bodyPr>
          <a:lstStyle/>
          <a:p>
            <a:pPr marL="285750" indent="-285750">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rPr>
              <a:t>云端编译器</a:t>
            </a:r>
            <a:endParaRPr lang="en-US" altLang="zh-CN" sz="1400"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rPr>
              <a:t>操作系统</a:t>
            </a:r>
            <a:endParaRPr lang="en-US" altLang="zh-CN" sz="1400"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rPr>
              <a:t>云端模拟器</a:t>
            </a:r>
          </a:p>
        </p:txBody>
      </p:sp>
      <p:sp>
        <p:nvSpPr>
          <p:cNvPr id="77" name="矩形: 圆角 76">
            <a:extLst>
              <a:ext uri="{FF2B5EF4-FFF2-40B4-BE49-F238E27FC236}">
                <a16:creationId xmlns:a16="http://schemas.microsoft.com/office/drawing/2014/main" id="{9D36CB35-6F4A-5C0F-6478-C5AA33A98F60}"/>
              </a:ext>
            </a:extLst>
          </p:cNvPr>
          <p:cNvSpPr/>
          <p:nvPr/>
        </p:nvSpPr>
        <p:spPr>
          <a:xfrm>
            <a:off x="1250142" y="5111954"/>
            <a:ext cx="2072640" cy="817245"/>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square" rtlCol="0" anchor="ctr">
            <a:spAutoFit/>
          </a:bodyPr>
          <a:lstStyle/>
          <a:p>
            <a:pPr marL="285750" indent="-285750">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rPr>
              <a:t>编程</a:t>
            </a:r>
            <a:r>
              <a:rPr lang="en-US" altLang="zh-CN" sz="1400" b="1" dirty="0">
                <a:latin typeface="微软雅黑" panose="020B0503020204020204" pitchFamily="34" charset="-122"/>
                <a:ea typeface="微软雅黑" panose="020B0503020204020204" pitchFamily="34" charset="-122"/>
              </a:rPr>
              <a:t>SDK</a:t>
            </a:r>
          </a:p>
          <a:p>
            <a:pPr marL="285750" indent="-285750">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rPr>
              <a:t>编译器</a:t>
            </a:r>
            <a:endParaRPr lang="en-US" altLang="zh-CN" sz="1400"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rPr>
              <a:t>本地模拟器</a:t>
            </a:r>
          </a:p>
        </p:txBody>
      </p:sp>
      <p:sp>
        <p:nvSpPr>
          <p:cNvPr id="4" name="文本框 3">
            <a:extLst>
              <a:ext uri="{FF2B5EF4-FFF2-40B4-BE49-F238E27FC236}">
                <a16:creationId xmlns:a16="http://schemas.microsoft.com/office/drawing/2014/main" id="{0BAC3619-CF28-BC45-2EA0-A2C906CD3727}"/>
              </a:ext>
            </a:extLst>
          </p:cNvPr>
          <p:cNvSpPr txBox="1"/>
          <p:nvPr/>
        </p:nvSpPr>
        <p:spPr>
          <a:xfrm>
            <a:off x="1086668" y="6251234"/>
            <a:ext cx="9923078" cy="418191"/>
          </a:xfrm>
          <a:prstGeom prst="rect">
            <a:avLst/>
          </a:prstGeom>
          <a:solidFill>
            <a:schemeClr val="accent3">
              <a:lumMod val="20000"/>
              <a:lumOff val="80000"/>
            </a:schemeClr>
          </a:solidFill>
        </p:spPr>
        <p:txBody>
          <a:bodyPr wrap="square">
            <a:spAutoFit/>
          </a:bodyPr>
          <a:lstStyle/>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除了量子态演化本身，量子程序的大量编译、调度和控制工作仍由经典计算系统完成。</a:t>
            </a:r>
          </a:p>
        </p:txBody>
      </p:sp>
      <p:sp>
        <p:nvSpPr>
          <p:cNvPr id="8" name="文本框 7">
            <a:extLst>
              <a:ext uri="{FF2B5EF4-FFF2-40B4-BE49-F238E27FC236}">
                <a16:creationId xmlns:a16="http://schemas.microsoft.com/office/drawing/2014/main" id="{A663DC7D-C8FE-47D3-582F-B9E2D5D4345C}"/>
              </a:ext>
            </a:extLst>
          </p:cNvPr>
          <p:cNvSpPr txBox="1"/>
          <p:nvPr/>
        </p:nvSpPr>
        <p:spPr>
          <a:xfrm>
            <a:off x="225103" y="996875"/>
            <a:ext cx="11494009" cy="416524"/>
          </a:xfrm>
          <a:prstGeom prst="rect">
            <a:avLst/>
          </a:prstGeom>
          <a:noFill/>
        </p:spPr>
        <p:txBody>
          <a:bodyPr wrap="square" rtlCol="0">
            <a:spAutoFit/>
          </a:bodyPr>
          <a:lstStyle/>
          <a:p>
            <a:pPr marL="355600" marR="0" lvl="0" indent="-355600" algn="l" defTabSz="914400" rtl="0" eaLnBrk="1" fontAlgn="auto" latinLnBrk="0" hangingPunct="1">
              <a:lnSpc>
                <a:spcPct val="114000"/>
              </a:lnSpc>
              <a:spcBef>
                <a:spcPts val="1000"/>
              </a:spcBef>
              <a:spcAft>
                <a:spcPts val="0"/>
              </a:spcAft>
              <a:buClr>
                <a:srgbClr val="4472C4"/>
              </a:buClr>
              <a:buSzPct val="90000"/>
              <a:buFont typeface="Wingdings" panose="05000000000000000000" pitchFamily="2" charset="2"/>
              <a:buChar char="q"/>
              <a:tabLst/>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量子程序从编写到执行过程中“经过”的设备</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4" name="组合 23">
            <a:extLst>
              <a:ext uri="{FF2B5EF4-FFF2-40B4-BE49-F238E27FC236}">
                <a16:creationId xmlns:a16="http://schemas.microsoft.com/office/drawing/2014/main" id="{F755AE9F-EE26-A3D0-C1B6-16E72E5D2E1D}"/>
              </a:ext>
            </a:extLst>
          </p:cNvPr>
          <p:cNvGrpSpPr/>
          <p:nvPr/>
        </p:nvGrpSpPr>
        <p:grpSpPr>
          <a:xfrm>
            <a:off x="1902219" y="1676561"/>
            <a:ext cx="4423511" cy="1186136"/>
            <a:chOff x="1902219" y="1676561"/>
            <a:chExt cx="4423511" cy="1186136"/>
          </a:xfrm>
        </p:grpSpPr>
        <p:cxnSp>
          <p:nvCxnSpPr>
            <p:cNvPr id="14" name="连接符: 曲线 13">
              <a:extLst>
                <a:ext uri="{FF2B5EF4-FFF2-40B4-BE49-F238E27FC236}">
                  <a16:creationId xmlns:a16="http://schemas.microsoft.com/office/drawing/2014/main" id="{933F1C2B-03D2-26D1-9B57-40CFA1A80ECC}"/>
                </a:ext>
              </a:extLst>
            </p:cNvPr>
            <p:cNvCxnSpPr>
              <a:cxnSpLocks/>
              <a:stCxn id="9" idx="0"/>
              <a:endCxn id="50" idx="1"/>
            </p:cNvCxnSpPr>
            <p:nvPr/>
          </p:nvCxnSpPr>
          <p:spPr>
            <a:xfrm rot="5400000" flipH="1" flipV="1">
              <a:off x="3520907" y="57873"/>
              <a:ext cx="1186136" cy="4423511"/>
            </a:xfrm>
            <a:prstGeom prst="curvedConnector2">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546DD19F-12C5-AE7D-88E9-4C4B32A9AD43}"/>
                </a:ext>
              </a:extLst>
            </p:cNvPr>
            <p:cNvSpPr txBox="1"/>
            <p:nvPr/>
          </p:nvSpPr>
          <p:spPr>
            <a:xfrm>
              <a:off x="2059968" y="1873160"/>
              <a:ext cx="210739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200" b="1" dirty="0">
                  <a:latin typeface="微软雅黑" panose="020B0503020204020204" pitchFamily="34" charset="-122"/>
                  <a:ea typeface="微软雅黑" panose="020B0503020204020204" pitchFamily="34" charset="-122"/>
                </a:rPr>
                <a:t>编译：</a:t>
              </a:r>
              <a:r>
                <a:rPr lang="zh-CN" altLang="en-US" sz="1200" dirty="0">
                  <a:latin typeface="微软雅黑" panose="020B0503020204020204" pitchFamily="34" charset="-122"/>
                  <a:ea typeface="微软雅黑" panose="020B0503020204020204" pitchFamily="34" charset="-122"/>
                </a:rPr>
                <a:t>根据目标平台的指令集、拓扑结构等硬件信息</a:t>
              </a:r>
              <a:endParaRPr lang="en-US" altLang="zh-CN" sz="1200" kern="1200" noProof="0" dirty="0">
                <a:solidFill>
                  <a:schemeClr val="tx1"/>
                </a:solidFill>
                <a:latin typeface="微软雅黑" panose="020B0503020204020204" pitchFamily="34" charset="-122"/>
                <a:ea typeface="微软雅黑" panose="020B0503020204020204" pitchFamily="34" charset="-122"/>
              </a:endParaRPr>
            </a:p>
          </p:txBody>
        </p:sp>
      </p:grpSp>
      <p:sp>
        <p:nvSpPr>
          <p:cNvPr id="26" name="文本框 25">
            <a:extLst>
              <a:ext uri="{FF2B5EF4-FFF2-40B4-BE49-F238E27FC236}">
                <a16:creationId xmlns:a16="http://schemas.microsoft.com/office/drawing/2014/main" id="{F6AB4C30-0C0D-888E-E538-2240AEC05009}"/>
              </a:ext>
            </a:extLst>
          </p:cNvPr>
          <p:cNvSpPr txBox="1"/>
          <p:nvPr/>
        </p:nvSpPr>
        <p:spPr>
          <a:xfrm>
            <a:off x="7238199" y="1050221"/>
            <a:ext cx="1116529" cy="461665"/>
          </a:xfrm>
          <a:prstGeom prst="rect">
            <a:avLst/>
          </a:prstGeom>
          <a:noFill/>
        </p:spPr>
        <p:txBody>
          <a:bodyPr wrap="square">
            <a:spAutoFit/>
          </a:bodyPr>
          <a:lstStyle/>
          <a:p>
            <a:r>
              <a:rPr lang="zh-CN" altLang="zh-CN" sz="1200" dirty="0"/>
              <a:t>任务</a:t>
            </a:r>
            <a:r>
              <a:rPr lang="zh-CN" altLang="en-US" sz="1200" dirty="0"/>
              <a:t>调度、</a:t>
            </a:r>
            <a:r>
              <a:rPr lang="zh-CN" altLang="zh-CN" sz="1200" dirty="0"/>
              <a:t> QPU</a:t>
            </a:r>
            <a:r>
              <a:rPr lang="zh-CN" altLang="en-US" sz="1200" dirty="0"/>
              <a:t>选择</a:t>
            </a:r>
            <a:r>
              <a:rPr lang="zh-CN" altLang="zh-CN" sz="1200" dirty="0"/>
              <a:t>等</a:t>
            </a:r>
            <a:endParaRPr lang="zh-CN" altLang="en-US" dirty="0"/>
          </a:p>
        </p:txBody>
      </p:sp>
    </p:spTree>
    <p:extLst>
      <p:ext uri="{BB962C8B-B14F-4D97-AF65-F5344CB8AC3E}">
        <p14:creationId xmlns:p14="http://schemas.microsoft.com/office/powerpoint/2010/main" val="28847583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000"/>
                                        <p:tgtEl>
                                          <p:spTgt spid="77"/>
                                        </p:tgtEl>
                                      </p:cBhvr>
                                    </p:animEffect>
                                    <p:anim calcmode="lin" valueType="num">
                                      <p:cBhvr>
                                        <p:cTn id="8" dur="1000" fill="hold"/>
                                        <p:tgtEl>
                                          <p:spTgt spid="77"/>
                                        </p:tgtEl>
                                        <p:attrNameLst>
                                          <p:attrName>ppt_x</p:attrName>
                                        </p:attrNameLst>
                                      </p:cBhvr>
                                      <p:tavLst>
                                        <p:tav tm="0">
                                          <p:val>
                                            <p:strVal val="#ppt_x"/>
                                          </p:val>
                                        </p:tav>
                                        <p:tav tm="100000">
                                          <p:val>
                                            <p:strVal val="#ppt_x"/>
                                          </p:val>
                                        </p:tav>
                                      </p:tavLst>
                                    </p:anim>
                                    <p:anim calcmode="lin" valueType="num">
                                      <p:cBhvr>
                                        <p:cTn id="9" dur="1000" fill="hold"/>
                                        <p:tgtEl>
                                          <p:spTgt spid="7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1000"/>
                                        <p:tgtEl>
                                          <p:spTgt spid="56"/>
                                        </p:tgtEl>
                                      </p:cBhvr>
                                    </p:animEffect>
                                    <p:anim calcmode="lin" valueType="num">
                                      <p:cBhvr>
                                        <p:cTn id="13" dur="1000" fill="hold"/>
                                        <p:tgtEl>
                                          <p:spTgt spid="56"/>
                                        </p:tgtEl>
                                        <p:attrNameLst>
                                          <p:attrName>ppt_x</p:attrName>
                                        </p:attrNameLst>
                                      </p:cBhvr>
                                      <p:tavLst>
                                        <p:tav tm="0">
                                          <p:val>
                                            <p:strVal val="#ppt_x"/>
                                          </p:val>
                                        </p:tav>
                                        <p:tav tm="100000">
                                          <p:val>
                                            <p:strVal val="#ppt_x"/>
                                          </p:val>
                                        </p:tav>
                                      </p:tavLst>
                                    </p:anim>
                                    <p:anim calcmode="lin" valueType="num">
                                      <p:cBhvr>
                                        <p:cTn id="14"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left)">
                                      <p:cBhvr>
                                        <p:cTn id="24" dur="500"/>
                                        <p:tgtEl>
                                          <p:spTgt spid="24"/>
                                        </p:tgtEl>
                                      </p:cBhvr>
                                    </p:animEffect>
                                  </p:childTnLst>
                                </p:cTn>
                              </p:par>
                              <p:par>
                                <p:cTn id="25" presetID="22" presetClass="entr" presetSubtype="8"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left)">
                                      <p:cBhvr>
                                        <p:cTn id="27" dur="500"/>
                                        <p:tgtEl>
                                          <p:spTgt spid="50"/>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left)">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right)">
                                      <p:cBhvr>
                                        <p:cTn id="40" dur="500"/>
                                        <p:tgtEl>
                                          <p:spTgt spid="44"/>
                                        </p:tgtEl>
                                      </p:cBhvr>
                                    </p:animEffect>
                                  </p:childTnLst>
                                </p:cTn>
                              </p:par>
                              <p:par>
                                <p:cTn id="41" presetID="22" presetClass="entr" presetSubtype="2" fill="hold"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right)">
                                      <p:cBhvr>
                                        <p:cTn id="43" dur="500"/>
                                        <p:tgtEl>
                                          <p:spTgt spid="6"/>
                                        </p:tgtEl>
                                      </p:cBhvr>
                                    </p:animEffect>
                                  </p:childTnLst>
                                </p:cTn>
                              </p:par>
                            </p:childTnLst>
                          </p:cTn>
                        </p:par>
                        <p:par>
                          <p:cTn id="44" fill="hold">
                            <p:stCondLst>
                              <p:cond delay="500"/>
                            </p:stCondLst>
                            <p:childTnLst>
                              <p:par>
                                <p:cTn id="45" presetID="22" presetClass="entr" presetSubtype="2" fill="hold" nodeType="afterEffect">
                                  <p:stCondLst>
                                    <p:cond delay="0"/>
                                  </p:stCondLst>
                                  <p:childTnLst>
                                    <p:set>
                                      <p:cBhvr>
                                        <p:cTn id="46" dur="1" fill="hold">
                                          <p:stCondLst>
                                            <p:cond delay="0"/>
                                          </p:stCondLst>
                                        </p:cTn>
                                        <p:tgtEl>
                                          <p:spTgt spid="68"/>
                                        </p:tgtEl>
                                        <p:attrNameLst>
                                          <p:attrName>style.visibility</p:attrName>
                                        </p:attrNameLst>
                                      </p:cBhvr>
                                      <p:to>
                                        <p:strVal val="visible"/>
                                      </p:to>
                                    </p:set>
                                    <p:animEffect transition="in" filter="wipe(right)">
                                      <p:cBhvr>
                                        <p:cTn id="47" dur="500"/>
                                        <p:tgtEl>
                                          <p:spTgt spid="68"/>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randombar(horizontal)">
                                      <p:cBhvr>
                                        <p:cTn id="5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56" grpId="0" animBg="1"/>
      <p:bldP spid="77" grpId="0" animBg="1"/>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3D1E-AAC8-AF42-7D0D-374822ADC82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DFA9CD8-35D5-9FBA-80B1-340CBD8D00BB}"/>
              </a:ext>
            </a:extLst>
          </p:cNvPr>
          <p:cNvSpPr>
            <a:spLocks noGrp="1"/>
          </p:cNvSpPr>
          <p:nvPr>
            <p:ph type="title"/>
          </p:nvPr>
        </p:nvSpPr>
        <p:spPr>
          <a:xfrm>
            <a:off x="166255" y="0"/>
            <a:ext cx="12025745" cy="738893"/>
          </a:xfrm>
        </p:spPr>
        <p:txBody>
          <a:bodyPr>
            <a:normAutofit/>
          </a:bodyPr>
          <a:lstStyle/>
          <a:p>
            <a:r>
              <a:rPr lang="zh-CN" altLang="en-US" dirty="0"/>
              <a:t>量子程序如何在</a:t>
            </a:r>
            <a:r>
              <a:rPr lang="en-US" altLang="zh-CN" dirty="0"/>
              <a:t>QPU</a:t>
            </a:r>
            <a:r>
              <a:rPr lang="zh-CN" altLang="en-US" dirty="0"/>
              <a:t>上运行？</a:t>
            </a:r>
          </a:p>
        </p:txBody>
      </p:sp>
      <p:sp>
        <p:nvSpPr>
          <p:cNvPr id="4" name="矩形 3">
            <a:extLst>
              <a:ext uri="{FF2B5EF4-FFF2-40B4-BE49-F238E27FC236}">
                <a16:creationId xmlns:a16="http://schemas.microsoft.com/office/drawing/2014/main" id="{6BA612BD-9839-B890-2B50-B02F492F439C}"/>
              </a:ext>
            </a:extLst>
          </p:cNvPr>
          <p:cNvSpPr/>
          <p:nvPr/>
        </p:nvSpPr>
        <p:spPr>
          <a:xfrm>
            <a:off x="1362006" y="1802142"/>
            <a:ext cx="4591028" cy="3800332"/>
          </a:xfrm>
          <a:prstGeom prst="rect">
            <a:avLst/>
          </a:prstGeom>
          <a:solidFill>
            <a:schemeClr val="accent5">
              <a:lumMod val="20000"/>
              <a:lumOff val="80000"/>
              <a:alpha val="42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矩形: 圆角 5">
            <a:extLst>
              <a:ext uri="{FF2B5EF4-FFF2-40B4-BE49-F238E27FC236}">
                <a16:creationId xmlns:a16="http://schemas.microsoft.com/office/drawing/2014/main" id="{F1169204-2875-5861-8FC7-68E11B8BF69D}"/>
              </a:ext>
            </a:extLst>
          </p:cNvPr>
          <p:cNvSpPr/>
          <p:nvPr/>
        </p:nvSpPr>
        <p:spPr>
          <a:xfrm>
            <a:off x="1842221" y="1946445"/>
            <a:ext cx="2105588" cy="468000"/>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en-US" altLang="zh-CN" sz="1600" b="1" dirty="0">
                <a:solidFill>
                  <a:prstClr val="black"/>
                </a:solidFill>
                <a:latin typeface="微软雅黑" panose="020B0503020204020204" pitchFamily="34" charset="-122"/>
                <a:ea typeface="微软雅黑" panose="020B0503020204020204" pitchFamily="34" charset="-122"/>
              </a:rPr>
              <a:t>C</a:t>
            </a:r>
            <a:r>
              <a:rPr lang="zh-CN" altLang="en-US" sz="1600" b="1" dirty="0">
                <a:solidFill>
                  <a:prstClr val="black"/>
                </a:solidFill>
                <a:latin typeface="微软雅黑" panose="020B0503020204020204" pitchFamily="34" charset="-122"/>
                <a:ea typeface="微软雅黑" panose="020B0503020204020204" pitchFamily="34" charset="-122"/>
              </a:rPr>
              <a:t>程序</a:t>
            </a:r>
          </a:p>
        </p:txBody>
      </p:sp>
      <p:sp>
        <p:nvSpPr>
          <p:cNvPr id="9" name="矩形: 圆角 8">
            <a:extLst>
              <a:ext uri="{FF2B5EF4-FFF2-40B4-BE49-F238E27FC236}">
                <a16:creationId xmlns:a16="http://schemas.microsoft.com/office/drawing/2014/main" id="{74B81C01-8405-30AC-99E4-7166F0ACE6C9}"/>
              </a:ext>
            </a:extLst>
          </p:cNvPr>
          <p:cNvSpPr/>
          <p:nvPr/>
        </p:nvSpPr>
        <p:spPr>
          <a:xfrm>
            <a:off x="1842221" y="2677912"/>
            <a:ext cx="2105588" cy="468000"/>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solidFill>
                  <a:prstClr val="black"/>
                </a:solidFill>
                <a:latin typeface="微软雅黑" panose="020B0503020204020204" pitchFamily="34" charset="-122"/>
                <a:ea typeface="微软雅黑" panose="020B0503020204020204" pitchFamily="34" charset="-122"/>
              </a:rPr>
              <a:t>AST</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矩形: 圆角 13">
            <a:extLst>
              <a:ext uri="{FF2B5EF4-FFF2-40B4-BE49-F238E27FC236}">
                <a16:creationId xmlns:a16="http://schemas.microsoft.com/office/drawing/2014/main" id="{D58091E3-4F10-3D54-C3F1-273167B19A4D}"/>
              </a:ext>
            </a:extLst>
          </p:cNvPr>
          <p:cNvSpPr/>
          <p:nvPr/>
        </p:nvSpPr>
        <p:spPr>
          <a:xfrm>
            <a:off x="1842221" y="4140846"/>
            <a:ext cx="2105588" cy="468000"/>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目标汇编代码</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矩形: 圆角 14">
            <a:extLst>
              <a:ext uri="{FF2B5EF4-FFF2-40B4-BE49-F238E27FC236}">
                <a16:creationId xmlns:a16="http://schemas.microsoft.com/office/drawing/2014/main" id="{C949994B-06C2-C31B-CA73-D46CBCE03C88}"/>
              </a:ext>
            </a:extLst>
          </p:cNvPr>
          <p:cNvSpPr/>
          <p:nvPr/>
        </p:nvSpPr>
        <p:spPr>
          <a:xfrm>
            <a:off x="1842221" y="4872312"/>
            <a:ext cx="2105588" cy="468000"/>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机器码</a:t>
            </a:r>
            <a:r>
              <a:rPr lang="zh-CN" altLang="en-US" sz="1600" b="1" dirty="0">
                <a:solidFill>
                  <a:prstClr val="black"/>
                </a:solidFill>
                <a:latin typeface="微软雅黑" panose="020B0503020204020204" pitchFamily="34" charset="-122"/>
                <a:ea typeface="微软雅黑" panose="020B0503020204020204" pitchFamily="34" charset="-122"/>
              </a:rPr>
              <a:t>→可执行文件</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18" name="直接箭头连接符 17">
            <a:extLst>
              <a:ext uri="{FF2B5EF4-FFF2-40B4-BE49-F238E27FC236}">
                <a16:creationId xmlns:a16="http://schemas.microsoft.com/office/drawing/2014/main" id="{00126FD3-0475-64B8-A9FB-04DDD476586D}"/>
              </a:ext>
            </a:extLst>
          </p:cNvPr>
          <p:cNvCxnSpPr>
            <a:stCxn id="6" idx="2"/>
            <a:endCxn id="9" idx="0"/>
          </p:cNvCxnSpPr>
          <p:nvPr/>
        </p:nvCxnSpPr>
        <p:spPr>
          <a:xfrm>
            <a:off x="2895015" y="2414445"/>
            <a:ext cx="0" cy="263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9463A62-DFF9-26B2-5BC2-E7B1BAF40AD3}"/>
              </a:ext>
            </a:extLst>
          </p:cNvPr>
          <p:cNvCxnSpPr>
            <a:cxnSpLocks/>
            <a:stCxn id="9" idx="2"/>
            <a:endCxn id="33" idx="0"/>
          </p:cNvCxnSpPr>
          <p:nvPr/>
        </p:nvCxnSpPr>
        <p:spPr>
          <a:xfrm>
            <a:off x="2895015" y="3145912"/>
            <a:ext cx="6096" cy="263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72A1B086-DE0E-5F16-DA9A-54E996EDA5C8}"/>
              </a:ext>
            </a:extLst>
          </p:cNvPr>
          <p:cNvCxnSpPr>
            <a:cxnSpLocks/>
            <a:stCxn id="33" idx="2"/>
            <a:endCxn id="14" idx="0"/>
          </p:cNvCxnSpPr>
          <p:nvPr/>
        </p:nvCxnSpPr>
        <p:spPr>
          <a:xfrm flipH="1">
            <a:off x="2895015" y="3877379"/>
            <a:ext cx="6096" cy="263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7D19FCC0-A2D8-1E50-EF3B-15BD95C1500C}"/>
              </a:ext>
            </a:extLst>
          </p:cNvPr>
          <p:cNvCxnSpPr>
            <a:cxnSpLocks/>
            <a:stCxn id="14" idx="2"/>
            <a:endCxn id="15" idx="0"/>
          </p:cNvCxnSpPr>
          <p:nvPr/>
        </p:nvCxnSpPr>
        <p:spPr>
          <a:xfrm>
            <a:off x="2895015" y="4608846"/>
            <a:ext cx="0" cy="263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矩形: 圆角 32">
            <a:extLst>
              <a:ext uri="{FF2B5EF4-FFF2-40B4-BE49-F238E27FC236}">
                <a16:creationId xmlns:a16="http://schemas.microsoft.com/office/drawing/2014/main" id="{4A211423-8313-46CB-676E-B8C433E1A75B}"/>
              </a:ext>
            </a:extLst>
          </p:cNvPr>
          <p:cNvSpPr/>
          <p:nvPr/>
        </p:nvSpPr>
        <p:spPr>
          <a:xfrm>
            <a:off x="1848317" y="3409379"/>
            <a:ext cx="2105588" cy="468000"/>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中间表示</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44DD3389-326E-98BC-EEBF-7D9266F5AAB1}"/>
              </a:ext>
            </a:extLst>
          </p:cNvPr>
          <p:cNvSpPr txBox="1"/>
          <p:nvPr/>
        </p:nvSpPr>
        <p:spPr>
          <a:xfrm>
            <a:off x="3057432" y="3874022"/>
            <a:ext cx="2250142"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指令选择与寄存器分配</a:t>
            </a:r>
            <a:endParaRPr lang="en-US" altLang="zh-CN" sz="1400" kern="1200" noProof="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B71C2260-3014-4DEF-1407-EAF3ABBADAE6}"/>
              </a:ext>
            </a:extLst>
          </p:cNvPr>
          <p:cNvSpPr txBox="1"/>
          <p:nvPr/>
        </p:nvSpPr>
        <p:spPr>
          <a:xfrm>
            <a:off x="3962867" y="3470610"/>
            <a:ext cx="170329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400" dirty="0">
                <a:solidFill>
                  <a:schemeClr val="accent6">
                    <a:lumMod val="75000"/>
                  </a:schemeClr>
                </a:solidFill>
                <a:latin typeface="微软雅黑" panose="020B0503020204020204" pitchFamily="34" charset="-122"/>
                <a:ea typeface="微软雅黑" panose="020B0503020204020204" pitchFamily="34" charset="-122"/>
              </a:rPr>
              <a:t>目标平台无关优化</a:t>
            </a:r>
            <a:endParaRPr lang="en-US" altLang="zh-CN" sz="1400" kern="1200" noProof="0"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5CAF1ABD-5514-F772-88BF-F6D248379BA0}"/>
              </a:ext>
            </a:extLst>
          </p:cNvPr>
          <p:cNvSpPr/>
          <p:nvPr/>
        </p:nvSpPr>
        <p:spPr>
          <a:xfrm>
            <a:off x="6319488" y="1802142"/>
            <a:ext cx="4178651" cy="3800332"/>
          </a:xfrm>
          <a:prstGeom prst="rect">
            <a:avLst/>
          </a:prstGeom>
          <a:solidFill>
            <a:schemeClr val="accent2">
              <a:lumMod val="20000"/>
              <a:lumOff val="80000"/>
              <a:alpha val="42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3" name="矩形: 圆角 42">
            <a:extLst>
              <a:ext uri="{FF2B5EF4-FFF2-40B4-BE49-F238E27FC236}">
                <a16:creationId xmlns:a16="http://schemas.microsoft.com/office/drawing/2014/main" id="{74EFC137-E3AD-621A-A3FE-89EB44C14C77}"/>
              </a:ext>
            </a:extLst>
          </p:cNvPr>
          <p:cNvSpPr/>
          <p:nvPr/>
        </p:nvSpPr>
        <p:spPr>
          <a:xfrm>
            <a:off x="6799703" y="1946445"/>
            <a:ext cx="2105588" cy="468000"/>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zh-CN" altLang="en-US" sz="1600" b="1" dirty="0">
                <a:solidFill>
                  <a:prstClr val="black"/>
                </a:solidFill>
                <a:latin typeface="微软雅黑" panose="020B0503020204020204" pitchFamily="34" charset="-122"/>
                <a:ea typeface="微软雅黑" panose="020B0503020204020204" pitchFamily="34" charset="-122"/>
              </a:rPr>
              <a:t>量子程序（</a:t>
            </a:r>
            <a:r>
              <a:rPr lang="en-US" altLang="zh-CN" sz="1600" b="1" dirty="0">
                <a:solidFill>
                  <a:prstClr val="black"/>
                </a:solidFill>
                <a:latin typeface="微软雅黑" panose="020B0503020204020204" pitchFamily="34" charset="-122"/>
                <a:ea typeface="微软雅黑" panose="020B0503020204020204" pitchFamily="34" charset="-122"/>
              </a:rPr>
              <a:t>Python/C</a:t>
            </a:r>
            <a:r>
              <a:rPr lang="zh-CN" altLang="en-US" sz="1600" b="1" dirty="0">
                <a:solidFill>
                  <a:prstClr val="black"/>
                </a:solidFill>
                <a:latin typeface="微软雅黑" panose="020B0503020204020204" pitchFamily="34" charset="-122"/>
                <a:ea typeface="微软雅黑" panose="020B0503020204020204" pitchFamily="34" charset="-122"/>
              </a:rPr>
              <a:t>）</a:t>
            </a:r>
          </a:p>
        </p:txBody>
      </p:sp>
      <p:sp>
        <p:nvSpPr>
          <p:cNvPr id="46" name="矩形: 圆角 45">
            <a:extLst>
              <a:ext uri="{FF2B5EF4-FFF2-40B4-BE49-F238E27FC236}">
                <a16:creationId xmlns:a16="http://schemas.microsoft.com/office/drawing/2014/main" id="{21F9658D-CE58-A236-DD00-780C17C7F8D1}"/>
              </a:ext>
            </a:extLst>
          </p:cNvPr>
          <p:cNvSpPr/>
          <p:nvPr/>
        </p:nvSpPr>
        <p:spPr>
          <a:xfrm>
            <a:off x="6799703" y="4167740"/>
            <a:ext cx="2105588" cy="468000"/>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目标量子汇编</a:t>
            </a:r>
            <a:r>
              <a:rPr lang="en-US" altLang="zh-CN" sz="1600" b="1" dirty="0">
                <a:solidFill>
                  <a:prstClr val="black"/>
                </a:solidFill>
                <a:latin typeface="微软雅黑" panose="020B0503020204020204" pitchFamily="34" charset="-122"/>
                <a:ea typeface="微软雅黑" panose="020B0503020204020204" pitchFamily="34" charset="-122"/>
              </a:rPr>
              <a:t>/</a:t>
            </a:r>
            <a:r>
              <a:rPr lang="zh-CN" altLang="en-US" sz="1600" b="1" dirty="0">
                <a:solidFill>
                  <a:prstClr val="black"/>
                </a:solidFill>
                <a:latin typeface="微软雅黑" panose="020B0503020204020204" pitchFamily="34" charset="-122"/>
                <a:ea typeface="微软雅黑" panose="020B0503020204020204" pitchFamily="34" charset="-122"/>
              </a:rPr>
              <a:t>指令</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7" name="矩形: 圆角 46">
            <a:extLst>
              <a:ext uri="{FF2B5EF4-FFF2-40B4-BE49-F238E27FC236}">
                <a16:creationId xmlns:a16="http://schemas.microsoft.com/office/drawing/2014/main" id="{091A9211-A88D-5334-C07A-BE1414288031}"/>
              </a:ext>
            </a:extLst>
          </p:cNvPr>
          <p:cNvSpPr/>
          <p:nvPr/>
        </p:nvSpPr>
        <p:spPr>
          <a:xfrm>
            <a:off x="6799703" y="4872312"/>
            <a:ext cx="2105588" cy="468000"/>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物理</a:t>
            </a:r>
            <a:r>
              <a:rPr lang="zh-CN" altLang="en-US" sz="1600" b="1" dirty="0">
                <a:solidFill>
                  <a:prstClr val="black"/>
                </a:solidFill>
                <a:latin typeface="微软雅黑" panose="020B0503020204020204" pitchFamily="34" charset="-122"/>
                <a:ea typeface="微软雅黑" panose="020B0503020204020204" pitchFamily="34" charset="-122"/>
              </a:rPr>
              <a:t>控制信号</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49" name="直接箭头连接符 48">
            <a:extLst>
              <a:ext uri="{FF2B5EF4-FFF2-40B4-BE49-F238E27FC236}">
                <a16:creationId xmlns:a16="http://schemas.microsoft.com/office/drawing/2014/main" id="{0CB61081-C101-F447-3E0B-7E11AF04E658}"/>
              </a:ext>
            </a:extLst>
          </p:cNvPr>
          <p:cNvCxnSpPr>
            <a:cxnSpLocks/>
            <a:stCxn id="43" idx="2"/>
            <a:endCxn id="52" idx="0"/>
          </p:cNvCxnSpPr>
          <p:nvPr/>
        </p:nvCxnSpPr>
        <p:spPr>
          <a:xfrm>
            <a:off x="7852497" y="2414445"/>
            <a:ext cx="0" cy="44808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7463D058-A7AA-74D4-E0FE-5288CFD703F1}"/>
              </a:ext>
            </a:extLst>
          </p:cNvPr>
          <p:cNvCxnSpPr>
            <a:cxnSpLocks/>
            <a:stCxn id="52" idx="2"/>
            <a:endCxn id="46" idx="0"/>
          </p:cNvCxnSpPr>
          <p:nvPr/>
        </p:nvCxnSpPr>
        <p:spPr>
          <a:xfrm>
            <a:off x="7852497" y="3330532"/>
            <a:ext cx="0" cy="83720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38EA596A-0FE1-D2A3-7F06-AA39245B4BC0}"/>
              </a:ext>
            </a:extLst>
          </p:cNvPr>
          <p:cNvCxnSpPr>
            <a:cxnSpLocks/>
            <a:stCxn id="46" idx="2"/>
            <a:endCxn id="47" idx="0"/>
          </p:cNvCxnSpPr>
          <p:nvPr/>
        </p:nvCxnSpPr>
        <p:spPr>
          <a:xfrm>
            <a:off x="7852497" y="4635740"/>
            <a:ext cx="0" cy="23657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圆角 51">
            <a:extLst>
              <a:ext uri="{FF2B5EF4-FFF2-40B4-BE49-F238E27FC236}">
                <a16:creationId xmlns:a16="http://schemas.microsoft.com/office/drawing/2014/main" id="{26A4C1D6-7110-B74B-E11A-46D98C7E088F}"/>
              </a:ext>
            </a:extLst>
          </p:cNvPr>
          <p:cNvSpPr/>
          <p:nvPr/>
        </p:nvSpPr>
        <p:spPr>
          <a:xfrm>
            <a:off x="6799703" y="2862532"/>
            <a:ext cx="2105588" cy="468000"/>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中间表示</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4" name="文本框 53">
            <a:extLst>
              <a:ext uri="{FF2B5EF4-FFF2-40B4-BE49-F238E27FC236}">
                <a16:creationId xmlns:a16="http://schemas.microsoft.com/office/drawing/2014/main" id="{843A66F6-359F-74DF-1FDB-490D8C84C480}"/>
              </a:ext>
            </a:extLst>
          </p:cNvPr>
          <p:cNvSpPr txBox="1"/>
          <p:nvPr/>
        </p:nvSpPr>
        <p:spPr>
          <a:xfrm>
            <a:off x="8041810" y="3371998"/>
            <a:ext cx="1999129" cy="31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指令选择（基础门分解）</a:t>
            </a:r>
            <a:endParaRPr lang="en-US" altLang="zh-CN" sz="1400" kern="1200" noProof="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9C0945DE-4F73-2545-AD97-79603940984F}"/>
              </a:ext>
            </a:extLst>
          </p:cNvPr>
          <p:cNvSpPr txBox="1"/>
          <p:nvPr/>
        </p:nvSpPr>
        <p:spPr>
          <a:xfrm>
            <a:off x="8821738" y="3022375"/>
            <a:ext cx="170329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400" dirty="0">
                <a:solidFill>
                  <a:schemeClr val="accent6">
                    <a:lumMod val="75000"/>
                  </a:schemeClr>
                </a:solidFill>
                <a:latin typeface="微软雅黑" panose="020B0503020204020204" pitchFamily="34" charset="-122"/>
                <a:ea typeface="微软雅黑" panose="020B0503020204020204" pitchFamily="34" charset="-122"/>
              </a:rPr>
              <a:t>目标平台无关优化</a:t>
            </a:r>
            <a:endParaRPr lang="en-US" altLang="zh-CN" sz="1400" kern="1200" noProof="0"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60" name="文本框 59">
            <a:extLst>
              <a:ext uri="{FF2B5EF4-FFF2-40B4-BE49-F238E27FC236}">
                <a16:creationId xmlns:a16="http://schemas.microsoft.com/office/drawing/2014/main" id="{9BAB685C-2F9A-CE24-02A4-F7EB879864D5}"/>
              </a:ext>
            </a:extLst>
          </p:cNvPr>
          <p:cNvSpPr txBox="1"/>
          <p:nvPr/>
        </p:nvSpPr>
        <p:spPr>
          <a:xfrm>
            <a:off x="7979057" y="3739551"/>
            <a:ext cx="1999129" cy="317218"/>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比特映射与路由</a:t>
            </a:r>
            <a:endParaRPr lang="en-US" altLang="zh-CN" sz="1400" kern="1200" noProof="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A1CEA1BA-3423-302A-2270-9C655931C35E}"/>
              </a:ext>
            </a:extLst>
          </p:cNvPr>
          <p:cNvSpPr txBox="1"/>
          <p:nvPr/>
        </p:nvSpPr>
        <p:spPr>
          <a:xfrm>
            <a:off x="1589750" y="1150528"/>
            <a:ext cx="3493781"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2400" b="1" dirty="0">
                <a:latin typeface="微软雅黑" panose="020B0503020204020204" pitchFamily="34" charset="-122"/>
                <a:ea typeface="微软雅黑" panose="020B0503020204020204" pitchFamily="34" charset="-122"/>
              </a:rPr>
              <a:t>经典编译</a:t>
            </a:r>
            <a:endParaRPr lang="en-US" altLang="zh-CN" sz="2400" b="0" kern="1200" noProof="0" dirty="0">
              <a:solidFill>
                <a:schemeClr val="tx1"/>
              </a:solidFill>
              <a:latin typeface="微软雅黑" panose="020B0503020204020204" pitchFamily="34" charset="-122"/>
              <a:ea typeface="微软雅黑" panose="020B0503020204020204" pitchFamily="34" charset="-122"/>
            </a:endParaRPr>
          </a:p>
        </p:txBody>
      </p:sp>
      <p:sp>
        <p:nvSpPr>
          <p:cNvPr id="64" name="文本框 63">
            <a:extLst>
              <a:ext uri="{FF2B5EF4-FFF2-40B4-BE49-F238E27FC236}">
                <a16:creationId xmlns:a16="http://schemas.microsoft.com/office/drawing/2014/main" id="{BACE91A4-A26F-3E34-EB83-6F29A18CE881}"/>
              </a:ext>
            </a:extLst>
          </p:cNvPr>
          <p:cNvSpPr txBox="1"/>
          <p:nvPr/>
        </p:nvSpPr>
        <p:spPr>
          <a:xfrm>
            <a:off x="6887891" y="1141563"/>
            <a:ext cx="3493781"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2400" b="1" dirty="0">
                <a:latin typeface="微软雅黑" panose="020B0503020204020204" pitchFamily="34" charset="-122"/>
                <a:ea typeface="微软雅黑" panose="020B0503020204020204" pitchFamily="34" charset="-122"/>
              </a:rPr>
              <a:t>量子编译</a:t>
            </a:r>
            <a:endParaRPr lang="en-US" altLang="zh-CN" sz="2400" b="0" kern="1200" noProof="0" dirty="0">
              <a:solidFill>
                <a:schemeClr val="tx1"/>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EF08B729-BE8F-6FCB-F565-35F4CEEF0A56}"/>
              </a:ext>
            </a:extLst>
          </p:cNvPr>
          <p:cNvSpPr txBox="1"/>
          <p:nvPr/>
        </p:nvSpPr>
        <p:spPr>
          <a:xfrm>
            <a:off x="4270197" y="935375"/>
            <a:ext cx="3493781"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altLang="zh-CN" sz="4000" dirty="0">
                <a:ln w="0"/>
                <a:gradFill>
                  <a:gsLst>
                    <a:gs pos="21000">
                      <a:srgbClr val="53575C"/>
                    </a:gs>
                    <a:gs pos="88000">
                      <a:srgbClr val="C5C7CA"/>
                    </a:gs>
                  </a:gsLst>
                  <a:lin ang="5400000"/>
                </a:gradFill>
                <a:latin typeface="微软雅黑" panose="020B0503020204020204" pitchFamily="34" charset="-122"/>
                <a:ea typeface="微软雅黑" panose="020B0503020204020204" pitchFamily="34" charset="-122"/>
              </a:rPr>
              <a:t>VS</a:t>
            </a:r>
            <a:endParaRPr lang="en-US" altLang="zh-CN" sz="2400" kern="1200" noProof="0" dirty="0">
              <a:ln w="0"/>
              <a:gradFill>
                <a:gsLst>
                  <a:gs pos="21000">
                    <a:srgbClr val="53575C"/>
                  </a:gs>
                  <a:gs pos="88000">
                    <a:srgbClr val="C5C7CA"/>
                  </a:gs>
                </a:gsLst>
                <a:lin ang="5400000"/>
              </a:gradFill>
              <a:latin typeface="微软雅黑" panose="020B0503020204020204" pitchFamily="34" charset="-122"/>
              <a:ea typeface="微软雅黑" panose="020B0503020204020204" pitchFamily="34" charset="-122"/>
            </a:endParaRPr>
          </a:p>
        </p:txBody>
      </p:sp>
      <p:sp>
        <p:nvSpPr>
          <p:cNvPr id="68" name="文本框 67">
            <a:extLst>
              <a:ext uri="{FF2B5EF4-FFF2-40B4-BE49-F238E27FC236}">
                <a16:creationId xmlns:a16="http://schemas.microsoft.com/office/drawing/2014/main" id="{7C8EE27C-0122-72BC-A9CD-DCE81D288A52}"/>
              </a:ext>
            </a:extLst>
          </p:cNvPr>
          <p:cNvSpPr txBox="1"/>
          <p:nvPr/>
        </p:nvSpPr>
        <p:spPr>
          <a:xfrm>
            <a:off x="926244" y="5898307"/>
            <a:ext cx="9923078" cy="787523"/>
          </a:xfrm>
          <a:prstGeom prst="rect">
            <a:avLst/>
          </a:prstGeom>
          <a:solidFill>
            <a:schemeClr val="accent3">
              <a:lumMod val="20000"/>
              <a:lumOff val="80000"/>
            </a:schemeClr>
          </a:solidFill>
        </p:spPr>
        <p:txBody>
          <a:bodyPr wrap="square">
            <a:spAutoFit/>
          </a:bodyPr>
          <a:lstStyle/>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量子编译仍然遵循“高级语言 → 中间表示 → 硬件映射 → 目标指令” 的经典的编译逻辑。</a:t>
            </a:r>
          </a:p>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目标硬件从 </a:t>
            </a:r>
            <a:r>
              <a:rPr lang="en-US" altLang="zh-CN" sz="1600" b="1" dirty="0">
                <a:solidFill>
                  <a:schemeClr val="accent5">
                    <a:lumMod val="50000"/>
                  </a:schemeClr>
                </a:solidFill>
                <a:latin typeface="微软雅黑" panose="020B0503020204020204" pitchFamily="34" charset="-122"/>
                <a:ea typeface="微软雅黑" panose="020B0503020204020204" pitchFamily="34" charset="-122"/>
              </a:rPr>
              <a:t>CPU </a:t>
            </a: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变成了 </a:t>
            </a:r>
            <a:r>
              <a:rPr lang="en-US" altLang="zh-CN" sz="1600" b="1" dirty="0">
                <a:solidFill>
                  <a:schemeClr val="accent5">
                    <a:lumMod val="50000"/>
                  </a:schemeClr>
                </a:solidFill>
                <a:latin typeface="微软雅黑" panose="020B0503020204020204" pitchFamily="34" charset="-122"/>
                <a:ea typeface="微软雅黑" panose="020B0503020204020204" pitchFamily="34" charset="-122"/>
              </a:rPr>
              <a:t>QPU</a:t>
            </a: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，因此编译器需要处理一组新的硬件约束。</a:t>
            </a:r>
          </a:p>
        </p:txBody>
      </p:sp>
    </p:spTree>
    <p:extLst>
      <p:ext uri="{BB962C8B-B14F-4D97-AF65-F5344CB8AC3E}">
        <p14:creationId xmlns:p14="http://schemas.microsoft.com/office/powerpoint/2010/main" val="29593192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0386D-6321-752F-6E1A-65D10DEF92F0}"/>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1FF64998-373B-DA30-EEAB-E25C3AB50C76}"/>
              </a:ext>
            </a:extLst>
          </p:cNvPr>
          <p:cNvSpPr/>
          <p:nvPr/>
        </p:nvSpPr>
        <p:spPr>
          <a:xfrm>
            <a:off x="3045757" y="1183341"/>
            <a:ext cx="9022977" cy="4114800"/>
          </a:xfrm>
          <a:prstGeom prst="rect">
            <a:avLst/>
          </a:prstGeom>
          <a:solidFill>
            <a:schemeClr val="accent5">
              <a:lumMod val="20000"/>
              <a:lumOff val="80000"/>
              <a:alpha val="40000"/>
            </a:schemeClr>
          </a:solidFill>
          <a:ln>
            <a:noFill/>
          </a:ln>
        </p:spPr>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51FF58E7-5009-878C-9C3B-268BA031ACAD}"/>
              </a:ext>
            </a:extLst>
          </p:cNvPr>
          <p:cNvSpPr>
            <a:spLocks noGrp="1"/>
          </p:cNvSpPr>
          <p:nvPr>
            <p:ph type="title"/>
          </p:nvPr>
        </p:nvSpPr>
        <p:spPr>
          <a:xfrm>
            <a:off x="166255" y="0"/>
            <a:ext cx="12025745" cy="738893"/>
          </a:xfrm>
        </p:spPr>
        <p:txBody>
          <a:bodyPr>
            <a:normAutofit/>
          </a:bodyPr>
          <a:lstStyle/>
          <a:p>
            <a:r>
              <a:rPr lang="zh-CN" altLang="en-US" dirty="0"/>
              <a:t>量子程序如何在</a:t>
            </a:r>
            <a:r>
              <a:rPr lang="en-US" altLang="zh-CN" dirty="0"/>
              <a:t>QPU</a:t>
            </a:r>
            <a:r>
              <a:rPr lang="zh-CN" altLang="en-US" dirty="0"/>
              <a:t>上运行？</a:t>
            </a:r>
          </a:p>
        </p:txBody>
      </p:sp>
      <p:sp>
        <p:nvSpPr>
          <p:cNvPr id="2" name="矩形: 圆角 1">
            <a:extLst>
              <a:ext uri="{FF2B5EF4-FFF2-40B4-BE49-F238E27FC236}">
                <a16:creationId xmlns:a16="http://schemas.microsoft.com/office/drawing/2014/main" id="{57DA5A05-C2B5-E4DB-70EE-62BC01EC9E31}"/>
              </a:ext>
            </a:extLst>
          </p:cNvPr>
          <p:cNvSpPr/>
          <p:nvPr/>
        </p:nvSpPr>
        <p:spPr>
          <a:xfrm>
            <a:off x="665693" y="855880"/>
            <a:ext cx="2114550" cy="618708"/>
          </a:xfrm>
          <a:prstGeom prst="roundRect">
            <a:avLst>
              <a:gd name="adj" fmla="val 10267"/>
            </a:avLst>
          </a:prstGeom>
          <a:ln>
            <a:no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r>
              <a:rPr lang="zh-CN" altLang="en-US" sz="1600" dirty="0">
                <a:latin typeface="微软雅黑" panose="020B0503020204020204" pitchFamily="34" charset="-122"/>
                <a:ea typeface="微软雅黑" panose="020B0503020204020204" pitchFamily="34" charset="-122"/>
              </a:rPr>
              <a:t>高级编程语言编写的</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量子程序（</a:t>
            </a:r>
            <a:r>
              <a:rPr lang="en-US" altLang="zh-CN" sz="1600" dirty="0" err="1">
                <a:latin typeface="微软雅黑" panose="020B0503020204020204" pitchFamily="34" charset="-122"/>
                <a:ea typeface="微软雅黑" panose="020B0503020204020204" pitchFamily="34" charset="-122"/>
              </a:rPr>
              <a:t>qaoa</a:t>
            </a:r>
            <a:r>
              <a:rPr lang="zh-CN" altLang="en-US" sz="1600" dirty="0">
                <a:latin typeface="微软雅黑" panose="020B0503020204020204" pitchFamily="34" charset="-122"/>
                <a:ea typeface="微软雅黑" panose="020B0503020204020204" pitchFamily="34" charset="-122"/>
              </a:rPr>
              <a:t>）</a:t>
            </a:r>
          </a:p>
        </p:txBody>
      </p:sp>
      <p:sp>
        <p:nvSpPr>
          <p:cNvPr id="10" name="矩形: 圆角 9">
            <a:extLst>
              <a:ext uri="{FF2B5EF4-FFF2-40B4-BE49-F238E27FC236}">
                <a16:creationId xmlns:a16="http://schemas.microsoft.com/office/drawing/2014/main" id="{E0DAF1C9-D851-38A3-9DC1-A5CA6D9EDD4D}"/>
              </a:ext>
            </a:extLst>
          </p:cNvPr>
          <p:cNvSpPr/>
          <p:nvPr/>
        </p:nvSpPr>
        <p:spPr>
          <a:xfrm>
            <a:off x="3074894" y="5629275"/>
            <a:ext cx="8263666" cy="876300"/>
          </a:xfrm>
          <a:prstGeom prst="roundRect">
            <a:avLst>
              <a:gd name="adj" fmla="val 10267"/>
            </a:avLst>
          </a:prstGeom>
          <a:ln>
            <a:solidFill>
              <a:schemeClr val="accent1">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rtlCol="0" anchor="ctr">
            <a:noAutofit/>
          </a:bodyPr>
          <a:lstStyle/>
          <a:p>
            <a:r>
              <a:rPr lang="zh-CN" altLang="en-US" dirty="0">
                <a:latin typeface="微软雅黑" panose="020B0503020204020204" pitchFamily="34" charset="-122"/>
                <a:ea typeface="微软雅黑" panose="020B0503020204020204" pitchFamily="34" charset="-122"/>
              </a:rPr>
              <a:t> 目标量子平台</a:t>
            </a:r>
            <a:endParaRPr lang="en-US" altLang="zh-CN"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B1257BCE-283C-AB77-7245-5B70DAAC79A2}"/>
              </a:ext>
            </a:extLst>
          </p:cNvPr>
          <p:cNvPicPr>
            <a:picLocks noChangeAspect="1"/>
          </p:cNvPicPr>
          <p:nvPr/>
        </p:nvPicPr>
        <p:blipFill>
          <a:blip r:embed="rId3"/>
          <a:srcRect l="1296" t="45801" r="77452" b="24690"/>
          <a:stretch>
            <a:fillRect/>
          </a:stretch>
        </p:blipFill>
        <p:spPr>
          <a:xfrm>
            <a:off x="601417" y="1464814"/>
            <a:ext cx="2393950" cy="2216150"/>
          </a:xfrm>
          <a:prstGeom prst="rect">
            <a:avLst/>
          </a:prstGeom>
        </p:spPr>
      </p:pic>
      <p:pic>
        <p:nvPicPr>
          <p:cNvPr id="45" name="图片 44">
            <a:extLst>
              <a:ext uri="{FF2B5EF4-FFF2-40B4-BE49-F238E27FC236}">
                <a16:creationId xmlns:a16="http://schemas.microsoft.com/office/drawing/2014/main" id="{C0D6D635-A804-CFFB-32A7-6E7773301D94}"/>
              </a:ext>
            </a:extLst>
          </p:cNvPr>
          <p:cNvPicPr>
            <a:picLocks noChangeAspect="1"/>
          </p:cNvPicPr>
          <p:nvPr/>
        </p:nvPicPr>
        <p:blipFill>
          <a:blip r:embed="rId4"/>
          <a:srcRect l="16290" t="88195" r="30885" b="1944"/>
          <a:stretch>
            <a:fillRect/>
          </a:stretch>
        </p:blipFill>
        <p:spPr>
          <a:xfrm>
            <a:off x="4738945" y="5753099"/>
            <a:ext cx="6343650" cy="676275"/>
          </a:xfrm>
          <a:prstGeom prst="rect">
            <a:avLst/>
          </a:prstGeom>
        </p:spPr>
      </p:pic>
      <p:pic>
        <p:nvPicPr>
          <p:cNvPr id="5" name="图片 4">
            <a:extLst>
              <a:ext uri="{FF2B5EF4-FFF2-40B4-BE49-F238E27FC236}">
                <a16:creationId xmlns:a16="http://schemas.microsoft.com/office/drawing/2014/main" id="{B3440BC4-636A-B6A6-643B-F92FCF392990}"/>
              </a:ext>
            </a:extLst>
          </p:cNvPr>
          <p:cNvPicPr>
            <a:picLocks noChangeAspect="1"/>
          </p:cNvPicPr>
          <p:nvPr/>
        </p:nvPicPr>
        <p:blipFill>
          <a:blip r:embed="rId5"/>
          <a:srcRect l="1952" t="21471" r="69701" b="36764"/>
          <a:stretch>
            <a:fillRect/>
          </a:stretch>
        </p:blipFill>
        <p:spPr>
          <a:xfrm>
            <a:off x="3307977" y="2514599"/>
            <a:ext cx="2699322" cy="2272551"/>
          </a:xfrm>
          <a:prstGeom prst="rect">
            <a:avLst/>
          </a:prstGeom>
          <a:ln>
            <a:solidFill>
              <a:schemeClr val="accent1">
                <a:lumMod val="60000"/>
                <a:lumOff val="40000"/>
              </a:schemeClr>
            </a:solidFill>
          </a:ln>
        </p:spPr>
      </p:pic>
      <p:pic>
        <p:nvPicPr>
          <p:cNvPr id="13" name="图片 12">
            <a:extLst>
              <a:ext uri="{FF2B5EF4-FFF2-40B4-BE49-F238E27FC236}">
                <a16:creationId xmlns:a16="http://schemas.microsoft.com/office/drawing/2014/main" id="{87CC98AF-6D5D-1332-5F52-2C4B45152999}"/>
              </a:ext>
            </a:extLst>
          </p:cNvPr>
          <p:cNvPicPr>
            <a:picLocks noChangeAspect="1"/>
          </p:cNvPicPr>
          <p:nvPr/>
        </p:nvPicPr>
        <p:blipFill>
          <a:blip r:embed="rId5"/>
          <a:srcRect l="33043" t="20524" r="33348" b="34250"/>
          <a:stretch>
            <a:fillRect/>
          </a:stretch>
        </p:blipFill>
        <p:spPr>
          <a:xfrm>
            <a:off x="6207322" y="2528046"/>
            <a:ext cx="2841851" cy="2259105"/>
          </a:xfrm>
          <a:prstGeom prst="rect">
            <a:avLst/>
          </a:prstGeom>
          <a:ln>
            <a:solidFill>
              <a:schemeClr val="accent1">
                <a:lumMod val="60000"/>
                <a:lumOff val="40000"/>
              </a:schemeClr>
            </a:solidFill>
          </a:ln>
        </p:spPr>
      </p:pic>
      <p:sp>
        <p:nvSpPr>
          <p:cNvPr id="32" name="箭头: 右 31">
            <a:extLst>
              <a:ext uri="{FF2B5EF4-FFF2-40B4-BE49-F238E27FC236}">
                <a16:creationId xmlns:a16="http://schemas.microsoft.com/office/drawing/2014/main" id="{D687A2CE-A4D9-A9F7-01DD-673EE6EFA4AB}"/>
              </a:ext>
            </a:extLst>
          </p:cNvPr>
          <p:cNvSpPr/>
          <p:nvPr/>
        </p:nvSpPr>
        <p:spPr>
          <a:xfrm>
            <a:off x="5761318" y="3363631"/>
            <a:ext cx="495300" cy="520700"/>
          </a:xfrm>
          <a:prstGeom prst="rightArrow">
            <a:avLst/>
          </a:prstGeom>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10124264-73C4-62DE-1AF9-5B0DF5412A49}"/>
              </a:ext>
            </a:extLst>
          </p:cNvPr>
          <p:cNvPicPr>
            <a:picLocks noChangeAspect="1"/>
          </p:cNvPicPr>
          <p:nvPr/>
        </p:nvPicPr>
        <p:blipFill>
          <a:blip r:embed="rId5"/>
          <a:srcRect l="68933" t="20253" r="841" b="34521"/>
          <a:stretch>
            <a:fillRect/>
          </a:stretch>
        </p:blipFill>
        <p:spPr>
          <a:xfrm>
            <a:off x="9309042" y="2559322"/>
            <a:ext cx="2642283" cy="2259105"/>
          </a:xfrm>
          <a:prstGeom prst="rect">
            <a:avLst/>
          </a:prstGeom>
          <a:ln>
            <a:solidFill>
              <a:schemeClr val="accent1">
                <a:lumMod val="60000"/>
                <a:lumOff val="40000"/>
              </a:schemeClr>
            </a:solidFill>
          </a:ln>
        </p:spPr>
      </p:pic>
      <p:cxnSp>
        <p:nvCxnSpPr>
          <p:cNvPr id="29" name="连接符: 曲线 28">
            <a:extLst>
              <a:ext uri="{FF2B5EF4-FFF2-40B4-BE49-F238E27FC236}">
                <a16:creationId xmlns:a16="http://schemas.microsoft.com/office/drawing/2014/main" id="{F65A3AFA-BBA6-16FC-DC29-43DAD75C8D77}"/>
              </a:ext>
            </a:extLst>
          </p:cNvPr>
          <p:cNvCxnSpPr>
            <a:cxnSpLocks/>
            <a:stCxn id="12" idx="0"/>
            <a:endCxn id="8" idx="0"/>
          </p:cNvCxnSpPr>
          <p:nvPr/>
        </p:nvCxnSpPr>
        <p:spPr>
          <a:xfrm rot="5400000" flipH="1" flipV="1">
            <a:off x="4492072" y="-1341686"/>
            <a:ext cx="112820" cy="5500181"/>
          </a:xfrm>
          <a:prstGeom prst="curvedConnector3">
            <a:avLst>
              <a:gd name="adj1" fmla="val 302624"/>
            </a:avLst>
          </a:prstGeom>
          <a:ln w="254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连接符: 曲线 25">
            <a:extLst>
              <a:ext uri="{FF2B5EF4-FFF2-40B4-BE49-F238E27FC236}">
                <a16:creationId xmlns:a16="http://schemas.microsoft.com/office/drawing/2014/main" id="{CC8C39DD-309F-99F4-ED0E-392597B8EBA1}"/>
              </a:ext>
            </a:extLst>
          </p:cNvPr>
          <p:cNvCxnSpPr>
            <a:cxnSpLocks/>
            <a:stCxn id="16" idx="2"/>
            <a:endCxn id="10" idx="0"/>
          </p:cNvCxnSpPr>
          <p:nvPr/>
        </p:nvCxnSpPr>
        <p:spPr>
          <a:xfrm rot="5400000">
            <a:off x="8513032" y="3512123"/>
            <a:ext cx="810848" cy="3423457"/>
          </a:xfrm>
          <a:prstGeom prst="curvedConnector3">
            <a:avLst/>
          </a:prstGeom>
          <a:ln w="25400">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34" name="箭头: 右 33">
            <a:extLst>
              <a:ext uri="{FF2B5EF4-FFF2-40B4-BE49-F238E27FC236}">
                <a16:creationId xmlns:a16="http://schemas.microsoft.com/office/drawing/2014/main" id="{C8FE1819-9675-93A9-75DB-901F7CA1BE8D}"/>
              </a:ext>
            </a:extLst>
          </p:cNvPr>
          <p:cNvSpPr/>
          <p:nvPr/>
        </p:nvSpPr>
        <p:spPr>
          <a:xfrm>
            <a:off x="8871149" y="3358054"/>
            <a:ext cx="495300" cy="520700"/>
          </a:xfrm>
          <a:prstGeom prst="rightArrow">
            <a:avLst/>
          </a:prstGeom>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62497486-863C-71DB-E284-EFE2D5BCFD69}"/>
              </a:ext>
            </a:extLst>
          </p:cNvPr>
          <p:cNvSpPr txBox="1"/>
          <p:nvPr/>
        </p:nvSpPr>
        <p:spPr>
          <a:xfrm>
            <a:off x="5551682" y="1351994"/>
            <a:ext cx="3493781"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2400" b="1" dirty="0">
                <a:latin typeface="微软雅黑" panose="020B0503020204020204" pitchFamily="34" charset="-122"/>
                <a:ea typeface="微软雅黑" panose="020B0503020204020204" pitchFamily="34" charset="-122"/>
              </a:rPr>
              <a:t>量子编译器</a:t>
            </a:r>
            <a:endParaRPr lang="en-US" altLang="zh-CN" sz="2400" b="0" kern="1200" noProof="0" dirty="0">
              <a:solidFill>
                <a:schemeClr val="tx1"/>
              </a:solidFill>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CFC3CFB9-5188-3ACF-4EA2-CBD91D0EDCE2}"/>
              </a:ext>
            </a:extLst>
          </p:cNvPr>
          <p:cNvSpPr/>
          <p:nvPr/>
        </p:nvSpPr>
        <p:spPr>
          <a:xfrm>
            <a:off x="3348318" y="1797117"/>
            <a:ext cx="2536638" cy="651272"/>
          </a:xfrm>
          <a:prstGeom prst="roundRect">
            <a:avLst>
              <a:gd name="adj" fmla="val 10267"/>
            </a:avLst>
          </a:prstGeom>
          <a:noFill/>
          <a:ln>
            <a:no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r>
              <a:rPr lang="zh-CN" altLang="en-US" b="1" dirty="0">
                <a:latin typeface="微软雅黑" panose="020B0503020204020204" pitchFamily="34" charset="-122"/>
                <a:ea typeface="微软雅黑" panose="020B0503020204020204" pitchFamily="34" charset="-122"/>
              </a:rPr>
              <a:t>门分解</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（中间表示）</a:t>
            </a:r>
          </a:p>
        </p:txBody>
      </p:sp>
      <p:sp>
        <p:nvSpPr>
          <p:cNvPr id="23" name="矩形: 圆角 22">
            <a:extLst>
              <a:ext uri="{FF2B5EF4-FFF2-40B4-BE49-F238E27FC236}">
                <a16:creationId xmlns:a16="http://schemas.microsoft.com/office/drawing/2014/main" id="{E3694201-A23B-9A3A-46A4-4E762DC532D7}"/>
              </a:ext>
            </a:extLst>
          </p:cNvPr>
          <p:cNvSpPr/>
          <p:nvPr/>
        </p:nvSpPr>
        <p:spPr>
          <a:xfrm>
            <a:off x="6279030" y="1797117"/>
            <a:ext cx="2508250" cy="651272"/>
          </a:xfrm>
          <a:prstGeom prst="roundRect">
            <a:avLst>
              <a:gd name="adj" fmla="val 10267"/>
            </a:avLst>
          </a:prstGeom>
          <a:noFill/>
          <a:ln>
            <a:no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r>
              <a:rPr lang="zh-CN" altLang="en-US" b="1" dirty="0">
                <a:latin typeface="微软雅黑" panose="020B0503020204020204" pitchFamily="34" charset="-122"/>
                <a:ea typeface="微软雅黑" panose="020B0503020204020204" pitchFamily="34" charset="-122"/>
              </a:rPr>
              <a:t>比特映射和路由</a:t>
            </a:r>
            <a:endParaRPr lang="en-US" altLang="zh-CN" b="1"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（中间表示）</a:t>
            </a:r>
          </a:p>
        </p:txBody>
      </p:sp>
      <p:sp>
        <p:nvSpPr>
          <p:cNvPr id="27" name="矩形: 圆角 26">
            <a:extLst>
              <a:ext uri="{FF2B5EF4-FFF2-40B4-BE49-F238E27FC236}">
                <a16:creationId xmlns:a16="http://schemas.microsoft.com/office/drawing/2014/main" id="{68922FA6-7920-3459-8723-1FB28A14BD82}"/>
              </a:ext>
            </a:extLst>
          </p:cNvPr>
          <p:cNvSpPr/>
          <p:nvPr/>
        </p:nvSpPr>
        <p:spPr>
          <a:xfrm>
            <a:off x="9122335" y="1797117"/>
            <a:ext cx="2508250" cy="651272"/>
          </a:xfrm>
          <a:prstGeom prst="roundRect">
            <a:avLst>
              <a:gd name="adj" fmla="val 10267"/>
            </a:avLst>
          </a:prstGeom>
          <a:noFill/>
          <a:ln>
            <a:no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r>
              <a:rPr lang="zh-CN" altLang="en-US" b="1" dirty="0">
                <a:latin typeface="微软雅黑" panose="020B0503020204020204" pitchFamily="34" charset="-122"/>
                <a:ea typeface="微软雅黑" panose="020B0503020204020204" pitchFamily="34" charset="-122"/>
              </a:rPr>
              <a:t>目标代码生成</a:t>
            </a:r>
            <a:endParaRPr lang="en-US" altLang="zh-CN" b="1"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（量子指令</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汇编）</a:t>
            </a:r>
          </a:p>
        </p:txBody>
      </p:sp>
      <p:sp>
        <p:nvSpPr>
          <p:cNvPr id="39" name="矩形: 圆角 38">
            <a:extLst>
              <a:ext uri="{FF2B5EF4-FFF2-40B4-BE49-F238E27FC236}">
                <a16:creationId xmlns:a16="http://schemas.microsoft.com/office/drawing/2014/main" id="{FF47C0AC-9D31-F74A-211A-B85AF56DED6E}"/>
              </a:ext>
            </a:extLst>
          </p:cNvPr>
          <p:cNvSpPr/>
          <p:nvPr/>
        </p:nvSpPr>
        <p:spPr>
          <a:xfrm>
            <a:off x="595659" y="3896029"/>
            <a:ext cx="2105588" cy="468000"/>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r>
              <a:rPr lang="zh-CN" altLang="en-US" sz="1600" b="1" dirty="0">
                <a:solidFill>
                  <a:prstClr val="black"/>
                </a:solidFill>
                <a:latin typeface="微软雅黑" panose="020B0503020204020204" pitchFamily="34" charset="-122"/>
                <a:ea typeface="微软雅黑" panose="020B0503020204020204" pitchFamily="34" charset="-122"/>
              </a:rPr>
              <a:t>量子程序（</a:t>
            </a:r>
            <a:r>
              <a:rPr lang="en-US" altLang="zh-CN" sz="1600" b="1" dirty="0">
                <a:solidFill>
                  <a:prstClr val="black"/>
                </a:solidFill>
                <a:latin typeface="微软雅黑" panose="020B0503020204020204" pitchFamily="34" charset="-122"/>
                <a:ea typeface="微软雅黑" panose="020B0503020204020204" pitchFamily="34" charset="-122"/>
              </a:rPr>
              <a:t>Python/C</a:t>
            </a:r>
            <a:r>
              <a:rPr lang="zh-CN" altLang="en-US" sz="1600" b="1" dirty="0">
                <a:solidFill>
                  <a:prstClr val="black"/>
                </a:solidFill>
                <a:latin typeface="微软雅黑" panose="020B0503020204020204" pitchFamily="34" charset="-122"/>
                <a:ea typeface="微软雅黑" panose="020B0503020204020204" pitchFamily="34" charset="-122"/>
              </a:rPr>
              <a:t>）</a:t>
            </a:r>
          </a:p>
        </p:txBody>
      </p:sp>
      <p:sp>
        <p:nvSpPr>
          <p:cNvPr id="40" name="矩形: 圆角 39">
            <a:extLst>
              <a:ext uri="{FF2B5EF4-FFF2-40B4-BE49-F238E27FC236}">
                <a16:creationId xmlns:a16="http://schemas.microsoft.com/office/drawing/2014/main" id="{DA38B7F3-39C0-E738-6719-056BC437F865}"/>
              </a:ext>
            </a:extLst>
          </p:cNvPr>
          <p:cNvSpPr/>
          <p:nvPr/>
        </p:nvSpPr>
        <p:spPr>
          <a:xfrm>
            <a:off x="595659" y="5256712"/>
            <a:ext cx="2105588" cy="468000"/>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目标量子汇编</a:t>
            </a:r>
            <a:r>
              <a:rPr lang="en-US" altLang="zh-CN" sz="1600" b="1" dirty="0">
                <a:solidFill>
                  <a:prstClr val="black"/>
                </a:solidFill>
                <a:latin typeface="微软雅黑" panose="020B0503020204020204" pitchFamily="34" charset="-122"/>
                <a:ea typeface="微软雅黑" panose="020B0503020204020204" pitchFamily="34" charset="-122"/>
              </a:rPr>
              <a:t>/</a:t>
            </a:r>
            <a:r>
              <a:rPr lang="zh-CN" altLang="en-US" sz="1600" b="1" dirty="0">
                <a:solidFill>
                  <a:prstClr val="black"/>
                </a:solidFill>
                <a:latin typeface="微软雅黑" panose="020B0503020204020204" pitchFamily="34" charset="-122"/>
                <a:ea typeface="微软雅黑" panose="020B0503020204020204" pitchFamily="34" charset="-122"/>
              </a:rPr>
              <a:t>指令</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1" name="矩形: 圆角 40">
            <a:extLst>
              <a:ext uri="{FF2B5EF4-FFF2-40B4-BE49-F238E27FC236}">
                <a16:creationId xmlns:a16="http://schemas.microsoft.com/office/drawing/2014/main" id="{BEAF4E53-EB19-7658-40DB-D3EEE93F29DA}"/>
              </a:ext>
            </a:extLst>
          </p:cNvPr>
          <p:cNvSpPr/>
          <p:nvPr/>
        </p:nvSpPr>
        <p:spPr>
          <a:xfrm>
            <a:off x="595659" y="5826813"/>
            <a:ext cx="2105588" cy="468000"/>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物理</a:t>
            </a:r>
            <a:r>
              <a:rPr lang="zh-CN" altLang="en-US" sz="1600" b="1" dirty="0">
                <a:solidFill>
                  <a:prstClr val="black"/>
                </a:solidFill>
                <a:latin typeface="微软雅黑" panose="020B0503020204020204" pitchFamily="34" charset="-122"/>
                <a:ea typeface="微软雅黑" panose="020B0503020204020204" pitchFamily="34" charset="-122"/>
              </a:rPr>
              <a:t>控制信号</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42" name="直接箭头连接符 41">
            <a:extLst>
              <a:ext uri="{FF2B5EF4-FFF2-40B4-BE49-F238E27FC236}">
                <a16:creationId xmlns:a16="http://schemas.microsoft.com/office/drawing/2014/main" id="{EEFC3EA4-3CAA-2C32-9CB8-1FD3A0C75C1B}"/>
              </a:ext>
            </a:extLst>
          </p:cNvPr>
          <p:cNvCxnSpPr>
            <a:cxnSpLocks/>
            <a:stCxn id="39" idx="2"/>
            <a:endCxn id="46" idx="0"/>
          </p:cNvCxnSpPr>
          <p:nvPr/>
        </p:nvCxnSpPr>
        <p:spPr>
          <a:xfrm>
            <a:off x="1648453" y="4364029"/>
            <a:ext cx="0" cy="15225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279EF6D-88C9-B6FD-2672-2007AFB73F7C}"/>
              </a:ext>
            </a:extLst>
          </p:cNvPr>
          <p:cNvCxnSpPr>
            <a:cxnSpLocks/>
            <a:stCxn id="46" idx="2"/>
            <a:endCxn id="40" idx="0"/>
          </p:cNvCxnSpPr>
          <p:nvPr/>
        </p:nvCxnSpPr>
        <p:spPr>
          <a:xfrm>
            <a:off x="1648453" y="4984280"/>
            <a:ext cx="0" cy="27243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78B62C38-71B1-62B8-78B1-4BC973953D67}"/>
              </a:ext>
            </a:extLst>
          </p:cNvPr>
          <p:cNvCxnSpPr>
            <a:cxnSpLocks/>
            <a:stCxn id="40" idx="2"/>
            <a:endCxn id="41" idx="0"/>
          </p:cNvCxnSpPr>
          <p:nvPr/>
        </p:nvCxnSpPr>
        <p:spPr>
          <a:xfrm>
            <a:off x="1648453" y="5724712"/>
            <a:ext cx="0" cy="10210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圆角 45">
            <a:extLst>
              <a:ext uri="{FF2B5EF4-FFF2-40B4-BE49-F238E27FC236}">
                <a16:creationId xmlns:a16="http://schemas.microsoft.com/office/drawing/2014/main" id="{59DF19CC-7AA1-7BF6-A1EC-72A4AC0C4724}"/>
              </a:ext>
            </a:extLst>
          </p:cNvPr>
          <p:cNvSpPr/>
          <p:nvPr/>
        </p:nvSpPr>
        <p:spPr>
          <a:xfrm>
            <a:off x="595659" y="4516280"/>
            <a:ext cx="2105588" cy="468000"/>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中间表示</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7" name="文本框 46">
            <a:extLst>
              <a:ext uri="{FF2B5EF4-FFF2-40B4-BE49-F238E27FC236}">
                <a16:creationId xmlns:a16="http://schemas.microsoft.com/office/drawing/2014/main" id="{0795F74B-D820-BD60-DF90-CD11EA565B66}"/>
              </a:ext>
            </a:extLst>
          </p:cNvPr>
          <p:cNvSpPr txBox="1"/>
          <p:nvPr/>
        </p:nvSpPr>
        <p:spPr>
          <a:xfrm>
            <a:off x="215152" y="4980924"/>
            <a:ext cx="1550895" cy="31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基础门分解</a:t>
            </a:r>
            <a:endParaRPr lang="en-US" altLang="zh-CN" sz="1400" kern="1200" noProof="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BDBB59DB-126D-3C4F-12CB-3762D9CF012A}"/>
              </a:ext>
            </a:extLst>
          </p:cNvPr>
          <p:cNvSpPr txBox="1"/>
          <p:nvPr/>
        </p:nvSpPr>
        <p:spPr>
          <a:xfrm>
            <a:off x="1703295" y="4989887"/>
            <a:ext cx="1999129" cy="317218"/>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比特映射与路由</a:t>
            </a:r>
            <a:endParaRPr lang="en-US" altLang="zh-CN" sz="1400" kern="1200" noProof="0" dirty="0">
              <a:solidFill>
                <a:schemeClr val="accent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9823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E96C-DFA6-C768-1A76-5E8341EF634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0312586-21FA-2CA0-5BE2-B68A43E14A5C}"/>
              </a:ext>
            </a:extLst>
          </p:cNvPr>
          <p:cNvSpPr>
            <a:spLocks noGrp="1"/>
          </p:cNvSpPr>
          <p:nvPr>
            <p:ph type="title"/>
          </p:nvPr>
        </p:nvSpPr>
        <p:spPr>
          <a:xfrm>
            <a:off x="166255" y="0"/>
            <a:ext cx="12025745" cy="738893"/>
          </a:xfrm>
        </p:spPr>
        <p:txBody>
          <a:bodyPr>
            <a:normAutofit/>
          </a:bodyPr>
          <a:lstStyle/>
          <a:p>
            <a:r>
              <a:rPr lang="zh-CN" altLang="en-US" dirty="0"/>
              <a:t>量子程序如何在</a:t>
            </a:r>
            <a:r>
              <a:rPr lang="en-US" altLang="zh-CN" dirty="0"/>
              <a:t>QPU</a:t>
            </a:r>
            <a:r>
              <a:rPr lang="zh-CN" altLang="en-US" dirty="0"/>
              <a:t>上运行？</a:t>
            </a:r>
          </a:p>
        </p:txBody>
      </p:sp>
      <p:sp>
        <p:nvSpPr>
          <p:cNvPr id="4" name="内容占位符 1">
            <a:extLst>
              <a:ext uri="{FF2B5EF4-FFF2-40B4-BE49-F238E27FC236}">
                <a16:creationId xmlns:a16="http://schemas.microsoft.com/office/drawing/2014/main" id="{DBC4B2A1-1CD9-C3AB-A67A-9EB29E65A7BF}"/>
              </a:ext>
            </a:extLst>
          </p:cNvPr>
          <p:cNvSpPr txBox="1"/>
          <p:nvPr/>
        </p:nvSpPr>
        <p:spPr bwMode="auto">
          <a:xfrm>
            <a:off x="576000" y="1080000"/>
            <a:ext cx="10080000" cy="629928"/>
          </a:xfrm>
          <a:prstGeom prst="rect">
            <a:avLst/>
          </a:prstGeom>
        </p:spPr>
        <p:txBody>
          <a:bodyPr vert="horz" lIns="91440" tIns="45720" rIns="91440" bIns="45720" rtlCol="0">
            <a:normAutofit/>
          </a:bodyPr>
          <a:lstStyle>
            <a:lvl1pPr marL="355600" indent="-355600" algn="l" defTabSz="914400">
              <a:lnSpc>
                <a:spcPct val="113999"/>
              </a:lnSpc>
              <a:spcBef>
                <a:spcPts val="1000"/>
              </a:spcBef>
              <a:buClr>
                <a:schemeClr val="accent1"/>
              </a:buClr>
              <a:buSzPct val="90000"/>
              <a:buFont typeface="Wingdings"/>
              <a:buChar char="q"/>
              <a:defRPr sz="2800" b="1">
                <a:solidFill>
                  <a:schemeClr val="tx1"/>
                </a:solidFill>
                <a:latin typeface="微软雅黑"/>
                <a:ea typeface="微软雅黑"/>
                <a:cs typeface="Times New Roman"/>
              </a:defRPr>
            </a:lvl1pPr>
            <a:lvl2pPr marL="685800" indent="-234950" algn="l" defTabSz="914400">
              <a:lnSpc>
                <a:spcPct val="113999"/>
              </a:lnSpc>
              <a:spcBef>
                <a:spcPts val="500"/>
              </a:spcBef>
              <a:buClr>
                <a:schemeClr val="accent1"/>
              </a:buClr>
              <a:buSzPct val="90000"/>
              <a:buFont typeface="Wingdings"/>
              <a:buChar char="n"/>
              <a:defRPr sz="2400">
                <a:solidFill>
                  <a:schemeClr val="tx1"/>
                </a:solidFill>
                <a:latin typeface="微软雅黑"/>
                <a:ea typeface="微软雅黑"/>
                <a:cs typeface="+mn-cs"/>
              </a:defRPr>
            </a:lvl2pPr>
            <a:lvl3pPr marL="986155" indent="-273050" algn="l" defTabSz="914400">
              <a:lnSpc>
                <a:spcPct val="113999"/>
              </a:lnSpc>
              <a:spcBef>
                <a:spcPts val="500"/>
              </a:spcBef>
              <a:buClr>
                <a:schemeClr val="accent1"/>
              </a:buClr>
              <a:buFont typeface="Wingdings"/>
              <a:buChar char="v"/>
              <a:defRPr sz="2000">
                <a:solidFill>
                  <a:schemeClr val="tx1"/>
                </a:solidFill>
                <a:latin typeface="微软雅黑"/>
                <a:ea typeface="微软雅黑"/>
                <a:cs typeface="+mn-cs"/>
              </a:defRPr>
            </a:lvl3pPr>
            <a:lvl4pPr marL="1262380" indent="-228600" algn="l" defTabSz="914400">
              <a:lnSpc>
                <a:spcPct val="113999"/>
              </a:lnSpc>
              <a:spcBef>
                <a:spcPts val="500"/>
              </a:spcBef>
              <a:buClr>
                <a:schemeClr val="accent1"/>
              </a:buClr>
              <a:buFont typeface="Wingdings"/>
              <a:buChar char="ü"/>
              <a:defRPr sz="1800">
                <a:solidFill>
                  <a:schemeClr val="tx1"/>
                </a:solidFill>
                <a:latin typeface="微软雅黑"/>
                <a:ea typeface="微软雅黑"/>
                <a:cs typeface="+mn-cs"/>
              </a:defRPr>
            </a:lvl4pPr>
            <a:lvl5pPr marL="1524000" indent="-228600" algn="l" defTabSz="914400">
              <a:lnSpc>
                <a:spcPct val="113999"/>
              </a:lnSpc>
              <a:spcBef>
                <a:spcPts val="500"/>
              </a:spcBef>
              <a:buClr>
                <a:schemeClr val="accent1"/>
              </a:buClr>
              <a:buFont typeface="Wingdings"/>
              <a:buChar char="§"/>
              <a:defRPr sz="1800">
                <a:solidFill>
                  <a:schemeClr val="tx1"/>
                </a:solidFill>
                <a:latin typeface="微软雅黑"/>
                <a:ea typeface="微软雅黑"/>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355600" marR="0" lvl="0" indent="-355600" algn="l" defTabSz="914400">
              <a:lnSpc>
                <a:spcPct val="113999"/>
              </a:lnSpc>
              <a:spcBef>
                <a:spcPts val="1000"/>
              </a:spcBef>
              <a:spcAft>
                <a:spcPts val="0"/>
              </a:spcAft>
              <a:buClr>
                <a:srgbClr val="4472C4"/>
              </a:buClr>
              <a:buSzPct val="90000"/>
              <a:buFont typeface="Wingdings"/>
              <a:buChar char="q"/>
              <a:defRPr/>
            </a:pPr>
            <a:r>
              <a:rPr lang="zh-CN" sz="2400" dirty="0">
                <a:solidFill>
                  <a:prstClr val="black"/>
                </a:solidFill>
              </a:rPr>
              <a:t>量子线路编译研究现状</a:t>
            </a:r>
            <a:endParaRPr lang="en-US" sz="2000" b="0" i="0" u="none" strike="noStrike" cap="none" spc="0" dirty="0">
              <a:ln>
                <a:noFill/>
              </a:ln>
              <a:latin typeface="微软雅黑"/>
              <a:ea typeface="微软雅黑"/>
              <a:cs typeface="+mn-cs"/>
            </a:endParaRPr>
          </a:p>
        </p:txBody>
      </p:sp>
      <p:sp>
        <p:nvSpPr>
          <p:cNvPr id="6" name="矩形: 圆角 5">
            <a:extLst>
              <a:ext uri="{FF2B5EF4-FFF2-40B4-BE49-F238E27FC236}">
                <a16:creationId xmlns:a16="http://schemas.microsoft.com/office/drawing/2014/main" id="{3076CA8F-F92C-1967-7986-71B233774A0F}"/>
              </a:ext>
            </a:extLst>
          </p:cNvPr>
          <p:cNvSpPr/>
          <p:nvPr/>
        </p:nvSpPr>
        <p:spPr bwMode="auto">
          <a:xfrm>
            <a:off x="1989693" y="2996576"/>
            <a:ext cx="432000" cy="1620000"/>
          </a:xfrm>
          <a:prstGeom prst="roundRect">
            <a:avLst>
              <a:gd name="adj" fmla="val 16667"/>
            </a:avLst>
          </a:prstGeom>
          <a:no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latin typeface="微软雅黑"/>
                <a:ea typeface="微软雅黑"/>
              </a:rPr>
              <a:t>量子算法</a:t>
            </a:r>
            <a:endParaRPr/>
          </a:p>
        </p:txBody>
      </p:sp>
      <p:sp>
        <p:nvSpPr>
          <p:cNvPr id="9" name="矩形: 圆角 8">
            <a:extLst>
              <a:ext uri="{FF2B5EF4-FFF2-40B4-BE49-F238E27FC236}">
                <a16:creationId xmlns:a16="http://schemas.microsoft.com/office/drawing/2014/main" id="{0315C69E-D740-3CC8-5410-F4EFB9F464FC}"/>
              </a:ext>
            </a:extLst>
          </p:cNvPr>
          <p:cNvSpPr/>
          <p:nvPr/>
        </p:nvSpPr>
        <p:spPr bwMode="auto">
          <a:xfrm>
            <a:off x="2911469" y="2996576"/>
            <a:ext cx="432000" cy="1620000"/>
          </a:xfrm>
          <a:prstGeom prst="roundRect">
            <a:avLst>
              <a:gd name="adj" fmla="val 16667"/>
            </a:avLst>
          </a:prstGeom>
          <a:no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latin typeface="微软雅黑"/>
                <a:ea typeface="微软雅黑"/>
              </a:rPr>
              <a:t>量子线路</a:t>
            </a:r>
            <a:endParaRPr/>
          </a:p>
        </p:txBody>
      </p:sp>
      <p:sp>
        <p:nvSpPr>
          <p:cNvPr id="11" name="矩形: 圆角 10">
            <a:extLst>
              <a:ext uri="{FF2B5EF4-FFF2-40B4-BE49-F238E27FC236}">
                <a16:creationId xmlns:a16="http://schemas.microsoft.com/office/drawing/2014/main" id="{9B309FD2-0C87-B3E8-68C2-D2E445B7F46B}"/>
              </a:ext>
            </a:extLst>
          </p:cNvPr>
          <p:cNvSpPr/>
          <p:nvPr/>
        </p:nvSpPr>
        <p:spPr bwMode="auto">
          <a:xfrm>
            <a:off x="3833245" y="2996576"/>
            <a:ext cx="432000" cy="1620000"/>
          </a:xfrm>
          <a:prstGeom prst="roundRect">
            <a:avLst>
              <a:gd name="adj" fmla="val 16667"/>
            </a:avLst>
          </a:prstGeom>
          <a:no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latin typeface="微软雅黑"/>
                <a:ea typeface="微软雅黑"/>
              </a:rPr>
              <a:t>量子中间表示</a:t>
            </a:r>
            <a:endParaRPr/>
          </a:p>
        </p:txBody>
      </p:sp>
      <p:sp>
        <p:nvSpPr>
          <p:cNvPr id="14" name="矩形 13">
            <a:extLst>
              <a:ext uri="{FF2B5EF4-FFF2-40B4-BE49-F238E27FC236}">
                <a16:creationId xmlns:a16="http://schemas.microsoft.com/office/drawing/2014/main" id="{074BA257-DAA4-800D-6E12-06DF73240A54}"/>
              </a:ext>
            </a:extLst>
          </p:cNvPr>
          <p:cNvSpPr/>
          <p:nvPr/>
        </p:nvSpPr>
        <p:spPr bwMode="auto">
          <a:xfrm>
            <a:off x="4755020" y="2618576"/>
            <a:ext cx="432000" cy="2376000"/>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solidFill>
                  <a:schemeClr val="dk1"/>
                </a:solidFill>
                <a:latin typeface="微软雅黑"/>
                <a:ea typeface="微软雅黑"/>
              </a:rPr>
              <a:t>量子门分解</a:t>
            </a:r>
            <a:endParaRPr/>
          </a:p>
        </p:txBody>
      </p:sp>
      <p:sp>
        <p:nvSpPr>
          <p:cNvPr id="15" name="矩形 14">
            <a:extLst>
              <a:ext uri="{FF2B5EF4-FFF2-40B4-BE49-F238E27FC236}">
                <a16:creationId xmlns:a16="http://schemas.microsoft.com/office/drawing/2014/main" id="{B530EF9B-0F92-3C06-3F3E-4D2D4D8B2D7A}"/>
              </a:ext>
            </a:extLst>
          </p:cNvPr>
          <p:cNvSpPr/>
          <p:nvPr/>
        </p:nvSpPr>
        <p:spPr bwMode="auto">
          <a:xfrm>
            <a:off x="5676797" y="2618576"/>
            <a:ext cx="432000" cy="2376000"/>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solidFill>
                  <a:schemeClr val="dk1"/>
                </a:solidFill>
                <a:latin typeface="微软雅黑"/>
                <a:ea typeface="微软雅黑"/>
              </a:rPr>
              <a:t>逻辑线路优化</a:t>
            </a:r>
            <a:endParaRPr/>
          </a:p>
        </p:txBody>
      </p:sp>
      <p:sp>
        <p:nvSpPr>
          <p:cNvPr id="17" name="矩形 16">
            <a:extLst>
              <a:ext uri="{FF2B5EF4-FFF2-40B4-BE49-F238E27FC236}">
                <a16:creationId xmlns:a16="http://schemas.microsoft.com/office/drawing/2014/main" id="{DC93C7CB-7476-63C1-58F1-AF08B2EEABE6}"/>
              </a:ext>
            </a:extLst>
          </p:cNvPr>
          <p:cNvSpPr/>
          <p:nvPr/>
        </p:nvSpPr>
        <p:spPr bwMode="auto">
          <a:xfrm>
            <a:off x="6598573" y="2618576"/>
            <a:ext cx="432000" cy="2376000"/>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latin typeface="微软雅黑"/>
                <a:ea typeface="微软雅黑"/>
              </a:rPr>
              <a:t>量子比特映射及路由</a:t>
            </a:r>
            <a:endParaRPr/>
          </a:p>
        </p:txBody>
      </p:sp>
      <p:sp>
        <p:nvSpPr>
          <p:cNvPr id="18" name="矩形 17">
            <a:extLst>
              <a:ext uri="{FF2B5EF4-FFF2-40B4-BE49-F238E27FC236}">
                <a16:creationId xmlns:a16="http://schemas.microsoft.com/office/drawing/2014/main" id="{45E0A1F9-A734-29E1-7EDA-1EBBD5AEC655}"/>
              </a:ext>
            </a:extLst>
          </p:cNvPr>
          <p:cNvSpPr/>
          <p:nvPr/>
        </p:nvSpPr>
        <p:spPr bwMode="auto">
          <a:xfrm>
            <a:off x="7520349" y="2618576"/>
            <a:ext cx="432000" cy="2376000"/>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latin typeface="微软雅黑"/>
                <a:ea typeface="微软雅黑"/>
              </a:rPr>
              <a:t>线路等价变换优化</a:t>
            </a:r>
            <a:endParaRPr/>
          </a:p>
        </p:txBody>
      </p:sp>
      <p:sp>
        <p:nvSpPr>
          <p:cNvPr id="20" name="矩形 19">
            <a:extLst>
              <a:ext uri="{FF2B5EF4-FFF2-40B4-BE49-F238E27FC236}">
                <a16:creationId xmlns:a16="http://schemas.microsoft.com/office/drawing/2014/main" id="{3F5ABE82-CDC6-FAD0-221A-D2ED8E2CA5CD}"/>
              </a:ext>
            </a:extLst>
          </p:cNvPr>
          <p:cNvSpPr/>
          <p:nvPr/>
        </p:nvSpPr>
        <p:spPr bwMode="auto">
          <a:xfrm>
            <a:off x="8442125" y="2618576"/>
            <a:ext cx="432000" cy="2376000"/>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latin typeface="微软雅黑"/>
                <a:ea typeface="微软雅黑"/>
              </a:rPr>
              <a:t>量子门调度</a:t>
            </a:r>
            <a:endParaRPr/>
          </a:p>
        </p:txBody>
      </p:sp>
      <p:sp>
        <p:nvSpPr>
          <p:cNvPr id="21" name="矩形: 圆角 20">
            <a:extLst>
              <a:ext uri="{FF2B5EF4-FFF2-40B4-BE49-F238E27FC236}">
                <a16:creationId xmlns:a16="http://schemas.microsoft.com/office/drawing/2014/main" id="{7E078753-1B50-59AD-6C55-C58441DCD8C4}"/>
              </a:ext>
            </a:extLst>
          </p:cNvPr>
          <p:cNvSpPr/>
          <p:nvPr/>
        </p:nvSpPr>
        <p:spPr bwMode="auto">
          <a:xfrm>
            <a:off x="9363908" y="2996576"/>
            <a:ext cx="432000" cy="1620000"/>
          </a:xfrm>
          <a:prstGeom prst="roundRect">
            <a:avLst>
              <a:gd name="adj" fmla="val 16667"/>
            </a:avLst>
          </a:prstGeom>
          <a:noFill/>
        </p:spPr>
        <p:style>
          <a:lnRef idx="2">
            <a:schemeClr val="dk1"/>
          </a:lnRef>
          <a:fillRef idx="1">
            <a:schemeClr val="lt1"/>
          </a:fillRef>
          <a:effectRef idx="0">
            <a:schemeClr val="dk1"/>
          </a:effectRef>
          <a:fontRef idx="minor">
            <a:schemeClr val="dk1"/>
          </a:fontRef>
        </p:style>
        <p:txBody>
          <a:bodyPr rtlCol="0" anchor="ctr"/>
          <a:lstStyle/>
          <a:p>
            <a:pPr algn="ctr">
              <a:defRPr/>
            </a:pPr>
            <a:r>
              <a:rPr lang="zh-CN" sz="1600">
                <a:latin typeface="微软雅黑"/>
                <a:ea typeface="微软雅黑"/>
              </a:rPr>
              <a:t>可执行程序</a:t>
            </a:r>
            <a:endParaRPr/>
          </a:p>
        </p:txBody>
      </p:sp>
      <p:sp>
        <p:nvSpPr>
          <p:cNvPr id="22" name="箭头: 右 21">
            <a:extLst>
              <a:ext uri="{FF2B5EF4-FFF2-40B4-BE49-F238E27FC236}">
                <a16:creationId xmlns:a16="http://schemas.microsoft.com/office/drawing/2014/main" id="{0242A2ED-DC6F-87B8-0176-D18D3DCFD1F8}"/>
              </a:ext>
            </a:extLst>
          </p:cNvPr>
          <p:cNvSpPr/>
          <p:nvPr/>
        </p:nvSpPr>
        <p:spPr bwMode="auto">
          <a:xfrm>
            <a:off x="2522581" y="3626576"/>
            <a:ext cx="288000" cy="36000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sp>
        <p:nvSpPr>
          <p:cNvPr id="24" name="箭头: 右 23">
            <a:extLst>
              <a:ext uri="{FF2B5EF4-FFF2-40B4-BE49-F238E27FC236}">
                <a16:creationId xmlns:a16="http://schemas.microsoft.com/office/drawing/2014/main" id="{3677EB44-51D7-EA62-5C14-A1B5074ADFF4}"/>
              </a:ext>
            </a:extLst>
          </p:cNvPr>
          <p:cNvSpPr/>
          <p:nvPr/>
        </p:nvSpPr>
        <p:spPr bwMode="auto">
          <a:xfrm>
            <a:off x="3444357" y="3626576"/>
            <a:ext cx="288000" cy="36000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sp>
        <p:nvSpPr>
          <p:cNvPr id="25" name="箭头: 右 24">
            <a:extLst>
              <a:ext uri="{FF2B5EF4-FFF2-40B4-BE49-F238E27FC236}">
                <a16:creationId xmlns:a16="http://schemas.microsoft.com/office/drawing/2014/main" id="{FDE94675-81C5-0DEE-6D31-7D416B60A203}"/>
              </a:ext>
            </a:extLst>
          </p:cNvPr>
          <p:cNvSpPr/>
          <p:nvPr/>
        </p:nvSpPr>
        <p:spPr bwMode="auto">
          <a:xfrm>
            <a:off x="4366133" y="3626576"/>
            <a:ext cx="288000" cy="36000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sp>
        <p:nvSpPr>
          <p:cNvPr id="28" name="箭头: 右 27">
            <a:extLst>
              <a:ext uri="{FF2B5EF4-FFF2-40B4-BE49-F238E27FC236}">
                <a16:creationId xmlns:a16="http://schemas.microsoft.com/office/drawing/2014/main" id="{2907C444-F60E-507A-42F6-599E0D530CAD}"/>
              </a:ext>
            </a:extLst>
          </p:cNvPr>
          <p:cNvSpPr/>
          <p:nvPr/>
        </p:nvSpPr>
        <p:spPr bwMode="auto">
          <a:xfrm>
            <a:off x="8975013" y="3626576"/>
            <a:ext cx="288000" cy="36000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sp>
        <p:nvSpPr>
          <p:cNvPr id="30" name="文本框 29">
            <a:extLst>
              <a:ext uri="{FF2B5EF4-FFF2-40B4-BE49-F238E27FC236}">
                <a16:creationId xmlns:a16="http://schemas.microsoft.com/office/drawing/2014/main" id="{2AAC6C65-A126-9567-D3A8-3CBFBB1F79FC}"/>
              </a:ext>
            </a:extLst>
          </p:cNvPr>
          <p:cNvSpPr txBox="1"/>
          <p:nvPr/>
        </p:nvSpPr>
        <p:spPr bwMode="auto">
          <a:xfrm>
            <a:off x="3732357" y="1953142"/>
            <a:ext cx="4534160" cy="400110"/>
          </a:xfrm>
          <a:prstGeom prst="rect">
            <a:avLst/>
          </a:prstGeom>
          <a:noFill/>
        </p:spPr>
        <p:txBody>
          <a:bodyPr wrap="square" rtlCol="0">
            <a:spAutoFit/>
          </a:bodyPr>
          <a:lstStyle/>
          <a:p>
            <a:pPr algn="ctr">
              <a:defRPr/>
            </a:pPr>
            <a:r>
              <a:rPr lang="zh-CN" sz="2000">
                <a:latin typeface="微软雅黑"/>
                <a:ea typeface="微软雅黑"/>
              </a:rPr>
              <a:t>量子程序编译的一般流程</a:t>
            </a:r>
            <a:endParaRPr/>
          </a:p>
        </p:txBody>
      </p:sp>
      <p:sp>
        <p:nvSpPr>
          <p:cNvPr id="31" name="文本框 30">
            <a:extLst>
              <a:ext uri="{FF2B5EF4-FFF2-40B4-BE49-F238E27FC236}">
                <a16:creationId xmlns:a16="http://schemas.microsoft.com/office/drawing/2014/main" id="{972D44BE-AB08-6442-8D4F-3D807845C066}"/>
              </a:ext>
            </a:extLst>
          </p:cNvPr>
          <p:cNvSpPr txBox="1"/>
          <p:nvPr/>
        </p:nvSpPr>
        <p:spPr bwMode="auto">
          <a:xfrm>
            <a:off x="796944" y="5340796"/>
            <a:ext cx="10431850" cy="874407"/>
          </a:xfrm>
          <a:prstGeom prst="rect">
            <a:avLst/>
          </a:prstGeom>
          <a:noFill/>
        </p:spPr>
        <p:txBody>
          <a:bodyPr wrap="square" rtlCol="0">
            <a:spAutoFit/>
          </a:bodyPr>
          <a:lstStyle/>
          <a:p>
            <a:pPr marL="285750" indent="-285750">
              <a:lnSpc>
                <a:spcPct val="150000"/>
              </a:lnSpc>
              <a:buFont typeface="Wingdings"/>
              <a:buChar char="l"/>
              <a:defRPr/>
            </a:pPr>
            <a:r>
              <a:rPr lang="zh-CN" b="1">
                <a:latin typeface="微软雅黑"/>
                <a:ea typeface="微软雅黑"/>
              </a:rPr>
              <a:t>量子中间表示形式</a:t>
            </a:r>
            <a:r>
              <a:rPr lang="zh-CN">
                <a:latin typeface="微软雅黑"/>
                <a:ea typeface="微软雅黑"/>
              </a:rPr>
              <a:t>是影响大规模量子线路</a:t>
            </a:r>
            <a:r>
              <a:rPr lang="zh-CN" b="1">
                <a:latin typeface="微软雅黑"/>
                <a:ea typeface="微软雅黑"/>
              </a:rPr>
              <a:t>编译开销</a:t>
            </a:r>
            <a:r>
              <a:rPr lang="zh-CN">
                <a:latin typeface="微软雅黑"/>
                <a:ea typeface="微软雅黑"/>
              </a:rPr>
              <a:t>的重要因素</a:t>
            </a:r>
            <a:endParaRPr lang="en-US">
              <a:latin typeface="微软雅黑"/>
              <a:ea typeface="微软雅黑"/>
            </a:endParaRPr>
          </a:p>
          <a:p>
            <a:pPr marL="285750" indent="-285750">
              <a:lnSpc>
                <a:spcPct val="150000"/>
              </a:lnSpc>
              <a:buFont typeface="Wingdings"/>
              <a:buChar char="l"/>
              <a:defRPr/>
            </a:pPr>
            <a:r>
              <a:rPr lang="zh-CN" b="1">
                <a:latin typeface="微软雅黑"/>
                <a:ea typeface="微软雅黑"/>
              </a:rPr>
              <a:t>量子门分解</a:t>
            </a:r>
            <a:r>
              <a:rPr lang="zh-CN">
                <a:latin typeface="微软雅黑"/>
                <a:ea typeface="微软雅黑"/>
              </a:rPr>
              <a:t>、</a:t>
            </a:r>
            <a:r>
              <a:rPr lang="zh-CN" b="1">
                <a:latin typeface="微软雅黑"/>
                <a:ea typeface="微软雅黑"/>
              </a:rPr>
              <a:t>比特映射及路由</a:t>
            </a:r>
            <a:r>
              <a:rPr lang="zh-CN">
                <a:latin typeface="微软雅黑"/>
                <a:ea typeface="微软雅黑"/>
              </a:rPr>
              <a:t>的最优求解是</a:t>
            </a:r>
            <a:r>
              <a:rPr lang="en-US" b="1">
                <a:solidFill>
                  <a:srgbClr val="C00000"/>
                </a:solidFill>
                <a:latin typeface="微软雅黑"/>
                <a:ea typeface="微软雅黑"/>
              </a:rPr>
              <a:t>NP</a:t>
            </a:r>
            <a:r>
              <a:rPr lang="zh-CN" b="1">
                <a:solidFill>
                  <a:srgbClr val="C00000"/>
                </a:solidFill>
                <a:latin typeface="微软雅黑"/>
                <a:ea typeface="微软雅黑"/>
              </a:rPr>
              <a:t>难问题</a:t>
            </a:r>
            <a:r>
              <a:rPr lang="zh-CN">
                <a:latin typeface="微软雅黑"/>
                <a:ea typeface="微软雅黑"/>
              </a:rPr>
              <a:t>，求解方法好坏对编译后线路规模影响较大</a:t>
            </a:r>
            <a:endParaRPr lang="en-US">
              <a:latin typeface="微软雅黑"/>
              <a:ea typeface="微软雅黑"/>
            </a:endParaRPr>
          </a:p>
        </p:txBody>
      </p:sp>
      <p:sp>
        <p:nvSpPr>
          <p:cNvPr id="33" name="箭头: 右 32">
            <a:extLst>
              <a:ext uri="{FF2B5EF4-FFF2-40B4-BE49-F238E27FC236}">
                <a16:creationId xmlns:a16="http://schemas.microsoft.com/office/drawing/2014/main" id="{E11D82AB-A534-2D53-82C5-2D2CEE20F392}"/>
              </a:ext>
            </a:extLst>
          </p:cNvPr>
          <p:cNvSpPr/>
          <p:nvPr/>
        </p:nvSpPr>
        <p:spPr bwMode="auto">
          <a:xfrm>
            <a:off x="6209685" y="3626576"/>
            <a:ext cx="288000" cy="36000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sp>
        <p:nvSpPr>
          <p:cNvPr id="35" name="箭头: 右 34">
            <a:extLst>
              <a:ext uri="{FF2B5EF4-FFF2-40B4-BE49-F238E27FC236}">
                <a16:creationId xmlns:a16="http://schemas.microsoft.com/office/drawing/2014/main" id="{1E1B6FAA-58E2-176F-6F2F-A915C7757538}"/>
              </a:ext>
            </a:extLst>
          </p:cNvPr>
          <p:cNvSpPr/>
          <p:nvPr/>
        </p:nvSpPr>
        <p:spPr bwMode="auto">
          <a:xfrm>
            <a:off x="5287909" y="3626576"/>
            <a:ext cx="288000" cy="36000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sp>
        <p:nvSpPr>
          <p:cNvPr id="36" name="箭头: 右 35">
            <a:extLst>
              <a:ext uri="{FF2B5EF4-FFF2-40B4-BE49-F238E27FC236}">
                <a16:creationId xmlns:a16="http://schemas.microsoft.com/office/drawing/2014/main" id="{D248378D-4470-9127-7EF1-FC0DB7F9D9BB}"/>
              </a:ext>
            </a:extLst>
          </p:cNvPr>
          <p:cNvSpPr/>
          <p:nvPr/>
        </p:nvSpPr>
        <p:spPr bwMode="auto">
          <a:xfrm>
            <a:off x="7131461" y="3626576"/>
            <a:ext cx="288000" cy="36000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sp>
        <p:nvSpPr>
          <p:cNvPr id="37" name="箭头: 右 36">
            <a:extLst>
              <a:ext uri="{FF2B5EF4-FFF2-40B4-BE49-F238E27FC236}">
                <a16:creationId xmlns:a16="http://schemas.microsoft.com/office/drawing/2014/main" id="{B55A07C7-7B92-5460-CB6F-806E435F4B5B}"/>
              </a:ext>
            </a:extLst>
          </p:cNvPr>
          <p:cNvSpPr/>
          <p:nvPr/>
        </p:nvSpPr>
        <p:spPr bwMode="auto">
          <a:xfrm>
            <a:off x="8053237" y="3626576"/>
            <a:ext cx="288000" cy="360000"/>
          </a:xfrm>
          <a:prstGeom prst="right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spTree>
    <p:extLst>
      <p:ext uri="{BB962C8B-B14F-4D97-AF65-F5344CB8AC3E}">
        <p14:creationId xmlns:p14="http://schemas.microsoft.com/office/powerpoint/2010/main" val="33860802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8A619-EECC-CD67-9F63-15CA1E35E77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848849A-9D47-AA8C-B94E-4E4D9CE090FD}"/>
              </a:ext>
            </a:extLst>
          </p:cNvPr>
          <p:cNvSpPr>
            <a:spLocks noGrp="1"/>
          </p:cNvSpPr>
          <p:nvPr>
            <p:ph type="title"/>
          </p:nvPr>
        </p:nvSpPr>
        <p:spPr>
          <a:xfrm>
            <a:off x="166255" y="0"/>
            <a:ext cx="12025745" cy="738893"/>
          </a:xfrm>
        </p:spPr>
        <p:txBody>
          <a:bodyPr>
            <a:normAutofit/>
          </a:bodyPr>
          <a:lstStyle/>
          <a:p>
            <a:r>
              <a:rPr lang="zh-CN" altLang="en-US" dirty="0"/>
              <a:t>量子程序如何在</a:t>
            </a:r>
            <a:r>
              <a:rPr lang="en-US" altLang="zh-CN" dirty="0"/>
              <a:t>QPU</a:t>
            </a:r>
            <a:r>
              <a:rPr lang="zh-CN" altLang="en-US" dirty="0"/>
              <a:t>上运行？</a:t>
            </a:r>
          </a:p>
        </p:txBody>
      </p:sp>
      <p:sp>
        <p:nvSpPr>
          <p:cNvPr id="2" name="内容占位符 1">
            <a:extLst>
              <a:ext uri="{FF2B5EF4-FFF2-40B4-BE49-F238E27FC236}">
                <a16:creationId xmlns:a16="http://schemas.microsoft.com/office/drawing/2014/main" id="{B59E0C4B-7A87-1956-210E-40A098DD53E5}"/>
              </a:ext>
            </a:extLst>
          </p:cNvPr>
          <p:cNvSpPr txBox="1"/>
          <p:nvPr/>
        </p:nvSpPr>
        <p:spPr bwMode="auto">
          <a:xfrm>
            <a:off x="576000" y="1080000"/>
            <a:ext cx="6078297" cy="2240008"/>
          </a:xfrm>
          <a:prstGeom prst="rect">
            <a:avLst/>
          </a:prstGeom>
        </p:spPr>
        <p:txBody>
          <a:bodyPr vert="horz" lIns="91440" tIns="45720" rIns="91440" bIns="45720" rtlCol="0">
            <a:normAutofit/>
          </a:bodyPr>
          <a:lstStyle>
            <a:lvl1pPr marL="355600" indent="-355600" algn="l" defTabSz="914400">
              <a:lnSpc>
                <a:spcPct val="113999"/>
              </a:lnSpc>
              <a:spcBef>
                <a:spcPts val="1000"/>
              </a:spcBef>
              <a:buClr>
                <a:schemeClr val="accent1"/>
              </a:buClr>
              <a:buSzPct val="90000"/>
              <a:buFont typeface="Wingdings"/>
              <a:buChar char="q"/>
              <a:defRPr sz="2800" b="1">
                <a:solidFill>
                  <a:schemeClr val="tx1"/>
                </a:solidFill>
                <a:latin typeface="微软雅黑"/>
                <a:ea typeface="微软雅黑"/>
                <a:cs typeface="Times New Roman"/>
              </a:defRPr>
            </a:lvl1pPr>
            <a:lvl2pPr marL="685800" indent="-234950" algn="l" defTabSz="914400">
              <a:lnSpc>
                <a:spcPct val="113999"/>
              </a:lnSpc>
              <a:spcBef>
                <a:spcPts val="500"/>
              </a:spcBef>
              <a:buClr>
                <a:schemeClr val="accent1"/>
              </a:buClr>
              <a:buSzPct val="90000"/>
              <a:buFont typeface="Wingdings"/>
              <a:buChar char="n"/>
              <a:defRPr sz="2400">
                <a:solidFill>
                  <a:schemeClr val="tx1"/>
                </a:solidFill>
                <a:latin typeface="微软雅黑"/>
                <a:ea typeface="微软雅黑"/>
                <a:cs typeface="+mn-cs"/>
              </a:defRPr>
            </a:lvl2pPr>
            <a:lvl3pPr marL="986155" indent="-273050" algn="l" defTabSz="914400">
              <a:lnSpc>
                <a:spcPct val="113999"/>
              </a:lnSpc>
              <a:spcBef>
                <a:spcPts val="500"/>
              </a:spcBef>
              <a:buClr>
                <a:schemeClr val="accent1"/>
              </a:buClr>
              <a:buFont typeface="Wingdings"/>
              <a:buChar char="v"/>
              <a:defRPr sz="2000">
                <a:solidFill>
                  <a:schemeClr val="tx1"/>
                </a:solidFill>
                <a:latin typeface="微软雅黑"/>
                <a:ea typeface="微软雅黑"/>
                <a:cs typeface="+mn-cs"/>
              </a:defRPr>
            </a:lvl3pPr>
            <a:lvl4pPr marL="1262380" indent="-228600" algn="l" defTabSz="914400">
              <a:lnSpc>
                <a:spcPct val="113999"/>
              </a:lnSpc>
              <a:spcBef>
                <a:spcPts val="500"/>
              </a:spcBef>
              <a:buClr>
                <a:schemeClr val="accent1"/>
              </a:buClr>
              <a:buFont typeface="Wingdings"/>
              <a:buChar char="ü"/>
              <a:defRPr sz="1800">
                <a:solidFill>
                  <a:schemeClr val="tx1"/>
                </a:solidFill>
                <a:latin typeface="微软雅黑"/>
                <a:ea typeface="微软雅黑"/>
                <a:cs typeface="+mn-cs"/>
              </a:defRPr>
            </a:lvl4pPr>
            <a:lvl5pPr marL="1524000" indent="-228600" algn="l" defTabSz="914400">
              <a:lnSpc>
                <a:spcPct val="113999"/>
              </a:lnSpc>
              <a:spcBef>
                <a:spcPts val="500"/>
              </a:spcBef>
              <a:buClr>
                <a:schemeClr val="accent1"/>
              </a:buClr>
              <a:buFont typeface="Wingdings"/>
              <a:buChar char="§"/>
              <a:defRPr sz="1800">
                <a:solidFill>
                  <a:schemeClr val="tx1"/>
                </a:solidFill>
                <a:latin typeface="微软雅黑"/>
                <a:ea typeface="微软雅黑"/>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355600" marR="0" lvl="0" indent="-355600" algn="l" defTabSz="914400">
              <a:lnSpc>
                <a:spcPct val="113999"/>
              </a:lnSpc>
              <a:spcBef>
                <a:spcPts val="1000"/>
              </a:spcBef>
              <a:spcAft>
                <a:spcPts val="0"/>
              </a:spcAft>
              <a:buClr>
                <a:srgbClr val="4472C4"/>
              </a:buClr>
              <a:buSzPct val="90000"/>
              <a:buFont typeface="Wingdings"/>
              <a:buChar char="q"/>
              <a:defRPr/>
            </a:pPr>
            <a:r>
              <a:rPr lang="zh-CN" sz="2400">
                <a:solidFill>
                  <a:prstClr val="black"/>
                </a:solidFill>
              </a:rPr>
              <a:t>大规模量子线路编译研究现状</a:t>
            </a:r>
            <a:endParaRPr lang="en-US" sz="2400">
              <a:solidFill>
                <a:prstClr val="black"/>
              </a:solidFill>
            </a:endParaRPr>
          </a:p>
          <a:p>
            <a:pPr lvl="1" indent="-355600">
              <a:spcBef>
                <a:spcPts val="1000"/>
              </a:spcBef>
              <a:buClr>
                <a:srgbClr val="4472C4"/>
              </a:buClr>
              <a:buFont typeface="Wingdings"/>
              <a:buChar char="Ø"/>
              <a:defRPr/>
            </a:pPr>
            <a:r>
              <a:rPr lang="zh-CN" sz="2000" b="1" i="0" u="none" strike="noStrike" cap="none" spc="0">
                <a:ln>
                  <a:noFill/>
                </a:ln>
                <a:solidFill>
                  <a:prstClr val="black"/>
                </a:solidFill>
                <a:latin typeface="微软雅黑"/>
                <a:ea typeface="微软雅黑"/>
                <a:cs typeface="+mn-cs"/>
              </a:rPr>
              <a:t>量子门分解</a:t>
            </a:r>
            <a:r>
              <a:rPr lang="zh-CN" sz="2000" b="1">
                <a:solidFill>
                  <a:prstClr val="black"/>
                </a:solidFill>
              </a:rPr>
              <a:t>研究现状</a:t>
            </a:r>
            <a:endParaRPr lang="en-US" sz="2000" b="1" i="0" u="none" strike="noStrike" cap="none" spc="0">
              <a:ln>
                <a:noFill/>
              </a:ln>
              <a:solidFill>
                <a:prstClr val="black"/>
              </a:solidFill>
              <a:latin typeface="微软雅黑"/>
              <a:ea typeface="微软雅黑"/>
              <a:cs typeface="+mn-cs"/>
            </a:endParaRPr>
          </a:p>
          <a:p>
            <a:pPr marL="330200" lvl="1" indent="457200">
              <a:spcBef>
                <a:spcPts val="1000"/>
              </a:spcBef>
              <a:buClr>
                <a:srgbClr val="4472C4"/>
              </a:buClr>
              <a:buNone/>
              <a:defRPr/>
            </a:pPr>
            <a:r>
              <a:rPr lang="zh-CN" sz="1800" i="0" u="none" strike="noStrike" cap="none" spc="0">
                <a:ln>
                  <a:noFill/>
                </a:ln>
              </a:rPr>
              <a:t>量子计算机仅支持有限的两比特门和单比特门的直接执行。对于线路中任意𝑛比特门，需分解为基础门操作</a:t>
            </a:r>
            <a:endParaRPr lang="en-US" sz="1800" i="0" u="none" strike="noStrike" cap="none" spc="0">
              <a:ln>
                <a:noFill/>
              </a:ln>
            </a:endParaRPr>
          </a:p>
        </p:txBody>
      </p:sp>
      <p:grpSp>
        <p:nvGrpSpPr>
          <p:cNvPr id="5" name="组合 4">
            <a:extLst>
              <a:ext uri="{FF2B5EF4-FFF2-40B4-BE49-F238E27FC236}">
                <a16:creationId xmlns:a16="http://schemas.microsoft.com/office/drawing/2014/main" id="{7CC90672-812A-50A3-FF72-11692CE8E9A6}"/>
              </a:ext>
            </a:extLst>
          </p:cNvPr>
          <p:cNvGrpSpPr>
            <a:grpSpLocks noChangeAspect="1"/>
          </p:cNvGrpSpPr>
          <p:nvPr/>
        </p:nvGrpSpPr>
        <p:grpSpPr bwMode="auto">
          <a:xfrm>
            <a:off x="6904778" y="1897870"/>
            <a:ext cx="3670792" cy="1080000"/>
            <a:chOff x="6210643" y="2745382"/>
            <a:chExt cx="2447192" cy="720000"/>
          </a:xfrm>
        </p:grpSpPr>
        <p:pic>
          <p:nvPicPr>
            <p:cNvPr id="7" name="图片 6" descr="图示, 示意图&#10;&#10;描述已自动生成">
              <a:extLst>
                <a:ext uri="{FF2B5EF4-FFF2-40B4-BE49-F238E27FC236}">
                  <a16:creationId xmlns:a16="http://schemas.microsoft.com/office/drawing/2014/main" id="{CA760424-2549-A6F8-9297-C49369768EB3}"/>
                </a:ext>
              </a:extLst>
            </p:cNvPr>
            <p:cNvPicPr>
              <a:picLocks noChangeAspect="1"/>
            </p:cNvPicPr>
            <p:nvPr/>
          </p:nvPicPr>
          <p:blipFill>
            <a:blip r:embed="rId3"/>
            <a:stretch/>
          </p:blipFill>
          <p:spPr bwMode="auto">
            <a:xfrm>
              <a:off x="6210643" y="2745382"/>
              <a:ext cx="790089" cy="720000"/>
            </a:xfrm>
            <a:prstGeom prst="rect">
              <a:avLst/>
            </a:prstGeom>
          </p:spPr>
        </p:pic>
        <p:pic>
          <p:nvPicPr>
            <p:cNvPr id="8" name="图片 7" descr="墙上的钟表&#10;&#10;中度可信度描述已自动生成">
              <a:extLst>
                <a:ext uri="{FF2B5EF4-FFF2-40B4-BE49-F238E27FC236}">
                  <a16:creationId xmlns:a16="http://schemas.microsoft.com/office/drawing/2014/main" id="{11E4BF23-13CA-22B7-8EBA-9C4CA118CF02}"/>
                </a:ext>
              </a:extLst>
            </p:cNvPr>
            <p:cNvPicPr>
              <a:picLocks noChangeAspect="1"/>
            </p:cNvPicPr>
            <p:nvPr/>
          </p:nvPicPr>
          <p:blipFill>
            <a:blip r:embed="rId4"/>
            <a:stretch/>
          </p:blipFill>
          <p:spPr bwMode="auto">
            <a:xfrm>
              <a:off x="7337835" y="2745382"/>
              <a:ext cx="1320000" cy="720000"/>
            </a:xfrm>
            <a:prstGeom prst="rect">
              <a:avLst/>
            </a:prstGeom>
          </p:spPr>
        </p:pic>
        <p:sp>
          <p:nvSpPr>
            <p:cNvPr id="10" name="箭头: 右 9">
              <a:extLst>
                <a:ext uri="{FF2B5EF4-FFF2-40B4-BE49-F238E27FC236}">
                  <a16:creationId xmlns:a16="http://schemas.microsoft.com/office/drawing/2014/main" id="{4BB0EBFB-163A-E95A-955A-5E146C2FC77A}"/>
                </a:ext>
              </a:extLst>
            </p:cNvPr>
            <p:cNvSpPr/>
            <p:nvPr/>
          </p:nvSpPr>
          <p:spPr bwMode="auto">
            <a:xfrm>
              <a:off x="7024849" y="3020252"/>
              <a:ext cx="283808" cy="170260"/>
            </a:xfrm>
            <a:prstGeom prst="rightArrow">
              <a:avLst>
                <a:gd name="adj1" fmla="val 50000"/>
                <a:gd name="adj2" fmla="val 50000"/>
              </a:avLst>
            </a:prstGeom>
            <a:solidFill>
              <a:schemeClr val="accent2">
                <a:lumMod val="40000"/>
                <a:lumOff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12" name="文本框 11">
            <a:extLst>
              <a:ext uri="{FF2B5EF4-FFF2-40B4-BE49-F238E27FC236}">
                <a16:creationId xmlns:a16="http://schemas.microsoft.com/office/drawing/2014/main" id="{4B413358-40D9-D913-C7EF-1563EEC013E5}"/>
              </a:ext>
            </a:extLst>
          </p:cNvPr>
          <p:cNvSpPr txBox="1"/>
          <p:nvPr/>
        </p:nvSpPr>
        <p:spPr bwMode="auto">
          <a:xfrm>
            <a:off x="917263" y="3320008"/>
            <a:ext cx="10521244" cy="759182"/>
          </a:xfrm>
          <a:prstGeom prst="rect">
            <a:avLst/>
          </a:prstGeom>
          <a:noFill/>
        </p:spPr>
        <p:txBody>
          <a:bodyPr wrap="square">
            <a:spAutoFit/>
          </a:bodyPr>
          <a:lstStyle/>
          <a:p>
            <a:pPr marL="285750" indent="-285750">
              <a:lnSpc>
                <a:spcPts val="2600"/>
              </a:lnSpc>
              <a:buFont typeface="Arial"/>
              <a:buChar char="•"/>
              <a:defRPr/>
            </a:pPr>
            <a:r>
              <a:rPr lang="zh-CN" dirty="0">
                <a:latin typeface="微软雅黑"/>
                <a:ea typeface="微软雅黑"/>
              </a:rPr>
              <a:t>现有编译器普遍采用基于矩阵分解递归的方法，包括余正弦分解（</a:t>
            </a:r>
            <a:r>
              <a:rPr lang="en-US" dirty="0">
                <a:latin typeface="微软雅黑"/>
                <a:ea typeface="微软雅黑"/>
              </a:rPr>
              <a:t>CSD</a:t>
            </a:r>
            <a:r>
              <a:rPr lang="zh-CN" dirty="0">
                <a:latin typeface="微软雅黑"/>
                <a:ea typeface="微软雅黑"/>
              </a:rPr>
              <a:t>）和量子香农分解（</a:t>
            </a:r>
            <a:r>
              <a:rPr lang="en-US" dirty="0">
                <a:latin typeface="微软雅黑"/>
                <a:ea typeface="微软雅黑"/>
              </a:rPr>
              <a:t>QSD</a:t>
            </a:r>
            <a:r>
              <a:rPr lang="zh-CN" dirty="0">
                <a:latin typeface="微软雅黑"/>
                <a:ea typeface="微软雅黑"/>
              </a:rPr>
              <a:t>）方法</a:t>
            </a:r>
            <a:r>
              <a:rPr lang="zh-CN" altLang="en-US" dirty="0">
                <a:latin typeface="微软雅黑"/>
                <a:ea typeface="微软雅黑"/>
              </a:rPr>
              <a:t>，</a:t>
            </a:r>
            <a:r>
              <a:rPr lang="zh-CN" altLang="zh-CN" dirty="0">
                <a:latin typeface="微软雅黑"/>
                <a:ea typeface="微软雅黑"/>
              </a:rPr>
              <a:t>分解后门个数为指数级</a:t>
            </a:r>
            <a:endParaRPr lang="zh-CN" dirty="0"/>
          </a:p>
        </p:txBody>
      </p:sp>
      <p:pic>
        <p:nvPicPr>
          <p:cNvPr id="13" name="图片 12" descr="表格&#10;&#10;描述已自动生成">
            <a:extLst>
              <a:ext uri="{FF2B5EF4-FFF2-40B4-BE49-F238E27FC236}">
                <a16:creationId xmlns:a16="http://schemas.microsoft.com/office/drawing/2014/main" id="{57A12E1F-9449-EB33-4312-6AC3F96EA0FC}"/>
              </a:ext>
            </a:extLst>
          </p:cNvPr>
          <p:cNvPicPr>
            <a:picLocks noChangeAspect="1"/>
          </p:cNvPicPr>
          <p:nvPr/>
        </p:nvPicPr>
        <p:blipFill>
          <a:blip r:embed="rId5"/>
          <a:srcRect t="14944" r="35781"/>
          <a:stretch/>
        </p:blipFill>
        <p:spPr bwMode="auto">
          <a:xfrm>
            <a:off x="914399" y="4167697"/>
            <a:ext cx="3146324" cy="2278955"/>
          </a:xfrm>
          <a:prstGeom prst="rect">
            <a:avLst/>
          </a:prstGeom>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63D5E92-620C-AD5D-0776-51A8596EBBA7}"/>
                  </a:ext>
                </a:extLst>
              </p:cNvPr>
              <p:cNvSpPr txBox="1"/>
              <p:nvPr/>
            </p:nvSpPr>
            <p:spPr bwMode="auto">
              <a:xfrm>
                <a:off x="4524288" y="4505146"/>
                <a:ext cx="6577585" cy="1569660"/>
              </a:xfrm>
              <a:prstGeom prst="rect">
                <a:avLst/>
              </a:prstGeom>
              <a:noFill/>
              <a:ln w="19050">
                <a:solidFill>
                  <a:schemeClr val="accent1"/>
                </a:solidFill>
              </a:ln>
            </p:spPr>
            <p:txBody>
              <a:bodyPr wrap="square">
                <a:spAutoFit/>
              </a:bodyPr>
              <a:lstStyle/>
              <a:p>
                <a:pPr>
                  <a:lnSpc>
                    <a:spcPct val="150000"/>
                  </a:lnSpc>
                  <a:defRPr/>
                </a:pPr>
                <a:r>
                  <a:rPr lang="zh-CN" sz="2000" b="0">
                    <a:solidFill>
                      <a:srgbClr val="000000"/>
                    </a:solidFill>
                    <a:latin typeface="Times New Roman"/>
                    <a:ea typeface="宋体"/>
                  </a:rPr>
                  <a:t>量子香农分解是目前已知对任意</a:t>
                </a:r>
                <a:r>
                  <a:rPr lang="en-US" sz="2000" b="0">
                    <a:solidFill>
                      <a:srgbClr val="000000"/>
                    </a:solidFill>
                    <a:latin typeface="Times New Roman"/>
                    <a:ea typeface="宋体"/>
                  </a:rPr>
                  <a:t>n</a:t>
                </a:r>
                <a:r>
                  <a:rPr lang="zh-CN" sz="2000" b="0">
                    <a:solidFill>
                      <a:srgbClr val="000000"/>
                    </a:solidFill>
                    <a:latin typeface="Times New Roman"/>
                    <a:ea typeface="宋体"/>
                  </a:rPr>
                  <a:t>比特门分解最有效方法，分解产生的两比特门数目为</a:t>
                </a:r>
                <a:r>
                  <a:rPr lang="zh-CN" sz="2000">
                    <a:solidFill>
                      <a:srgbClr val="000000"/>
                    </a:solidFill>
                    <a:latin typeface="Times New Roman"/>
                    <a:ea typeface="宋体"/>
                  </a:rPr>
                  <a:t>：</a:t>
                </a:r>
                <a:endParaRPr lang="en-US" sz="2000">
                  <a:solidFill>
                    <a:srgbClr val="000000"/>
                  </a:solidFill>
                  <a:latin typeface="Times New Roman"/>
                  <a:ea typeface="宋体"/>
                </a:endParaRPr>
              </a:p>
              <a:p>
                <a:pPr>
                  <a:lnSpc>
                    <a:spcPct val="150000"/>
                  </a:lnSpc>
                  <a:defRPr/>
                </a:pPr>
                <a14:m>
                  <m:oMathPara xmlns:m="http://schemas.openxmlformats.org/officeDocument/2006/math">
                    <m:oMath>
                      <m:r>
                        <a:rPr lang="en-US" sz="2400" b="0" i="1">
                          <a:solidFill>
                            <a:srgbClr val="000000"/>
                          </a:solidFill>
                          <a:latin typeface="Cambria Math"/>
                        </a:rPr>
                        <m:t>(23/48)×</m:t>
                      </m:r>
                      <m:r>
                        <a:rPr lang="en-US" sz="2400" i="1">
                          <a:solidFill>
                            <a:srgbClr val="000000"/>
                          </a:solidFill>
                          <a:latin typeface="Cambria Math"/>
                        </a:rPr>
                        <m:t>4</m:t>
                      </m:r>
                      <m:r>
                        <a:rPr lang="en-US" sz="2400" i="1" baseline="30000">
                          <a:solidFill>
                            <a:srgbClr val="000000"/>
                          </a:solidFill>
                          <a:latin typeface="Cambria Math"/>
                        </a:rPr>
                        <m:t>𝑛</m:t>
                      </m:r>
                      <m:r>
                        <a:rPr lang="en-US" sz="2400" b="0" i="1">
                          <a:solidFill>
                            <a:srgbClr val="000000"/>
                          </a:solidFill>
                          <a:latin typeface="Cambria Math"/>
                        </a:rPr>
                        <m:t>−(3/2)×2</m:t>
                      </m:r>
                      <m:r>
                        <a:rPr lang="en-US" sz="2400" i="1" baseline="30000">
                          <a:solidFill>
                            <a:srgbClr val="000000"/>
                          </a:solidFill>
                          <a:latin typeface="Cambria Math"/>
                        </a:rPr>
                        <m:t>𝑛</m:t>
                      </m:r>
                      <m:r>
                        <a:rPr lang="en-US" sz="2400" b="0" i="1">
                          <a:solidFill>
                            <a:srgbClr val="000000"/>
                          </a:solidFill>
                          <a:latin typeface="Cambria Math"/>
                        </a:rPr>
                        <m:t>+4/3</m:t>
                      </m:r>
                      <m:r>
                        <a:rPr lang="zh-CN" sz="2400" i="1">
                          <a:latin typeface="Cambria Math"/>
                        </a:rPr>
                        <m:t> </m:t>
                      </m:r>
                    </m:oMath>
                  </m:oMathPara>
                </a14:m>
                <a:br>
                  <a:rPr lang="zh-CN" sz="2400">
                    <a:latin typeface="Times New Roman"/>
                  </a:rPr>
                </a:br>
                <a:endParaRPr lang="zh-CN" sz="2400">
                  <a:latin typeface="Times New Roman"/>
                </a:endParaRPr>
              </a:p>
            </p:txBody>
          </p:sp>
        </mc:Choice>
        <mc:Fallback xmlns="">
          <p:sp>
            <p:nvSpPr>
              <p:cNvPr id="16" name="文本框 15">
                <a:extLst>
                  <a:ext uri="{FF2B5EF4-FFF2-40B4-BE49-F238E27FC236}">
                    <a16:creationId xmlns:a16="http://schemas.microsoft.com/office/drawing/2014/main" id="{763D5E92-620C-AD5D-0776-51A8596EBBA7}"/>
                  </a:ext>
                </a:extLst>
              </p:cNvPr>
              <p:cNvSpPr txBox="1">
                <a:spLocks noRot="1" noChangeAspect="1" noMove="1" noResize="1" noEditPoints="1" noAdjustHandles="1" noChangeArrowheads="1" noChangeShapeType="1" noTextEdit="1"/>
              </p:cNvSpPr>
              <p:nvPr/>
            </p:nvSpPr>
            <p:spPr bwMode="auto">
              <a:xfrm>
                <a:off x="4524288" y="4505146"/>
                <a:ext cx="6577585" cy="1569660"/>
              </a:xfrm>
              <a:prstGeom prst="rect">
                <a:avLst/>
              </a:prstGeom>
              <a:blipFill>
                <a:blip r:embed="rId6"/>
                <a:stretch>
                  <a:fillRect l="-832" r="-2126"/>
                </a:stretch>
              </a:blipFill>
              <a:ln w="19050">
                <a:solidFill>
                  <a:schemeClr val="accent1"/>
                </a:solidFill>
              </a:ln>
            </p:spPr>
            <p:txBody>
              <a:bodyPr/>
              <a:lstStyle/>
              <a:p>
                <a:r>
                  <a:rPr lang="zh-CN" altLang="en-US">
                    <a:noFill/>
                  </a:rPr>
                  <a:t> </a:t>
                </a:r>
              </a:p>
            </p:txBody>
          </p:sp>
        </mc:Fallback>
      </mc:AlternateContent>
    </p:spTree>
    <p:extLst>
      <p:ext uri="{BB962C8B-B14F-4D97-AF65-F5344CB8AC3E}">
        <p14:creationId xmlns:p14="http://schemas.microsoft.com/office/powerpoint/2010/main" val="3130917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18336-E374-AEF7-6C47-E5A4DF90B68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9A60BA9-976F-0A1E-9EFB-561FF962F152}"/>
              </a:ext>
            </a:extLst>
          </p:cNvPr>
          <p:cNvSpPr>
            <a:spLocks noGrp="1"/>
          </p:cNvSpPr>
          <p:nvPr>
            <p:ph type="title"/>
          </p:nvPr>
        </p:nvSpPr>
        <p:spPr>
          <a:xfrm>
            <a:off x="166255" y="0"/>
            <a:ext cx="12025745" cy="738893"/>
          </a:xfrm>
        </p:spPr>
        <p:txBody>
          <a:bodyPr>
            <a:normAutofit/>
          </a:bodyPr>
          <a:lstStyle/>
          <a:p>
            <a:r>
              <a:rPr lang="zh-CN" altLang="en-US" dirty="0"/>
              <a:t>量子程序如何在</a:t>
            </a:r>
            <a:r>
              <a:rPr lang="en-US" altLang="zh-CN" dirty="0"/>
              <a:t>QPU</a:t>
            </a:r>
            <a:r>
              <a:rPr lang="zh-CN" altLang="en-US" dirty="0"/>
              <a:t>上运行？</a:t>
            </a:r>
          </a:p>
        </p:txBody>
      </p:sp>
      <p:sp>
        <p:nvSpPr>
          <p:cNvPr id="4" name="内容占位符 1">
            <a:extLst>
              <a:ext uri="{FF2B5EF4-FFF2-40B4-BE49-F238E27FC236}">
                <a16:creationId xmlns:a16="http://schemas.microsoft.com/office/drawing/2014/main" id="{6457D5A0-F646-8905-1354-9503EDEDC082}"/>
              </a:ext>
            </a:extLst>
          </p:cNvPr>
          <p:cNvSpPr txBox="1"/>
          <p:nvPr/>
        </p:nvSpPr>
        <p:spPr bwMode="auto">
          <a:xfrm>
            <a:off x="576000" y="1080000"/>
            <a:ext cx="10162131" cy="1541818"/>
          </a:xfrm>
          <a:prstGeom prst="rect">
            <a:avLst/>
          </a:prstGeom>
        </p:spPr>
        <p:txBody>
          <a:bodyPr vert="horz" lIns="91440" tIns="45720" rIns="91440" bIns="45720" rtlCol="0">
            <a:normAutofit/>
          </a:bodyPr>
          <a:lstStyle>
            <a:lvl1pPr marL="355600" indent="-355600" algn="l" defTabSz="914400">
              <a:lnSpc>
                <a:spcPct val="113999"/>
              </a:lnSpc>
              <a:spcBef>
                <a:spcPts val="1000"/>
              </a:spcBef>
              <a:buClr>
                <a:schemeClr val="accent1"/>
              </a:buClr>
              <a:buSzPct val="90000"/>
              <a:buFont typeface="Wingdings"/>
              <a:buChar char="q"/>
              <a:defRPr sz="2800" b="1">
                <a:solidFill>
                  <a:schemeClr val="tx1"/>
                </a:solidFill>
                <a:latin typeface="微软雅黑"/>
                <a:ea typeface="微软雅黑"/>
                <a:cs typeface="Times New Roman"/>
              </a:defRPr>
            </a:lvl1pPr>
            <a:lvl2pPr marL="685800" indent="-234950" algn="l" defTabSz="914400">
              <a:lnSpc>
                <a:spcPct val="113999"/>
              </a:lnSpc>
              <a:spcBef>
                <a:spcPts val="500"/>
              </a:spcBef>
              <a:buClr>
                <a:schemeClr val="accent1"/>
              </a:buClr>
              <a:buSzPct val="90000"/>
              <a:buFont typeface="Wingdings"/>
              <a:buChar char="n"/>
              <a:defRPr sz="2400">
                <a:solidFill>
                  <a:schemeClr val="tx1"/>
                </a:solidFill>
                <a:latin typeface="微软雅黑"/>
                <a:ea typeface="微软雅黑"/>
                <a:cs typeface="+mn-cs"/>
              </a:defRPr>
            </a:lvl2pPr>
            <a:lvl3pPr marL="986155" indent="-273050" algn="l" defTabSz="914400">
              <a:lnSpc>
                <a:spcPct val="113999"/>
              </a:lnSpc>
              <a:spcBef>
                <a:spcPts val="500"/>
              </a:spcBef>
              <a:buClr>
                <a:schemeClr val="accent1"/>
              </a:buClr>
              <a:buFont typeface="Wingdings"/>
              <a:buChar char="v"/>
              <a:defRPr sz="2000">
                <a:solidFill>
                  <a:schemeClr val="tx1"/>
                </a:solidFill>
                <a:latin typeface="微软雅黑"/>
                <a:ea typeface="微软雅黑"/>
                <a:cs typeface="+mn-cs"/>
              </a:defRPr>
            </a:lvl3pPr>
            <a:lvl4pPr marL="1262380" indent="-228600" algn="l" defTabSz="914400">
              <a:lnSpc>
                <a:spcPct val="113999"/>
              </a:lnSpc>
              <a:spcBef>
                <a:spcPts val="500"/>
              </a:spcBef>
              <a:buClr>
                <a:schemeClr val="accent1"/>
              </a:buClr>
              <a:buFont typeface="Wingdings"/>
              <a:buChar char="ü"/>
              <a:defRPr sz="1800">
                <a:solidFill>
                  <a:schemeClr val="tx1"/>
                </a:solidFill>
                <a:latin typeface="微软雅黑"/>
                <a:ea typeface="微软雅黑"/>
                <a:cs typeface="+mn-cs"/>
              </a:defRPr>
            </a:lvl4pPr>
            <a:lvl5pPr marL="1524000" indent="-228600" algn="l" defTabSz="914400">
              <a:lnSpc>
                <a:spcPct val="113999"/>
              </a:lnSpc>
              <a:spcBef>
                <a:spcPts val="500"/>
              </a:spcBef>
              <a:buClr>
                <a:schemeClr val="accent1"/>
              </a:buClr>
              <a:buFont typeface="Wingdings"/>
              <a:buChar char="§"/>
              <a:defRPr sz="1800">
                <a:solidFill>
                  <a:schemeClr val="tx1"/>
                </a:solidFill>
                <a:latin typeface="微软雅黑"/>
                <a:ea typeface="微软雅黑"/>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355600" marR="0" lvl="0" indent="-355600" algn="l" defTabSz="914400">
              <a:lnSpc>
                <a:spcPct val="113999"/>
              </a:lnSpc>
              <a:spcBef>
                <a:spcPts val="1000"/>
              </a:spcBef>
              <a:spcAft>
                <a:spcPts val="0"/>
              </a:spcAft>
              <a:buClr>
                <a:srgbClr val="4472C4"/>
              </a:buClr>
              <a:buSzPct val="90000"/>
              <a:buFont typeface="Wingdings"/>
              <a:buChar char="q"/>
              <a:defRPr/>
            </a:pPr>
            <a:r>
              <a:rPr lang="zh-CN" sz="2400">
                <a:solidFill>
                  <a:prstClr val="black"/>
                </a:solidFill>
              </a:rPr>
              <a:t>大规模量子线路编译研究现状</a:t>
            </a:r>
            <a:endParaRPr lang="en-US" sz="2400">
              <a:solidFill>
                <a:prstClr val="black"/>
              </a:solidFill>
            </a:endParaRPr>
          </a:p>
          <a:p>
            <a:pPr lvl="1" indent="-355600">
              <a:spcBef>
                <a:spcPts val="1000"/>
              </a:spcBef>
              <a:buClr>
                <a:srgbClr val="4472C4"/>
              </a:buClr>
              <a:buFont typeface="Wingdings"/>
              <a:buChar char="Ø"/>
              <a:defRPr/>
            </a:pPr>
            <a:r>
              <a:rPr lang="zh-CN" sz="2000" b="1" i="0" u="none" strike="noStrike" cap="none" spc="0">
                <a:ln>
                  <a:noFill/>
                </a:ln>
                <a:solidFill>
                  <a:prstClr val="black"/>
                </a:solidFill>
                <a:latin typeface="微软雅黑"/>
                <a:ea typeface="微软雅黑"/>
                <a:cs typeface="+mn-cs"/>
              </a:rPr>
              <a:t>量子</a:t>
            </a:r>
            <a:r>
              <a:rPr lang="zh-CN" sz="2000" b="1">
                <a:solidFill>
                  <a:prstClr val="black"/>
                </a:solidFill>
              </a:rPr>
              <a:t>比特映射及路由研究现状</a:t>
            </a:r>
            <a:endParaRPr lang="en-US" sz="2000" b="1" i="0" u="none" strike="noStrike" cap="none" spc="0">
              <a:ln>
                <a:noFill/>
              </a:ln>
              <a:solidFill>
                <a:prstClr val="black"/>
              </a:solidFill>
              <a:latin typeface="微软雅黑"/>
              <a:ea typeface="微软雅黑"/>
              <a:cs typeface="+mn-cs"/>
            </a:endParaRPr>
          </a:p>
          <a:p>
            <a:pPr marL="330200" lvl="1" indent="457200">
              <a:spcBef>
                <a:spcPts val="1000"/>
              </a:spcBef>
              <a:buClr>
                <a:srgbClr val="4472C4"/>
              </a:buClr>
              <a:buNone/>
              <a:defRPr/>
            </a:pPr>
            <a:r>
              <a:rPr lang="zh-CN" sz="1800" i="0" u="none" strike="noStrike" cap="none" spc="0">
                <a:ln>
                  <a:noFill/>
                </a:ln>
              </a:rPr>
              <a:t>量子</a:t>
            </a:r>
            <a:r>
              <a:rPr lang="zh-CN" sz="1800"/>
              <a:t>芯片在比特连接关系上具有约束限制，仅相邻比特可作用两比特门</a:t>
            </a:r>
            <a:endParaRPr lang="en-US" sz="1800" i="0" u="none" strike="noStrike" cap="none" spc="0">
              <a:ln>
                <a:noFill/>
              </a:ln>
            </a:endParaRPr>
          </a:p>
        </p:txBody>
      </p:sp>
      <p:sp>
        <p:nvSpPr>
          <p:cNvPr id="6" name="文本框 5">
            <a:extLst>
              <a:ext uri="{FF2B5EF4-FFF2-40B4-BE49-F238E27FC236}">
                <a16:creationId xmlns:a16="http://schemas.microsoft.com/office/drawing/2014/main" id="{7977E769-AA29-509B-35FB-84A39C319E6D}"/>
              </a:ext>
            </a:extLst>
          </p:cNvPr>
          <p:cNvSpPr txBox="1"/>
          <p:nvPr/>
        </p:nvSpPr>
        <p:spPr bwMode="auto">
          <a:xfrm>
            <a:off x="952889" y="4207487"/>
            <a:ext cx="10485617" cy="874407"/>
          </a:xfrm>
          <a:prstGeom prst="rect">
            <a:avLst/>
          </a:prstGeom>
          <a:noFill/>
        </p:spPr>
        <p:txBody>
          <a:bodyPr wrap="square">
            <a:spAutoFit/>
          </a:bodyPr>
          <a:lstStyle/>
          <a:p>
            <a:pPr marL="285750" indent="-285750">
              <a:lnSpc>
                <a:spcPct val="150000"/>
              </a:lnSpc>
              <a:buFont typeface="Arial"/>
              <a:buChar char="•"/>
              <a:defRPr/>
            </a:pPr>
            <a:r>
              <a:rPr lang="zh-CN">
                <a:latin typeface="微软雅黑"/>
                <a:ea typeface="微软雅黑"/>
              </a:rPr>
              <a:t>最小化门数量、最小化线路深度、最优线路保真度及多目标优化等 </a:t>
            </a:r>
            <a:endParaRPr lang="en-US">
              <a:latin typeface="微软雅黑"/>
              <a:ea typeface="微软雅黑"/>
            </a:endParaRPr>
          </a:p>
          <a:p>
            <a:pPr marL="285750" indent="-285750">
              <a:lnSpc>
                <a:spcPct val="150000"/>
              </a:lnSpc>
              <a:buFont typeface="Arial"/>
              <a:buChar char="•"/>
              <a:defRPr/>
            </a:pPr>
            <a:r>
              <a:rPr lang="zh-CN">
                <a:latin typeface="微软雅黑"/>
                <a:ea typeface="微软雅黑"/>
              </a:rPr>
              <a:t>最优求解已经被证明是 </a:t>
            </a:r>
            <a:r>
              <a:rPr lang="en-US">
                <a:latin typeface="微软雅黑"/>
                <a:ea typeface="微软雅黑"/>
              </a:rPr>
              <a:t>NP </a:t>
            </a:r>
            <a:r>
              <a:rPr lang="zh-CN">
                <a:latin typeface="微软雅黑"/>
                <a:ea typeface="微软雅黑"/>
              </a:rPr>
              <a:t>难问题，已有方法可分为精确求解方法、启发式方法</a:t>
            </a:r>
            <a:endParaRPr lang="en-US">
              <a:latin typeface="微软雅黑"/>
              <a:ea typeface="微软雅黑"/>
            </a:endParaRPr>
          </a:p>
        </p:txBody>
      </p:sp>
      <p:pic>
        <p:nvPicPr>
          <p:cNvPr id="9" name="图片 8">
            <a:extLst>
              <a:ext uri="{FF2B5EF4-FFF2-40B4-BE49-F238E27FC236}">
                <a16:creationId xmlns:a16="http://schemas.microsoft.com/office/drawing/2014/main" id="{37E567ED-B667-8C49-A25B-DAB29041E21A}"/>
              </a:ext>
            </a:extLst>
          </p:cNvPr>
          <p:cNvPicPr>
            <a:picLocks noChangeAspect="1"/>
          </p:cNvPicPr>
          <p:nvPr/>
        </p:nvPicPr>
        <p:blipFill>
          <a:blip r:embed="rId3"/>
          <a:stretch/>
        </p:blipFill>
        <p:spPr bwMode="auto">
          <a:xfrm>
            <a:off x="3214525" y="3002742"/>
            <a:ext cx="2663764" cy="617900"/>
          </a:xfrm>
          <a:prstGeom prst="rect">
            <a:avLst/>
          </a:prstGeom>
        </p:spPr>
      </p:pic>
      <p:graphicFrame>
        <p:nvGraphicFramePr>
          <p:cNvPr id="11" name="表格 10">
            <a:extLst>
              <a:ext uri="{FF2B5EF4-FFF2-40B4-BE49-F238E27FC236}">
                <a16:creationId xmlns:a16="http://schemas.microsoft.com/office/drawing/2014/main" id="{AFDB0877-D735-58AD-4FC3-EE2C31ED74E9}"/>
              </a:ext>
            </a:extLst>
          </p:cNvPr>
          <p:cNvGraphicFramePr>
            <a:graphicFrameLocks noGrp="1"/>
          </p:cNvGraphicFramePr>
          <p:nvPr/>
        </p:nvGraphicFramePr>
        <p:xfrm>
          <a:off x="1239158" y="5263335"/>
          <a:ext cx="9313035" cy="1112520"/>
        </p:xfrm>
        <a:graphic>
          <a:graphicData uri="http://schemas.openxmlformats.org/drawingml/2006/table">
            <a:tbl>
              <a:tblPr firstRow="1" bandRow="1">
                <a:tableStyleId>{21E4AEA4-8DFA-4A89-87EB-49C32662AFE0}</a:tableStyleId>
              </a:tblPr>
              <a:tblGrid>
                <a:gridCol w="2038534">
                  <a:extLst>
                    <a:ext uri="{9D8B030D-6E8A-4147-A177-3AD203B41FA5}">
                      <a16:colId xmlns:a16="http://schemas.microsoft.com/office/drawing/2014/main" val="20000"/>
                    </a:ext>
                  </a:extLst>
                </a:gridCol>
                <a:gridCol w="3689728">
                  <a:extLst>
                    <a:ext uri="{9D8B030D-6E8A-4147-A177-3AD203B41FA5}">
                      <a16:colId xmlns:a16="http://schemas.microsoft.com/office/drawing/2014/main" val="20001"/>
                    </a:ext>
                  </a:extLst>
                </a:gridCol>
                <a:gridCol w="3584773">
                  <a:extLst>
                    <a:ext uri="{9D8B030D-6E8A-4147-A177-3AD203B41FA5}">
                      <a16:colId xmlns:a16="http://schemas.microsoft.com/office/drawing/2014/main" val="20002"/>
                    </a:ext>
                  </a:extLst>
                </a:gridCol>
              </a:tblGrid>
              <a:tr h="370840">
                <a:tc>
                  <a:txBody>
                    <a:bodyPr/>
                    <a:lstStyle/>
                    <a:p>
                      <a:pPr algn="ctr">
                        <a:defRPr/>
                      </a:pPr>
                      <a:r>
                        <a:rPr lang="zh-CN"/>
                        <a:t>方法类别</a:t>
                      </a:r>
                      <a:endParaRPr/>
                    </a:p>
                  </a:txBody>
                  <a:tcPr/>
                </a:tc>
                <a:tc>
                  <a:txBody>
                    <a:bodyPr/>
                    <a:lstStyle/>
                    <a:p>
                      <a:pPr algn="ctr">
                        <a:defRPr/>
                      </a:pPr>
                      <a:r>
                        <a:rPr lang="zh-CN"/>
                        <a:t>具体方法</a:t>
                      </a:r>
                      <a:endParaRPr/>
                    </a:p>
                  </a:txBody>
                  <a:tcPr/>
                </a:tc>
                <a:tc>
                  <a:txBody>
                    <a:bodyPr/>
                    <a:lstStyle/>
                    <a:p>
                      <a:pPr algn="ctr">
                        <a:defRPr/>
                      </a:pPr>
                      <a:r>
                        <a:rPr lang="zh-CN"/>
                        <a:t>特点</a:t>
                      </a:r>
                      <a:endParaRPr/>
                    </a:p>
                  </a:txBody>
                  <a:tcPr/>
                </a:tc>
                <a:extLst>
                  <a:ext uri="{0D108BD9-81ED-4DB2-BD59-A6C34878D82A}">
                    <a16:rowId xmlns:a16="http://schemas.microsoft.com/office/drawing/2014/main" val="10000"/>
                  </a:ext>
                </a:extLst>
              </a:tr>
              <a:tr h="370840">
                <a:tc>
                  <a:txBody>
                    <a:bodyPr/>
                    <a:lstStyle/>
                    <a:p>
                      <a:pPr algn="ctr">
                        <a:defRPr/>
                      </a:pPr>
                      <a:r>
                        <a:rPr lang="zh-CN" b="1"/>
                        <a:t>精确求解方法</a:t>
                      </a:r>
                      <a:endParaRPr/>
                    </a:p>
                  </a:txBody>
                  <a:tcPr/>
                </a:tc>
                <a:tc>
                  <a:txBody>
                    <a:bodyPr/>
                    <a:lstStyle/>
                    <a:p>
                      <a:pPr marL="0" algn="ctr" defTabSz="914400">
                        <a:defRPr/>
                      </a:pPr>
                      <a:r>
                        <a:rPr lang="en-US" sz="1800">
                          <a:solidFill>
                            <a:schemeClr val="dk1"/>
                          </a:solidFill>
                        </a:rPr>
                        <a:t>SAT/SMT</a:t>
                      </a:r>
                      <a:r>
                        <a:rPr lang="zh-CN" sz="1800">
                          <a:solidFill>
                            <a:schemeClr val="dk1"/>
                          </a:solidFill>
                        </a:rPr>
                        <a:t>求解器、整数线性规划</a:t>
                      </a:r>
                      <a:endParaRPr lang="zh-CN" sz="1800">
                        <a:solidFill>
                          <a:schemeClr val="dk1"/>
                        </a:solidFill>
                        <a:latin typeface="+mn-lt"/>
                        <a:ea typeface="+mn-ea"/>
                        <a:cs typeface="+mn-cs"/>
                      </a:endParaRPr>
                    </a:p>
                  </a:txBody>
                  <a:tcPr/>
                </a:tc>
                <a:tc>
                  <a:txBody>
                    <a:bodyPr/>
                    <a:lstStyle/>
                    <a:p>
                      <a:pPr marL="0" algn="ctr" defTabSz="914400">
                        <a:defRPr/>
                      </a:pPr>
                      <a:r>
                        <a:rPr lang="zh-CN" sz="1800">
                          <a:solidFill>
                            <a:schemeClr val="dk1"/>
                          </a:solidFill>
                        </a:rPr>
                        <a:t>可支持的规模仅达数十比特</a:t>
                      </a:r>
                      <a:endParaRPr lang="zh-CN" sz="180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a:txBody>
                    <a:bodyPr/>
                    <a:lstStyle/>
                    <a:p>
                      <a:pPr algn="ctr">
                        <a:defRPr/>
                      </a:pPr>
                      <a:r>
                        <a:rPr lang="zh-CN" b="1"/>
                        <a:t>启发式方法</a:t>
                      </a:r>
                      <a:endParaRPr/>
                    </a:p>
                  </a:txBody>
                  <a:tcPr/>
                </a:tc>
                <a:tc>
                  <a:txBody>
                    <a:bodyPr/>
                    <a:lstStyle/>
                    <a:p>
                      <a:pPr marL="0" algn="ctr" defTabSz="914400">
                        <a:defRPr/>
                      </a:pPr>
                      <a:r>
                        <a:rPr lang="zh-CN" sz="1800">
                          <a:solidFill>
                            <a:schemeClr val="dk1"/>
                          </a:solidFill>
                        </a:rPr>
                        <a:t>动态规划、</a:t>
                      </a:r>
                      <a:r>
                        <a:rPr lang="en-US" sz="1800">
                          <a:solidFill>
                            <a:schemeClr val="dk1"/>
                          </a:solidFill>
                        </a:rPr>
                        <a:t>A*</a:t>
                      </a:r>
                      <a:r>
                        <a:rPr lang="zh-CN" sz="1800">
                          <a:solidFill>
                            <a:schemeClr val="dk1"/>
                          </a:solidFill>
                        </a:rPr>
                        <a:t>搜索等</a:t>
                      </a:r>
                      <a:endParaRPr lang="zh-CN" sz="1800">
                        <a:solidFill>
                          <a:schemeClr val="dk1"/>
                        </a:solidFill>
                        <a:latin typeface="+mn-lt"/>
                        <a:ea typeface="+mn-ea"/>
                        <a:cs typeface="+mn-cs"/>
                      </a:endParaRPr>
                    </a:p>
                  </a:txBody>
                  <a:tcPr/>
                </a:tc>
                <a:tc>
                  <a:txBody>
                    <a:bodyPr/>
                    <a:lstStyle/>
                    <a:p>
                      <a:pPr marL="0" algn="ctr" defTabSz="914400">
                        <a:defRPr/>
                      </a:pPr>
                      <a:r>
                        <a:rPr lang="zh-CN" sz="1800">
                          <a:solidFill>
                            <a:schemeClr val="dk1"/>
                          </a:solidFill>
                        </a:rPr>
                        <a:t>映射后线路规模剧增</a:t>
                      </a:r>
                      <a:endParaRPr lang="zh-CN" sz="1800">
                        <a:solidFill>
                          <a:schemeClr val="dk1"/>
                        </a:solidFill>
                        <a:latin typeface="+mn-lt"/>
                        <a:ea typeface="+mn-ea"/>
                        <a:cs typeface="+mn-cs"/>
                      </a:endParaRPr>
                    </a:p>
                  </a:txBody>
                  <a:tcPr/>
                </a:tc>
                <a:extLst>
                  <a:ext uri="{0D108BD9-81ED-4DB2-BD59-A6C34878D82A}">
                    <a16:rowId xmlns:a16="http://schemas.microsoft.com/office/drawing/2014/main" val="10002"/>
                  </a:ext>
                </a:extLst>
              </a:tr>
            </a:tbl>
          </a:graphicData>
        </a:graphic>
      </p:graphicFrame>
      <p:grpSp>
        <p:nvGrpSpPr>
          <p:cNvPr id="14" name="组合 13">
            <a:extLst>
              <a:ext uri="{FF2B5EF4-FFF2-40B4-BE49-F238E27FC236}">
                <a16:creationId xmlns:a16="http://schemas.microsoft.com/office/drawing/2014/main" id="{EE99F272-2616-57AA-7553-1CD141D782B7}"/>
              </a:ext>
            </a:extLst>
          </p:cNvPr>
          <p:cNvGrpSpPr/>
          <p:nvPr/>
        </p:nvGrpSpPr>
        <p:grpSpPr bwMode="auto">
          <a:xfrm>
            <a:off x="989233" y="2732740"/>
            <a:ext cx="1953639" cy="1206953"/>
            <a:chOff x="1319567" y="2825523"/>
            <a:chExt cx="1953639" cy="1206953"/>
          </a:xfrm>
        </p:grpSpPr>
        <p:pic>
          <p:nvPicPr>
            <p:cNvPr id="15" name="图片 14">
              <a:extLst>
                <a:ext uri="{FF2B5EF4-FFF2-40B4-BE49-F238E27FC236}">
                  <a16:creationId xmlns:a16="http://schemas.microsoft.com/office/drawing/2014/main" id="{0C0B82F6-4B83-7744-3CA0-793B8E2389C9}"/>
                </a:ext>
              </a:extLst>
            </p:cNvPr>
            <p:cNvPicPr>
              <a:picLocks noChangeAspect="1"/>
            </p:cNvPicPr>
            <p:nvPr/>
          </p:nvPicPr>
          <p:blipFill>
            <a:blip r:embed="rId4"/>
            <a:srcRect l="12531" r="51993"/>
            <a:stretch/>
          </p:blipFill>
          <p:spPr bwMode="auto">
            <a:xfrm>
              <a:off x="1319568" y="2825524"/>
              <a:ext cx="1953638" cy="1206952"/>
            </a:xfrm>
            <a:prstGeom prst="rect">
              <a:avLst/>
            </a:prstGeom>
          </p:spPr>
        </p:pic>
        <p:sp>
          <p:nvSpPr>
            <p:cNvPr id="17" name="矩形 16">
              <a:extLst>
                <a:ext uri="{FF2B5EF4-FFF2-40B4-BE49-F238E27FC236}">
                  <a16:creationId xmlns:a16="http://schemas.microsoft.com/office/drawing/2014/main" id="{E16D66DF-BDA1-A1E9-4518-4C2C727FC4AD}"/>
                </a:ext>
              </a:extLst>
            </p:cNvPr>
            <p:cNvSpPr/>
            <p:nvPr/>
          </p:nvSpPr>
          <p:spPr bwMode="auto">
            <a:xfrm>
              <a:off x="1319567" y="2825523"/>
              <a:ext cx="160890" cy="193447"/>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18" name="组合 17">
            <a:extLst>
              <a:ext uri="{FF2B5EF4-FFF2-40B4-BE49-F238E27FC236}">
                <a16:creationId xmlns:a16="http://schemas.microsoft.com/office/drawing/2014/main" id="{2695EC3F-F797-AA70-3E0B-C388C9FCB6D3}"/>
              </a:ext>
            </a:extLst>
          </p:cNvPr>
          <p:cNvGrpSpPr/>
          <p:nvPr/>
        </p:nvGrpSpPr>
        <p:grpSpPr bwMode="auto">
          <a:xfrm>
            <a:off x="5895676" y="2744994"/>
            <a:ext cx="2247901" cy="1206952"/>
            <a:chOff x="8562974" y="2606536"/>
            <a:chExt cx="2247901" cy="1206952"/>
          </a:xfrm>
        </p:grpSpPr>
        <p:pic>
          <p:nvPicPr>
            <p:cNvPr id="19" name="图片 18">
              <a:extLst>
                <a:ext uri="{FF2B5EF4-FFF2-40B4-BE49-F238E27FC236}">
                  <a16:creationId xmlns:a16="http://schemas.microsoft.com/office/drawing/2014/main" id="{689DF11B-0D85-F995-7BE0-1BA0FBF9D9C1}"/>
                </a:ext>
              </a:extLst>
            </p:cNvPr>
            <p:cNvPicPr>
              <a:picLocks noChangeAspect="1"/>
            </p:cNvPicPr>
            <p:nvPr/>
          </p:nvPicPr>
          <p:blipFill>
            <a:blip r:embed="rId4"/>
            <a:srcRect l="47836" r="11344"/>
            <a:stretch/>
          </p:blipFill>
          <p:spPr bwMode="auto">
            <a:xfrm>
              <a:off x="8562974" y="2606536"/>
              <a:ext cx="2247901" cy="1206952"/>
            </a:xfrm>
            <a:prstGeom prst="rect">
              <a:avLst/>
            </a:prstGeom>
          </p:spPr>
        </p:pic>
        <p:sp>
          <p:nvSpPr>
            <p:cNvPr id="20" name="矩形 19">
              <a:extLst>
                <a:ext uri="{FF2B5EF4-FFF2-40B4-BE49-F238E27FC236}">
                  <a16:creationId xmlns:a16="http://schemas.microsoft.com/office/drawing/2014/main" id="{38A3612F-D98E-7C4A-C8F9-CCF8D3507ACE}"/>
                </a:ext>
              </a:extLst>
            </p:cNvPr>
            <p:cNvSpPr/>
            <p:nvPr/>
          </p:nvSpPr>
          <p:spPr bwMode="auto">
            <a:xfrm>
              <a:off x="10615613" y="2606536"/>
              <a:ext cx="195262" cy="193814"/>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21" name="文本框 20">
            <a:extLst>
              <a:ext uri="{FF2B5EF4-FFF2-40B4-BE49-F238E27FC236}">
                <a16:creationId xmlns:a16="http://schemas.microsoft.com/office/drawing/2014/main" id="{5E2C6F82-B6E1-A31F-C40C-786FAA0BE915}"/>
              </a:ext>
            </a:extLst>
          </p:cNvPr>
          <p:cNvSpPr txBox="1"/>
          <p:nvPr/>
        </p:nvSpPr>
        <p:spPr bwMode="auto">
          <a:xfrm>
            <a:off x="3482765" y="2705937"/>
            <a:ext cx="359569" cy="261610"/>
          </a:xfrm>
          <a:prstGeom prst="rect">
            <a:avLst/>
          </a:prstGeom>
          <a:noFill/>
        </p:spPr>
        <p:txBody>
          <a:bodyPr wrap="square">
            <a:spAutoFit/>
          </a:bodyPr>
          <a:lstStyle/>
          <a:p>
            <a:pPr>
              <a:defRPr/>
            </a:pPr>
            <a:r>
              <a:rPr lang="en-US" sz="1050" b="1"/>
              <a:t>q0</a:t>
            </a:r>
            <a:endParaRPr lang="zh-CN" sz="1200" b="1"/>
          </a:p>
        </p:txBody>
      </p:sp>
      <p:sp>
        <p:nvSpPr>
          <p:cNvPr id="22" name="文本框 21">
            <a:extLst>
              <a:ext uri="{FF2B5EF4-FFF2-40B4-BE49-F238E27FC236}">
                <a16:creationId xmlns:a16="http://schemas.microsoft.com/office/drawing/2014/main" id="{44547BE1-67C4-B698-234B-17B031249C3E}"/>
              </a:ext>
            </a:extLst>
          </p:cNvPr>
          <p:cNvSpPr txBox="1"/>
          <p:nvPr/>
        </p:nvSpPr>
        <p:spPr bwMode="auto">
          <a:xfrm>
            <a:off x="3847428" y="2698022"/>
            <a:ext cx="359569" cy="253916"/>
          </a:xfrm>
          <a:prstGeom prst="rect">
            <a:avLst/>
          </a:prstGeom>
          <a:noFill/>
        </p:spPr>
        <p:txBody>
          <a:bodyPr wrap="square">
            <a:spAutoFit/>
          </a:bodyPr>
          <a:lstStyle/>
          <a:p>
            <a:pPr>
              <a:defRPr/>
            </a:pPr>
            <a:r>
              <a:rPr lang="en-US" sz="1050" b="1"/>
              <a:t>q1</a:t>
            </a:r>
            <a:endParaRPr lang="zh-CN" sz="1050" b="1"/>
          </a:p>
        </p:txBody>
      </p:sp>
      <p:sp>
        <p:nvSpPr>
          <p:cNvPr id="23" name="文本框 22">
            <a:extLst>
              <a:ext uri="{FF2B5EF4-FFF2-40B4-BE49-F238E27FC236}">
                <a16:creationId xmlns:a16="http://schemas.microsoft.com/office/drawing/2014/main" id="{C051036F-201F-9028-56EE-DF02C292963C}"/>
              </a:ext>
            </a:extLst>
          </p:cNvPr>
          <p:cNvSpPr txBox="1"/>
          <p:nvPr/>
        </p:nvSpPr>
        <p:spPr bwMode="auto">
          <a:xfrm>
            <a:off x="3482765" y="3624704"/>
            <a:ext cx="359569" cy="253916"/>
          </a:xfrm>
          <a:prstGeom prst="rect">
            <a:avLst/>
          </a:prstGeom>
          <a:noFill/>
        </p:spPr>
        <p:txBody>
          <a:bodyPr wrap="square">
            <a:spAutoFit/>
          </a:bodyPr>
          <a:lstStyle/>
          <a:p>
            <a:pPr>
              <a:defRPr/>
            </a:pPr>
            <a:r>
              <a:rPr lang="en-US" sz="1050" b="1"/>
              <a:t>q2</a:t>
            </a:r>
            <a:endParaRPr lang="zh-CN" sz="1050" b="1"/>
          </a:p>
        </p:txBody>
      </p:sp>
      <p:sp>
        <p:nvSpPr>
          <p:cNvPr id="24" name="文本框 23">
            <a:extLst>
              <a:ext uri="{FF2B5EF4-FFF2-40B4-BE49-F238E27FC236}">
                <a16:creationId xmlns:a16="http://schemas.microsoft.com/office/drawing/2014/main" id="{BEB2FC13-C3A7-C616-157B-F802553028CF}"/>
              </a:ext>
            </a:extLst>
          </p:cNvPr>
          <p:cNvSpPr txBox="1"/>
          <p:nvPr/>
        </p:nvSpPr>
        <p:spPr bwMode="auto">
          <a:xfrm>
            <a:off x="3847428" y="3625919"/>
            <a:ext cx="359569" cy="253916"/>
          </a:xfrm>
          <a:prstGeom prst="rect">
            <a:avLst/>
          </a:prstGeom>
          <a:noFill/>
        </p:spPr>
        <p:txBody>
          <a:bodyPr wrap="square">
            <a:spAutoFit/>
          </a:bodyPr>
          <a:lstStyle/>
          <a:p>
            <a:pPr>
              <a:defRPr/>
            </a:pPr>
            <a:r>
              <a:rPr lang="en-US" sz="1050" b="1"/>
              <a:t>q3</a:t>
            </a:r>
            <a:endParaRPr lang="zh-CN" sz="1050" b="1"/>
          </a:p>
        </p:txBody>
      </p:sp>
      <p:cxnSp>
        <p:nvCxnSpPr>
          <p:cNvPr id="25" name="直接箭头连接符 24">
            <a:extLst>
              <a:ext uri="{FF2B5EF4-FFF2-40B4-BE49-F238E27FC236}">
                <a16:creationId xmlns:a16="http://schemas.microsoft.com/office/drawing/2014/main" id="{E7939DC9-30E4-F648-7CE2-FF4432F3C2FF}"/>
              </a:ext>
            </a:extLst>
          </p:cNvPr>
          <p:cNvCxnSpPr>
            <a:cxnSpLocks/>
          </p:cNvCxnSpPr>
          <p:nvPr/>
        </p:nvCxnSpPr>
        <p:spPr bwMode="auto">
          <a:xfrm flipH="1">
            <a:off x="3662549" y="2940081"/>
            <a:ext cx="1" cy="13650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B595B969-4A86-A3AC-D8DE-A7F4679E28DD}"/>
              </a:ext>
            </a:extLst>
          </p:cNvPr>
          <p:cNvCxnSpPr>
            <a:cxnSpLocks/>
          </p:cNvCxnSpPr>
          <p:nvPr/>
        </p:nvCxnSpPr>
        <p:spPr bwMode="auto">
          <a:xfrm flipH="1">
            <a:off x="4022118" y="2940081"/>
            <a:ext cx="1" cy="13650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934AAC9A-C4F5-D2F2-EC6A-EB23404543F2}"/>
              </a:ext>
            </a:extLst>
          </p:cNvPr>
          <p:cNvCxnSpPr>
            <a:cxnSpLocks/>
          </p:cNvCxnSpPr>
          <p:nvPr/>
        </p:nvCxnSpPr>
        <p:spPr bwMode="auto">
          <a:xfrm flipV="1">
            <a:off x="3662549" y="3562002"/>
            <a:ext cx="0" cy="11728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8E074AB8-C03D-D9FE-942E-5F747093C440}"/>
              </a:ext>
            </a:extLst>
          </p:cNvPr>
          <p:cNvCxnSpPr>
            <a:cxnSpLocks/>
          </p:cNvCxnSpPr>
          <p:nvPr/>
        </p:nvCxnSpPr>
        <p:spPr bwMode="auto">
          <a:xfrm flipV="1">
            <a:off x="4022118" y="3562002"/>
            <a:ext cx="0" cy="11728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9B6F02EE-7011-ED55-FD26-73A2EEC3B6F0}"/>
              </a:ext>
            </a:extLst>
          </p:cNvPr>
          <p:cNvSpPr/>
          <p:nvPr/>
        </p:nvSpPr>
        <p:spPr bwMode="auto">
          <a:xfrm>
            <a:off x="1854446" y="2861395"/>
            <a:ext cx="226883" cy="107226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nvGrpSpPr>
          <p:cNvPr id="30" name="组合 29">
            <a:extLst>
              <a:ext uri="{FF2B5EF4-FFF2-40B4-BE49-F238E27FC236}">
                <a16:creationId xmlns:a16="http://schemas.microsoft.com/office/drawing/2014/main" id="{FAF6A9B0-EA51-840A-D379-1AD8EFDC6EF9}"/>
              </a:ext>
            </a:extLst>
          </p:cNvPr>
          <p:cNvGrpSpPr/>
          <p:nvPr/>
        </p:nvGrpSpPr>
        <p:grpSpPr bwMode="auto">
          <a:xfrm>
            <a:off x="3111963" y="3181350"/>
            <a:ext cx="540876" cy="380652"/>
            <a:chOff x="3111963" y="3181350"/>
            <a:chExt cx="540876" cy="380652"/>
          </a:xfrm>
        </p:grpSpPr>
        <p:cxnSp>
          <p:nvCxnSpPr>
            <p:cNvPr id="31" name="直接箭头连接符 30">
              <a:extLst>
                <a:ext uri="{FF2B5EF4-FFF2-40B4-BE49-F238E27FC236}">
                  <a16:creationId xmlns:a16="http://schemas.microsoft.com/office/drawing/2014/main" id="{C22F31DD-F832-F2A0-8465-9987C4611AC8}"/>
                </a:ext>
              </a:extLst>
            </p:cNvPr>
            <p:cNvCxnSpPr>
              <a:cxnSpLocks/>
            </p:cNvCxnSpPr>
            <p:nvPr/>
          </p:nvCxnSpPr>
          <p:spPr bwMode="auto">
            <a:xfrm>
              <a:off x="3579019" y="3181350"/>
              <a:ext cx="0" cy="380652"/>
            </a:xfrm>
            <a:prstGeom prst="straightConnector1">
              <a:avLst/>
            </a:prstGeom>
            <a:ln w="190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F0D697B9-43C9-28C3-FE63-C6E95DEE0EA4}"/>
                </a:ext>
              </a:extLst>
            </p:cNvPr>
            <p:cNvSpPr txBox="1"/>
            <p:nvPr/>
          </p:nvSpPr>
          <p:spPr bwMode="auto">
            <a:xfrm>
              <a:off x="3111963" y="3217665"/>
              <a:ext cx="540876" cy="261610"/>
            </a:xfrm>
            <a:prstGeom prst="rect">
              <a:avLst/>
            </a:prstGeom>
            <a:noFill/>
          </p:spPr>
          <p:txBody>
            <a:bodyPr wrap="square">
              <a:spAutoFit/>
            </a:bodyPr>
            <a:lstStyle/>
            <a:p>
              <a:pPr>
                <a:defRPr/>
              </a:pPr>
              <a:r>
                <a:rPr lang="en-US" sz="1050" b="1">
                  <a:solidFill>
                    <a:srgbClr val="C00000"/>
                  </a:solidFill>
                  <a:latin typeface="Arial"/>
                  <a:cs typeface="Arial"/>
                </a:rPr>
                <a:t>swap</a:t>
              </a:r>
              <a:endParaRPr lang="zh-CN" sz="1200" b="1">
                <a:solidFill>
                  <a:srgbClr val="C00000"/>
                </a:solidFill>
                <a:latin typeface="Arial"/>
                <a:cs typeface="Arial"/>
              </a:endParaRPr>
            </a:p>
          </p:txBody>
        </p:sp>
      </p:grpSp>
      <p:grpSp>
        <p:nvGrpSpPr>
          <p:cNvPr id="33" name="组合 32">
            <a:extLst>
              <a:ext uri="{FF2B5EF4-FFF2-40B4-BE49-F238E27FC236}">
                <a16:creationId xmlns:a16="http://schemas.microsoft.com/office/drawing/2014/main" id="{5FC69FAE-1702-2B51-5848-8CA89DFFE9AF}"/>
              </a:ext>
            </a:extLst>
          </p:cNvPr>
          <p:cNvGrpSpPr/>
          <p:nvPr/>
        </p:nvGrpSpPr>
        <p:grpSpPr bwMode="auto">
          <a:xfrm>
            <a:off x="8188631" y="2619099"/>
            <a:ext cx="3384824" cy="1176955"/>
            <a:chOff x="8188630" y="2619099"/>
            <a:chExt cx="3602781" cy="1176955"/>
          </a:xfrm>
        </p:grpSpPr>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F87B8EC-D9A7-A111-E7C9-618E7CC0CEFA}"/>
                    </a:ext>
                  </a:extLst>
                </p:cNvPr>
                <p:cNvSpPr txBox="1"/>
                <p:nvPr/>
              </p:nvSpPr>
              <p:spPr bwMode="auto">
                <a:xfrm>
                  <a:off x="8188630" y="2880405"/>
                  <a:ext cx="3596300" cy="246221"/>
                </a:xfrm>
                <a:prstGeom prst="rect">
                  <a:avLst/>
                </a:prstGeom>
                <a:noFill/>
              </p:spPr>
              <p:txBody>
                <a:bodyPr wrap="square">
                  <a:spAutoFit/>
                </a:bodyPr>
                <a:lstStyle/>
                <a:p>
                  <a:pPr>
                    <a:defRPr/>
                  </a:pPr>
                  <a14:m>
                    <m:oMath xmlns:m="http://schemas.openxmlformats.org/officeDocument/2006/math">
                      <m:r>
                        <a:rPr lang="en-US" sz="1000" b="1" i="1">
                          <a:latin typeface="Cambria Math"/>
                        </a:rPr>
                        <m:t>{</m:t>
                      </m:r>
                      <m:r>
                        <a:rPr lang="en-US" sz="1000" b="1" i="1">
                          <a:latin typeface="Cambria Math"/>
                        </a:rPr>
                        <m:t>𝒒</m:t>
                      </m:r>
                      <m:r>
                        <a:rPr lang="en-US" sz="1000" b="1" i="1">
                          <a:latin typeface="Cambria Math"/>
                        </a:rPr>
                        <m:t>𝟎</m:t>
                      </m:r>
                      <m:r>
                        <a:rPr lang="en-US" sz="1000" b="1" i="1">
                          <a:latin typeface="Cambria Math"/>
                          <a:ea typeface="Cambria Math"/>
                        </a:rPr>
                        <m:t>→</m:t>
                      </m:r>
                      <m:r>
                        <a:rPr lang="en-US" sz="1000" b="1" i="1">
                          <a:latin typeface="Cambria Math"/>
                          <a:ea typeface="Cambria Math"/>
                        </a:rPr>
                        <m:t>𝑸</m:t>
                      </m:r>
                      <m:r>
                        <a:rPr lang="en-US" sz="1000" b="1" i="1">
                          <a:latin typeface="Cambria Math"/>
                          <a:ea typeface="Cambria Math"/>
                        </a:rPr>
                        <m:t>𝟏</m:t>
                      </m:r>
                      <m:r>
                        <a:rPr lang="en-US" sz="1000" b="1" i="1">
                          <a:latin typeface="Cambria Math"/>
                          <a:ea typeface="Cambria Math"/>
                        </a:rPr>
                        <m:t>,</m:t>
                      </m:r>
                      <m:r>
                        <a:rPr lang="en-US" sz="1000" b="1" i="1">
                          <a:latin typeface="Cambria Math"/>
                        </a:rPr>
                        <m:t>𝒒</m:t>
                      </m:r>
                      <m:r>
                        <a:rPr lang="en-US" sz="1000" b="1" i="1">
                          <a:latin typeface="Cambria Math"/>
                        </a:rPr>
                        <m:t>𝟏</m:t>
                      </m:r>
                      <m:r>
                        <a:rPr lang="en-US" sz="1000" b="1" i="1">
                          <a:latin typeface="Cambria Math"/>
                          <a:ea typeface="Cambria Math"/>
                        </a:rPr>
                        <m:t>→</m:t>
                      </m:r>
                      <m:r>
                        <a:rPr lang="en-US" sz="1000" b="1" i="1">
                          <a:latin typeface="Cambria Math"/>
                          <a:ea typeface="Cambria Math"/>
                        </a:rPr>
                        <m:t>𝑸</m:t>
                      </m:r>
                      <m:r>
                        <a:rPr lang="en-US" sz="1000" b="1" i="1">
                          <a:latin typeface="Cambria Math"/>
                          <a:ea typeface="Cambria Math"/>
                        </a:rPr>
                        <m:t>𝟐</m:t>
                      </m:r>
                      <m:r>
                        <a:rPr lang="en-US" sz="1000" b="1" i="1">
                          <a:latin typeface="Cambria Math"/>
                          <a:ea typeface="Cambria Math"/>
                        </a:rPr>
                        <m:t>,</m:t>
                      </m:r>
                      <m:r>
                        <a:rPr lang="en-US" sz="1000" b="1" i="1">
                          <a:latin typeface="Cambria Math"/>
                        </a:rPr>
                        <m:t>𝒒</m:t>
                      </m:r>
                      <m:r>
                        <a:rPr lang="en-US" sz="1000" b="1" i="1">
                          <a:latin typeface="Cambria Math"/>
                        </a:rPr>
                        <m:t>𝟐</m:t>
                      </m:r>
                      <m:r>
                        <a:rPr lang="en-US" sz="1000" b="1" i="1">
                          <a:latin typeface="Cambria Math"/>
                          <a:ea typeface="Cambria Math"/>
                        </a:rPr>
                        <m:t>→</m:t>
                      </m:r>
                      <m:r>
                        <a:rPr lang="en-US" sz="1000" b="1" i="1">
                          <a:latin typeface="Cambria Math"/>
                          <a:ea typeface="Cambria Math"/>
                        </a:rPr>
                        <m:t>𝑸</m:t>
                      </m:r>
                      <m:r>
                        <a:rPr lang="en-US" sz="1000" b="1" i="1">
                          <a:latin typeface="Cambria Math"/>
                          <a:ea typeface="Cambria Math"/>
                        </a:rPr>
                        <m:t>𝟕</m:t>
                      </m:r>
                      <m:r>
                        <a:rPr lang="en-US" sz="1000" b="1" i="1">
                          <a:latin typeface="Cambria Math"/>
                          <a:ea typeface="Cambria Math"/>
                        </a:rPr>
                        <m:t>,</m:t>
                      </m:r>
                      <m:r>
                        <a:rPr lang="en-US" sz="1000" b="1" i="1">
                          <a:latin typeface="Cambria Math"/>
                        </a:rPr>
                        <m:t>𝒒</m:t>
                      </m:r>
                      <m:r>
                        <a:rPr lang="en-US" sz="1000" b="1" i="1">
                          <a:latin typeface="Cambria Math"/>
                        </a:rPr>
                        <m:t>𝟑</m:t>
                      </m:r>
                      <m:r>
                        <a:rPr lang="en-US" sz="1000" b="1" i="1">
                          <a:latin typeface="Cambria Math"/>
                          <a:ea typeface="Cambria Math"/>
                        </a:rPr>
                        <m:t>→</m:t>
                      </m:r>
                      <m:r>
                        <a:rPr lang="en-US" sz="1000" b="1" i="1">
                          <a:latin typeface="Cambria Math"/>
                          <a:ea typeface="Cambria Math"/>
                        </a:rPr>
                        <m:t>𝑸</m:t>
                      </m:r>
                      <m:r>
                        <a:rPr lang="en-US" sz="1000" b="1" i="1">
                          <a:latin typeface="Cambria Math"/>
                          <a:ea typeface="Cambria Math"/>
                        </a:rPr>
                        <m:t>𝟖</m:t>
                      </m:r>
                      <m:r>
                        <a:rPr lang="en-US" sz="1000" b="1" i="1">
                          <a:latin typeface="Cambria Math"/>
                          <a:ea typeface="Cambria Math"/>
                        </a:rPr>
                        <m:t>,}</m:t>
                      </m:r>
                    </m:oMath>
                  </a14:m>
                  <a:r>
                    <a:rPr lang="zh-CN" sz="1000" b="1"/>
                    <a:t>            </a:t>
                  </a:r>
                  <a:r>
                    <a:rPr lang="en-US" sz="1000" b="1"/>
                    <a:t>1</a:t>
                  </a:r>
                  <a:endParaRPr lang="zh-CN" sz="1000" b="1"/>
                </a:p>
              </p:txBody>
            </p:sp>
          </mc:Choice>
          <mc:Fallback xmlns="">
            <p:sp>
              <p:nvSpPr>
                <p:cNvPr id="34" name="文本框 33">
                  <a:extLst>
                    <a:ext uri="{FF2B5EF4-FFF2-40B4-BE49-F238E27FC236}">
                      <a16:creationId xmlns:a16="http://schemas.microsoft.com/office/drawing/2014/main" id="{6F87B8EC-D9A7-A111-E7C9-618E7CC0CEFA}"/>
                    </a:ext>
                  </a:extLst>
                </p:cNvPr>
                <p:cNvSpPr txBox="1">
                  <a:spLocks noRot="1" noChangeAspect="1" noMove="1" noResize="1" noEditPoints="1" noAdjustHandles="1" noChangeArrowheads="1" noChangeShapeType="1" noTextEdit="1"/>
                </p:cNvSpPr>
                <p:nvPr/>
              </p:nvSpPr>
              <p:spPr bwMode="auto">
                <a:xfrm>
                  <a:off x="8188630" y="2880405"/>
                  <a:ext cx="3596300" cy="246221"/>
                </a:xfrm>
                <a:prstGeom prst="rect">
                  <a:avLst/>
                </a:prstGeom>
                <a:blipFill>
                  <a:blip r:embed="rId5"/>
                  <a:stretch>
                    <a:fillRect b="-15000"/>
                  </a:stretch>
                </a:blipFill>
              </p:spPr>
              <p:txBody>
                <a:bodyPr/>
                <a:lstStyle/>
                <a:p>
                  <a:r>
                    <a:rPr lang="zh-CN" altLang="en-US">
                      <a:noFill/>
                    </a:rPr>
                    <a:t> </a:t>
                  </a:r>
                </a:p>
              </p:txBody>
            </p:sp>
          </mc:Fallback>
        </mc:AlternateContent>
        <p:sp>
          <p:nvSpPr>
            <p:cNvPr id="35" name="文本框 34">
              <a:extLst>
                <a:ext uri="{FF2B5EF4-FFF2-40B4-BE49-F238E27FC236}">
                  <a16:creationId xmlns:a16="http://schemas.microsoft.com/office/drawing/2014/main" id="{1417A065-EC92-1A20-C4AC-92029649C7E5}"/>
                </a:ext>
              </a:extLst>
            </p:cNvPr>
            <p:cNvSpPr txBox="1"/>
            <p:nvPr/>
          </p:nvSpPr>
          <p:spPr bwMode="auto">
            <a:xfrm>
              <a:off x="8188631" y="2619099"/>
              <a:ext cx="2447232" cy="276999"/>
            </a:xfrm>
            <a:prstGeom prst="rect">
              <a:avLst/>
            </a:prstGeom>
            <a:noFill/>
          </p:spPr>
          <p:txBody>
            <a:bodyPr wrap="square">
              <a:spAutoFit/>
            </a:bodyPr>
            <a:lstStyle/>
            <a:p>
              <a:pPr algn="ctr">
                <a:defRPr/>
              </a:pPr>
              <a:r>
                <a:rPr lang="zh-CN" sz="1200">
                  <a:solidFill>
                    <a:schemeClr val="dk1"/>
                  </a:solidFill>
                  <a:latin typeface="微软雅黑"/>
                  <a:ea typeface="微软雅黑"/>
                </a:rPr>
                <a:t>映射方案</a:t>
              </a:r>
              <a:endParaRPr lang="zh-CN" sz="1200">
                <a:latin typeface="微软雅黑"/>
                <a:ea typeface="微软雅黑"/>
              </a:endParaRPr>
            </a:p>
          </p:txBody>
        </p:sp>
        <p:sp>
          <p:nvSpPr>
            <p:cNvPr id="36" name="文本框 35">
              <a:extLst>
                <a:ext uri="{FF2B5EF4-FFF2-40B4-BE49-F238E27FC236}">
                  <a16:creationId xmlns:a16="http://schemas.microsoft.com/office/drawing/2014/main" id="{605B05EF-F6CD-F304-E290-8ABEF2CF41BA}"/>
                </a:ext>
              </a:extLst>
            </p:cNvPr>
            <p:cNvSpPr txBox="1"/>
            <p:nvPr/>
          </p:nvSpPr>
          <p:spPr bwMode="auto">
            <a:xfrm>
              <a:off x="10606611" y="2619099"/>
              <a:ext cx="1178319" cy="276999"/>
            </a:xfrm>
            <a:prstGeom prst="rect">
              <a:avLst/>
            </a:prstGeom>
            <a:noFill/>
          </p:spPr>
          <p:txBody>
            <a:bodyPr wrap="square">
              <a:spAutoFit/>
            </a:bodyPr>
            <a:lstStyle/>
            <a:p>
              <a:pPr algn="ctr">
                <a:defRPr/>
              </a:pPr>
              <a:r>
                <a:rPr lang="en-US" sz="1200">
                  <a:solidFill>
                    <a:schemeClr val="dk1"/>
                  </a:solidFill>
                  <a:latin typeface="微软雅黑"/>
                  <a:ea typeface="微软雅黑"/>
                </a:rPr>
                <a:t>SWAP</a:t>
              </a:r>
              <a:r>
                <a:rPr lang="zh-CN" sz="1200">
                  <a:solidFill>
                    <a:schemeClr val="dk1"/>
                  </a:solidFill>
                  <a:latin typeface="微软雅黑"/>
                  <a:ea typeface="微软雅黑"/>
                </a:rPr>
                <a:t>门个数</a:t>
              </a:r>
              <a:endParaRPr lang="en-US" sz="1200">
                <a:solidFill>
                  <a:schemeClr val="dk1"/>
                </a:solidFill>
                <a:latin typeface="微软雅黑"/>
                <a:ea typeface="微软雅黑"/>
              </a:endParaRP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79BD78AF-B481-C6B8-5249-A8CA61C27D1E}"/>
                    </a:ext>
                  </a:extLst>
                </p:cNvPr>
                <p:cNvSpPr txBox="1"/>
                <p:nvPr/>
              </p:nvSpPr>
              <p:spPr bwMode="auto">
                <a:xfrm>
                  <a:off x="8188630" y="3175788"/>
                  <a:ext cx="3596300" cy="246221"/>
                </a:xfrm>
                <a:prstGeom prst="rect">
                  <a:avLst/>
                </a:prstGeom>
                <a:noFill/>
              </p:spPr>
              <p:txBody>
                <a:bodyPr wrap="square">
                  <a:spAutoFit/>
                </a:bodyPr>
                <a:lstStyle/>
                <a:p>
                  <a:pPr>
                    <a:defRPr/>
                  </a:pPr>
                  <a14:m>
                    <m:oMath xmlns:m="http://schemas.openxmlformats.org/officeDocument/2006/math">
                      <m:r>
                        <a:rPr lang="en-US" sz="1000" b="1" i="1">
                          <a:latin typeface="Cambria Math"/>
                        </a:rPr>
                        <m:t>{</m:t>
                      </m:r>
                      <m:r>
                        <a:rPr lang="en-US" sz="1000" b="1" i="1">
                          <a:latin typeface="Cambria Math"/>
                        </a:rPr>
                        <m:t>𝒒</m:t>
                      </m:r>
                      <m:r>
                        <a:rPr lang="en-US" sz="1000" b="1" i="1">
                          <a:latin typeface="Cambria Math"/>
                        </a:rPr>
                        <m:t>𝟎</m:t>
                      </m:r>
                      <m:r>
                        <a:rPr lang="en-US" sz="1000" b="1" i="1">
                          <a:latin typeface="Cambria Math"/>
                          <a:ea typeface="Cambria Math"/>
                        </a:rPr>
                        <m:t>→</m:t>
                      </m:r>
                      <m:r>
                        <a:rPr lang="en-US" sz="1000" b="1" i="1">
                          <a:latin typeface="Cambria Math"/>
                          <a:ea typeface="Cambria Math"/>
                        </a:rPr>
                        <m:t>𝑸</m:t>
                      </m:r>
                      <m:r>
                        <a:rPr lang="en-US" sz="1000" b="1" i="1">
                          <a:latin typeface="Cambria Math"/>
                          <a:ea typeface="Cambria Math"/>
                        </a:rPr>
                        <m:t>𝟏</m:t>
                      </m:r>
                      <m:r>
                        <a:rPr lang="en-US" sz="1000" b="1" i="1">
                          <a:latin typeface="Cambria Math"/>
                          <a:ea typeface="Cambria Math"/>
                        </a:rPr>
                        <m:t>,</m:t>
                      </m:r>
                      <m:r>
                        <a:rPr lang="en-US" sz="1000" b="1" i="1">
                          <a:latin typeface="Cambria Math"/>
                        </a:rPr>
                        <m:t>𝒒</m:t>
                      </m:r>
                      <m:r>
                        <a:rPr lang="en-US" sz="1000" b="1" i="1">
                          <a:latin typeface="Cambria Math"/>
                        </a:rPr>
                        <m:t>𝟏</m:t>
                      </m:r>
                      <m:r>
                        <a:rPr lang="en-US" sz="1000" b="1" i="1">
                          <a:latin typeface="Cambria Math"/>
                          <a:ea typeface="Cambria Math"/>
                        </a:rPr>
                        <m:t>→</m:t>
                      </m:r>
                      <m:r>
                        <a:rPr lang="en-US" sz="1000" b="1" i="1">
                          <a:latin typeface="Cambria Math"/>
                          <a:ea typeface="Cambria Math"/>
                        </a:rPr>
                        <m:t>𝑸</m:t>
                      </m:r>
                      <m:r>
                        <a:rPr lang="en-US" sz="1000" b="1" i="1">
                          <a:latin typeface="Cambria Math"/>
                          <a:ea typeface="Cambria Math"/>
                        </a:rPr>
                        <m:t>𝟐</m:t>
                      </m:r>
                      <m:r>
                        <a:rPr lang="en-US" sz="1000" b="1" i="1">
                          <a:latin typeface="Cambria Math"/>
                          <a:ea typeface="Cambria Math"/>
                        </a:rPr>
                        <m:t>,</m:t>
                      </m:r>
                      <m:r>
                        <a:rPr lang="en-US" sz="1000" b="1" i="1">
                          <a:latin typeface="Cambria Math"/>
                        </a:rPr>
                        <m:t>𝒒</m:t>
                      </m:r>
                      <m:r>
                        <a:rPr lang="en-US" sz="1000" b="1" i="1">
                          <a:latin typeface="Cambria Math"/>
                        </a:rPr>
                        <m:t>𝟐</m:t>
                      </m:r>
                      <m:r>
                        <a:rPr lang="en-US" sz="1000" b="1" i="1">
                          <a:latin typeface="Cambria Math"/>
                          <a:ea typeface="Cambria Math"/>
                        </a:rPr>
                        <m:t>→</m:t>
                      </m:r>
                      <m:r>
                        <a:rPr lang="en-US" sz="1000" b="1" i="1">
                          <a:latin typeface="Cambria Math"/>
                          <a:ea typeface="Cambria Math"/>
                        </a:rPr>
                        <m:t>𝑸</m:t>
                      </m:r>
                      <m:r>
                        <a:rPr lang="en-US" sz="1000" b="1" i="1">
                          <a:latin typeface="Cambria Math"/>
                          <a:ea typeface="Cambria Math"/>
                        </a:rPr>
                        <m:t>𝟑</m:t>
                      </m:r>
                      <m:r>
                        <a:rPr lang="en-US" sz="1000" b="1" i="1">
                          <a:latin typeface="Cambria Math"/>
                          <a:ea typeface="Cambria Math"/>
                        </a:rPr>
                        <m:t>,</m:t>
                      </m:r>
                      <m:r>
                        <a:rPr lang="en-US" sz="1000" b="1" i="1">
                          <a:latin typeface="Cambria Math"/>
                        </a:rPr>
                        <m:t>𝒒</m:t>
                      </m:r>
                      <m:r>
                        <a:rPr lang="en-US" sz="1000" b="1" i="1">
                          <a:latin typeface="Cambria Math"/>
                        </a:rPr>
                        <m:t>𝟑</m:t>
                      </m:r>
                      <m:r>
                        <a:rPr lang="en-US" sz="1000" b="1" i="1">
                          <a:latin typeface="Cambria Math"/>
                          <a:ea typeface="Cambria Math"/>
                        </a:rPr>
                        <m:t>→</m:t>
                      </m:r>
                      <m:r>
                        <a:rPr lang="en-US" sz="1000" b="1" i="1">
                          <a:latin typeface="Cambria Math"/>
                          <a:ea typeface="Cambria Math"/>
                        </a:rPr>
                        <m:t>𝑸</m:t>
                      </m:r>
                      <m:r>
                        <a:rPr lang="en-US" sz="1000" b="1" i="1">
                          <a:latin typeface="Cambria Math"/>
                          <a:ea typeface="Cambria Math"/>
                        </a:rPr>
                        <m:t>𝟒</m:t>
                      </m:r>
                      <m:r>
                        <a:rPr lang="en-US" sz="1000" b="1" i="1">
                          <a:latin typeface="Cambria Math"/>
                          <a:ea typeface="Cambria Math"/>
                        </a:rPr>
                        <m:t>,}</m:t>
                      </m:r>
                    </m:oMath>
                  </a14:m>
                  <a:r>
                    <a:rPr lang="zh-CN" sz="1000" b="1"/>
                    <a:t>           </a:t>
                  </a:r>
                  <a:r>
                    <a:rPr lang="en-US" sz="1000" b="1"/>
                    <a:t>……</a:t>
                  </a:r>
                  <a:endParaRPr lang="zh-CN" sz="1000" b="1"/>
                </a:p>
              </p:txBody>
            </p:sp>
          </mc:Choice>
          <mc:Fallback xmlns="">
            <p:sp>
              <p:nvSpPr>
                <p:cNvPr id="37" name="文本框 36">
                  <a:extLst>
                    <a:ext uri="{FF2B5EF4-FFF2-40B4-BE49-F238E27FC236}">
                      <a16:creationId xmlns:a16="http://schemas.microsoft.com/office/drawing/2014/main" id="{79BD78AF-B481-C6B8-5249-A8CA61C27D1E}"/>
                    </a:ext>
                  </a:extLst>
                </p:cNvPr>
                <p:cNvSpPr txBox="1">
                  <a:spLocks noRot="1" noChangeAspect="1" noMove="1" noResize="1" noEditPoints="1" noAdjustHandles="1" noChangeArrowheads="1" noChangeShapeType="1" noTextEdit="1"/>
                </p:cNvSpPr>
                <p:nvPr/>
              </p:nvSpPr>
              <p:spPr bwMode="auto">
                <a:xfrm>
                  <a:off x="8188630" y="3175788"/>
                  <a:ext cx="3596300" cy="246221"/>
                </a:xfrm>
                <a:prstGeom prst="rect">
                  <a:avLst/>
                </a:prstGeom>
                <a:blipFill>
                  <a:blip r:embed="rId6"/>
                  <a:stretch>
                    <a:fillRect b="-15000"/>
                  </a:stretch>
                </a:blipFill>
              </p:spPr>
              <p:txBody>
                <a:bodyPr/>
                <a:lstStyle/>
                <a:p>
                  <a:r>
                    <a:rPr lang="zh-CN" altLang="en-US">
                      <a:noFill/>
                    </a:rPr>
                    <a:t> </a:t>
                  </a:r>
                </a:p>
              </p:txBody>
            </p:sp>
          </mc:Fallback>
        </mc:AlternateContent>
        <p:sp>
          <p:nvSpPr>
            <p:cNvPr id="38" name="文本框 37">
              <a:extLst>
                <a:ext uri="{FF2B5EF4-FFF2-40B4-BE49-F238E27FC236}">
                  <a16:creationId xmlns:a16="http://schemas.microsoft.com/office/drawing/2014/main" id="{42E7ED4B-0099-7838-51FD-17572CC2AAB9}"/>
                </a:ext>
              </a:extLst>
            </p:cNvPr>
            <p:cNvSpPr txBox="1"/>
            <p:nvPr/>
          </p:nvSpPr>
          <p:spPr bwMode="auto">
            <a:xfrm>
              <a:off x="8823087" y="3519055"/>
              <a:ext cx="1178319" cy="276999"/>
            </a:xfrm>
            <a:prstGeom prst="rect">
              <a:avLst/>
            </a:prstGeom>
            <a:noFill/>
          </p:spPr>
          <p:txBody>
            <a:bodyPr wrap="square">
              <a:spAutoFit/>
            </a:bodyPr>
            <a:lstStyle/>
            <a:p>
              <a:pPr algn="ctr">
                <a:defRPr/>
              </a:pPr>
              <a:r>
                <a:rPr lang="en-US" sz="1200">
                  <a:solidFill>
                    <a:schemeClr val="dk1"/>
                  </a:solidFill>
                  <a:latin typeface="微软雅黑"/>
                  <a:ea typeface="微软雅黑"/>
                </a:rPr>
                <a:t>……</a:t>
              </a:r>
              <a:endParaRPr/>
            </a:p>
          </p:txBody>
        </p:sp>
        <p:sp>
          <p:nvSpPr>
            <p:cNvPr id="39" name="文本框 38">
              <a:extLst>
                <a:ext uri="{FF2B5EF4-FFF2-40B4-BE49-F238E27FC236}">
                  <a16:creationId xmlns:a16="http://schemas.microsoft.com/office/drawing/2014/main" id="{A1892238-136A-1A46-E230-F4E72FD9237C}"/>
                </a:ext>
              </a:extLst>
            </p:cNvPr>
            <p:cNvSpPr txBox="1"/>
            <p:nvPr/>
          </p:nvSpPr>
          <p:spPr bwMode="auto">
            <a:xfrm>
              <a:off x="10613092" y="3479275"/>
              <a:ext cx="1178319" cy="276999"/>
            </a:xfrm>
            <a:prstGeom prst="rect">
              <a:avLst/>
            </a:prstGeom>
            <a:noFill/>
          </p:spPr>
          <p:txBody>
            <a:bodyPr wrap="square">
              <a:spAutoFit/>
            </a:bodyPr>
            <a:lstStyle/>
            <a:p>
              <a:pPr algn="ctr">
                <a:defRPr/>
              </a:pPr>
              <a:r>
                <a:rPr lang="en-US" sz="1200">
                  <a:solidFill>
                    <a:schemeClr val="dk1"/>
                  </a:solidFill>
                  <a:latin typeface="微软雅黑"/>
                  <a:ea typeface="微软雅黑"/>
                </a:rPr>
                <a:t>……</a:t>
              </a:r>
              <a:endParaRPr/>
            </a:p>
          </p:txBody>
        </p:sp>
      </p:grpSp>
    </p:spTree>
    <p:extLst>
      <p:ext uri="{BB962C8B-B14F-4D97-AF65-F5344CB8AC3E}">
        <p14:creationId xmlns:p14="http://schemas.microsoft.com/office/powerpoint/2010/main" val="26823715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0C9A5-A6A2-1320-044C-1824869F0D1D}"/>
            </a:ext>
          </a:extLst>
        </p:cNvPr>
        <p:cNvGrpSpPr/>
        <p:nvPr/>
      </p:nvGrpSpPr>
      <p:grpSpPr>
        <a:xfrm>
          <a:off x="0" y="0"/>
          <a:ext cx="0" cy="0"/>
          <a:chOff x="0" y="0"/>
          <a:chExt cx="0" cy="0"/>
        </a:xfrm>
      </p:grpSpPr>
      <p:sp>
        <p:nvSpPr>
          <p:cNvPr id="45" name="矩形 44">
            <a:extLst>
              <a:ext uri="{FF2B5EF4-FFF2-40B4-BE49-F238E27FC236}">
                <a16:creationId xmlns:a16="http://schemas.microsoft.com/office/drawing/2014/main" id="{A6EB237E-69FA-AF85-9E72-F9C100F29166}"/>
              </a:ext>
            </a:extLst>
          </p:cNvPr>
          <p:cNvSpPr/>
          <p:nvPr/>
        </p:nvSpPr>
        <p:spPr>
          <a:xfrm>
            <a:off x="4570392" y="2256413"/>
            <a:ext cx="1358479" cy="3800332"/>
          </a:xfrm>
          <a:prstGeom prst="rect">
            <a:avLst/>
          </a:prstGeom>
          <a:solidFill>
            <a:schemeClr val="accent2">
              <a:lumMod val="20000"/>
              <a:lumOff val="80000"/>
              <a:alpha val="34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矩形 36">
            <a:extLst>
              <a:ext uri="{FF2B5EF4-FFF2-40B4-BE49-F238E27FC236}">
                <a16:creationId xmlns:a16="http://schemas.microsoft.com/office/drawing/2014/main" id="{E1D0605F-3E4C-DFF5-D8A6-B12505D11E45}"/>
              </a:ext>
            </a:extLst>
          </p:cNvPr>
          <p:cNvSpPr/>
          <p:nvPr/>
        </p:nvSpPr>
        <p:spPr>
          <a:xfrm>
            <a:off x="230909" y="2256413"/>
            <a:ext cx="3429000" cy="3800332"/>
          </a:xfrm>
          <a:prstGeom prst="rect">
            <a:avLst/>
          </a:prstGeom>
          <a:solidFill>
            <a:schemeClr val="accent5">
              <a:lumMod val="20000"/>
              <a:lumOff val="80000"/>
              <a:alpha val="42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标题 2">
            <a:extLst>
              <a:ext uri="{FF2B5EF4-FFF2-40B4-BE49-F238E27FC236}">
                <a16:creationId xmlns:a16="http://schemas.microsoft.com/office/drawing/2014/main" id="{399CFFB6-C396-CB98-974E-6FCFBD78BD23}"/>
              </a:ext>
            </a:extLst>
          </p:cNvPr>
          <p:cNvSpPr>
            <a:spLocks noGrp="1"/>
          </p:cNvSpPr>
          <p:nvPr>
            <p:ph type="title"/>
          </p:nvPr>
        </p:nvSpPr>
        <p:spPr>
          <a:xfrm>
            <a:off x="166255" y="0"/>
            <a:ext cx="12025745" cy="738893"/>
          </a:xfrm>
        </p:spPr>
        <p:txBody>
          <a:bodyPr>
            <a:normAutofit/>
          </a:bodyPr>
          <a:lstStyle/>
          <a:p>
            <a:r>
              <a:rPr lang="zh-CN" altLang="en-US" sz="3600" dirty="0"/>
              <a:t>量子程序如何在</a:t>
            </a:r>
            <a:r>
              <a:rPr lang="en-US" altLang="zh-CN" sz="3600" dirty="0"/>
              <a:t>QPU</a:t>
            </a:r>
            <a:r>
              <a:rPr lang="zh-CN" altLang="en-US" sz="3600" dirty="0"/>
              <a:t>上运行？</a:t>
            </a:r>
          </a:p>
        </p:txBody>
      </p:sp>
      <p:sp>
        <p:nvSpPr>
          <p:cNvPr id="5" name="文本框 4">
            <a:extLst>
              <a:ext uri="{FF2B5EF4-FFF2-40B4-BE49-F238E27FC236}">
                <a16:creationId xmlns:a16="http://schemas.microsoft.com/office/drawing/2014/main" id="{2317DA58-9E95-B421-7EA7-EE8D07AF9414}"/>
              </a:ext>
            </a:extLst>
          </p:cNvPr>
          <p:cNvSpPr txBox="1"/>
          <p:nvPr/>
        </p:nvSpPr>
        <p:spPr>
          <a:xfrm>
            <a:off x="225103" y="996875"/>
            <a:ext cx="11494009" cy="416524"/>
          </a:xfrm>
          <a:prstGeom prst="rect">
            <a:avLst/>
          </a:prstGeom>
          <a:gradFill flip="none" rotWithShape="1">
            <a:gsLst>
              <a:gs pos="0">
                <a:schemeClr val="accent1">
                  <a:lumMod val="5000"/>
                  <a:lumOff val="95000"/>
                  <a:alpha val="2000"/>
                </a:schemeClr>
              </a:gs>
              <a:gs pos="44000">
                <a:srgbClr val="EAF2FA"/>
              </a:gs>
              <a:gs pos="100000">
                <a:schemeClr val="accent5">
                  <a:lumMod val="20000"/>
                  <a:lumOff val="80000"/>
                </a:schemeClr>
              </a:gs>
            </a:gsLst>
            <a:lin ang="16200000" scaled="1"/>
            <a:tileRect/>
          </a:gradFill>
        </p:spPr>
        <p:txBody>
          <a:bodyPr wrap="square" rtlCol="0">
            <a:spAutoFit/>
          </a:bodyPr>
          <a:lstStyle/>
          <a:p>
            <a:pPr marL="355600" marR="0" lvl="0" indent="-355600" algn="l" defTabSz="914400" rtl="0" eaLnBrk="1" fontAlgn="auto" latinLnBrk="0" hangingPunct="1">
              <a:lnSpc>
                <a:spcPct val="114000"/>
              </a:lnSpc>
              <a:spcBef>
                <a:spcPts val="1000"/>
              </a:spcBef>
              <a:spcAft>
                <a:spcPts val="0"/>
              </a:spcAft>
              <a:buClr>
                <a:srgbClr val="4472C4"/>
              </a:buClr>
              <a:buSzPct val="90000"/>
              <a:buFont typeface="Wingdings" panose="05000000000000000000" pitchFamily="2" charset="2"/>
              <a:buChar char="q"/>
              <a:tabLst/>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“经典</a:t>
            </a: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量子”编译</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10">
            <a:extLst>
              <a:ext uri="{FF2B5EF4-FFF2-40B4-BE49-F238E27FC236}">
                <a16:creationId xmlns:a16="http://schemas.microsoft.com/office/drawing/2014/main" id="{0F73AD66-43BF-F68A-85FF-C9F1481C328B}"/>
              </a:ext>
            </a:extLst>
          </p:cNvPr>
          <p:cNvSpPr txBox="1"/>
          <p:nvPr/>
        </p:nvSpPr>
        <p:spPr>
          <a:xfrm>
            <a:off x="1017086" y="6151215"/>
            <a:ext cx="422868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altLang="zh-CN" sz="2000" b="1" i="0" u="none" strike="noStrike" kern="1200" cap="none" spc="0" normalizeH="0" baseline="0" noProof="0" dirty="0">
                <a:ln>
                  <a:noFill/>
                </a:ln>
                <a:solidFill>
                  <a:srgbClr val="5B9BD5">
                    <a:lumMod val="75000"/>
                  </a:srgbClr>
                </a:solidFill>
                <a:effectLst/>
                <a:uLnTx/>
                <a:uFillTx/>
                <a:latin typeface="微软雅黑" panose="020B0503020204020204" pitchFamily="34" charset="-122"/>
                <a:ea typeface="微软雅黑" panose="020B0503020204020204" pitchFamily="34" charset="-122"/>
                <a:cs typeface="+mn-cs"/>
              </a:rPr>
              <a:t>QAOA</a:t>
            </a:r>
            <a:r>
              <a:rPr kumimoji="0" lang="zh-CN" altLang="en-US" sz="2000" b="1" i="0" u="none" strike="noStrike" kern="1200" cap="none" spc="0" normalizeH="0" baseline="0" noProof="0" dirty="0">
                <a:ln>
                  <a:noFill/>
                </a:ln>
                <a:solidFill>
                  <a:srgbClr val="5B9BD5">
                    <a:lumMod val="75000"/>
                  </a:srgbClr>
                </a:solidFill>
                <a:effectLst/>
                <a:uLnTx/>
                <a:uFillTx/>
                <a:latin typeface="微软雅黑" panose="020B0503020204020204" pitchFamily="34" charset="-122"/>
                <a:ea typeface="微软雅黑" panose="020B0503020204020204" pitchFamily="34" charset="-122"/>
                <a:cs typeface="+mn-cs"/>
              </a:rPr>
              <a:t>：“经典</a:t>
            </a:r>
            <a:r>
              <a:rPr kumimoji="0" lang="en-US" altLang="zh-CN" sz="2000" b="1" i="0" u="none" strike="noStrike" kern="1200" cap="none" spc="0" normalizeH="0" baseline="0" noProof="0" dirty="0">
                <a:ln>
                  <a:noFill/>
                </a:ln>
                <a:solidFill>
                  <a:srgbClr val="5B9BD5">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0" dirty="0">
                <a:ln>
                  <a:noFill/>
                </a:ln>
                <a:solidFill>
                  <a:srgbClr val="5B9BD5">
                    <a:lumMod val="75000"/>
                  </a:srgbClr>
                </a:solidFill>
                <a:effectLst/>
                <a:uLnTx/>
                <a:uFillTx/>
                <a:latin typeface="微软雅黑" panose="020B0503020204020204" pitchFamily="34" charset="-122"/>
                <a:ea typeface="微软雅黑" panose="020B0503020204020204" pitchFamily="34" charset="-122"/>
                <a:cs typeface="+mn-cs"/>
              </a:rPr>
              <a:t>量子”混合算法</a:t>
            </a:r>
            <a:endParaRPr kumimoji="0" lang="en-US" altLang="zh-CN" sz="2000" b="1" i="0" u="none" strike="noStrike" kern="1200" cap="none" spc="0" normalizeH="0" baseline="0" noProof="0" dirty="0">
              <a:ln>
                <a:noFill/>
              </a:ln>
              <a:solidFill>
                <a:srgbClr val="5B9BD5">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矩形: 圆角 1">
            <a:extLst>
              <a:ext uri="{FF2B5EF4-FFF2-40B4-BE49-F238E27FC236}">
                <a16:creationId xmlns:a16="http://schemas.microsoft.com/office/drawing/2014/main" id="{B6BF09C0-9C38-DE03-7F60-801B7AE6CD96}"/>
              </a:ext>
            </a:extLst>
          </p:cNvPr>
          <p:cNvSpPr/>
          <p:nvPr/>
        </p:nvSpPr>
        <p:spPr>
          <a:xfrm>
            <a:off x="875715" y="2400716"/>
            <a:ext cx="2541401" cy="374571"/>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问题定义</a:t>
            </a:r>
            <a:r>
              <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数据准备</a:t>
            </a:r>
          </a:p>
        </p:txBody>
      </p:sp>
      <p:sp>
        <p:nvSpPr>
          <p:cNvPr id="4" name="矩形: 圆角 3">
            <a:extLst>
              <a:ext uri="{FF2B5EF4-FFF2-40B4-BE49-F238E27FC236}">
                <a16:creationId xmlns:a16="http://schemas.microsoft.com/office/drawing/2014/main" id="{AE11F486-400C-795D-45B9-B3D5A7164BCC}"/>
              </a:ext>
            </a:extLst>
          </p:cNvPr>
          <p:cNvSpPr/>
          <p:nvPr/>
        </p:nvSpPr>
        <p:spPr>
          <a:xfrm>
            <a:off x="875715" y="2978472"/>
            <a:ext cx="2541401" cy="532026"/>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参数优化（经典算法</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矩形: 圆角 5">
            <a:extLst>
              <a:ext uri="{FF2B5EF4-FFF2-40B4-BE49-F238E27FC236}">
                <a16:creationId xmlns:a16="http://schemas.microsoft.com/office/drawing/2014/main" id="{AED40DAC-8E77-8B83-907F-DD18704DA8F8}"/>
              </a:ext>
            </a:extLst>
          </p:cNvPr>
          <p:cNvSpPr/>
          <p:nvPr/>
        </p:nvSpPr>
        <p:spPr>
          <a:xfrm>
            <a:off x="875715" y="3713683"/>
            <a:ext cx="2541401" cy="719050"/>
          </a:xfrm>
          <a:prstGeom prst="roundRect">
            <a:avLst/>
          </a:prstGeom>
          <a:solidFill>
            <a:schemeClr val="accent2">
              <a:lumMod val="20000"/>
              <a:lumOff val="80000"/>
              <a:alpha val="71000"/>
            </a:schemeClr>
          </a:solidFill>
          <a:ln>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矩形: 圆角 7">
            <a:extLst>
              <a:ext uri="{FF2B5EF4-FFF2-40B4-BE49-F238E27FC236}">
                <a16:creationId xmlns:a16="http://schemas.microsoft.com/office/drawing/2014/main" id="{0FCA9F96-F854-3058-C0FC-A5569521CC02}"/>
              </a:ext>
            </a:extLst>
          </p:cNvPr>
          <p:cNvSpPr/>
          <p:nvPr/>
        </p:nvSpPr>
        <p:spPr>
          <a:xfrm>
            <a:off x="875715" y="4635918"/>
            <a:ext cx="2541401" cy="532026"/>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测量结果</a:t>
            </a:r>
          </a:p>
        </p:txBody>
      </p:sp>
      <p:sp>
        <p:nvSpPr>
          <p:cNvPr id="10" name="矩形: 圆角 9">
            <a:extLst>
              <a:ext uri="{FF2B5EF4-FFF2-40B4-BE49-F238E27FC236}">
                <a16:creationId xmlns:a16="http://schemas.microsoft.com/office/drawing/2014/main" id="{2AB0383A-55E9-2111-8105-FCC49DB668D5}"/>
              </a:ext>
            </a:extLst>
          </p:cNvPr>
          <p:cNvSpPr/>
          <p:nvPr/>
        </p:nvSpPr>
        <p:spPr>
          <a:xfrm>
            <a:off x="875715" y="5326583"/>
            <a:ext cx="2541401" cy="532026"/>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结果评估与参数更新</a:t>
            </a:r>
          </a:p>
        </p:txBody>
      </p:sp>
      <p:cxnSp>
        <p:nvCxnSpPr>
          <p:cNvPr id="14" name="直接箭头连接符 13">
            <a:extLst>
              <a:ext uri="{FF2B5EF4-FFF2-40B4-BE49-F238E27FC236}">
                <a16:creationId xmlns:a16="http://schemas.microsoft.com/office/drawing/2014/main" id="{AAB85F5C-EBCC-66AB-D19D-98EB7C95F0AC}"/>
              </a:ext>
            </a:extLst>
          </p:cNvPr>
          <p:cNvCxnSpPr>
            <a:stCxn id="2" idx="2"/>
            <a:endCxn id="4" idx="0"/>
          </p:cNvCxnSpPr>
          <p:nvPr/>
        </p:nvCxnSpPr>
        <p:spPr>
          <a:xfrm>
            <a:off x="2146416" y="2775287"/>
            <a:ext cx="0" cy="203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E45A707A-7187-4319-F07D-0B62824CF274}"/>
              </a:ext>
            </a:extLst>
          </p:cNvPr>
          <p:cNvCxnSpPr>
            <a:cxnSpLocks/>
            <a:stCxn id="4" idx="2"/>
            <a:endCxn id="6" idx="0"/>
          </p:cNvCxnSpPr>
          <p:nvPr/>
        </p:nvCxnSpPr>
        <p:spPr>
          <a:xfrm>
            <a:off x="2146416" y="3510498"/>
            <a:ext cx="0" cy="203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786E7C24-4C81-6073-5793-AE7AF532E34E}"/>
              </a:ext>
            </a:extLst>
          </p:cNvPr>
          <p:cNvCxnSpPr>
            <a:cxnSpLocks/>
            <a:stCxn id="6" idx="2"/>
            <a:endCxn id="8" idx="0"/>
          </p:cNvCxnSpPr>
          <p:nvPr/>
        </p:nvCxnSpPr>
        <p:spPr>
          <a:xfrm>
            <a:off x="2146416" y="4432733"/>
            <a:ext cx="0" cy="203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CDC7438C-3272-94CC-4510-DF7CF088A9DA}"/>
              </a:ext>
            </a:extLst>
          </p:cNvPr>
          <p:cNvCxnSpPr>
            <a:cxnSpLocks/>
            <a:stCxn id="8" idx="2"/>
            <a:endCxn id="10" idx="0"/>
          </p:cNvCxnSpPr>
          <p:nvPr/>
        </p:nvCxnSpPr>
        <p:spPr>
          <a:xfrm>
            <a:off x="2146416" y="5167944"/>
            <a:ext cx="0" cy="1586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47C56257-609D-580D-8A3B-6AA6E5AF1489}"/>
              </a:ext>
            </a:extLst>
          </p:cNvPr>
          <p:cNvCxnSpPr>
            <a:stCxn id="10" idx="1"/>
            <a:endCxn id="4" idx="1"/>
          </p:cNvCxnSpPr>
          <p:nvPr/>
        </p:nvCxnSpPr>
        <p:spPr>
          <a:xfrm rot="10800000">
            <a:off x="875715" y="3244486"/>
            <a:ext cx="12700" cy="2348111"/>
          </a:xfrm>
          <a:prstGeom prst="bentConnector3">
            <a:avLst>
              <a:gd name="adj1" fmla="val 3438622"/>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5DCE6007-DC84-A846-BB51-AD53AC67E0A6}"/>
              </a:ext>
            </a:extLst>
          </p:cNvPr>
          <p:cNvSpPr/>
          <p:nvPr/>
        </p:nvSpPr>
        <p:spPr>
          <a:xfrm>
            <a:off x="988430" y="3737245"/>
            <a:ext cx="2339972" cy="313691"/>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ED7D31">
                    <a:lumMod val="50000"/>
                  </a:srgbClr>
                </a:solidFill>
                <a:effectLst/>
                <a:uLnTx/>
                <a:uFillTx/>
                <a:latin typeface="微软雅黑" panose="020B0503020204020204" pitchFamily="34" charset="-122"/>
                <a:ea typeface="微软雅黑" panose="020B0503020204020204" pitchFamily="34" charset="-122"/>
                <a:cs typeface="+mn-cs"/>
              </a:rPr>
              <a:t>量子核</a:t>
            </a:r>
          </a:p>
        </p:txBody>
      </p:sp>
      <p:sp>
        <p:nvSpPr>
          <p:cNvPr id="29" name="矩形 28">
            <a:extLst>
              <a:ext uri="{FF2B5EF4-FFF2-40B4-BE49-F238E27FC236}">
                <a16:creationId xmlns:a16="http://schemas.microsoft.com/office/drawing/2014/main" id="{523D6ED7-BBA1-9D2B-EA0D-ECBB04B61246}"/>
              </a:ext>
            </a:extLst>
          </p:cNvPr>
          <p:cNvSpPr/>
          <p:nvPr/>
        </p:nvSpPr>
        <p:spPr>
          <a:xfrm>
            <a:off x="988430" y="4023860"/>
            <a:ext cx="2339972" cy="371434"/>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构建并执行参数化量子线路（编译后的</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ISA Circuit</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pic>
        <p:nvPicPr>
          <p:cNvPr id="35" name="Picture 4" descr="Rigetti Computing在英国推出32量子位量子计算机 - 讯石光通讯网-做光通讯行业的充电站!">
            <a:extLst>
              <a:ext uri="{FF2B5EF4-FFF2-40B4-BE49-F238E27FC236}">
                <a16:creationId xmlns:a16="http://schemas.microsoft.com/office/drawing/2014/main" id="{368ADE9E-7F4A-6B23-5559-454ADA97DD01}"/>
              </a:ext>
            </a:extLst>
          </p:cNvPr>
          <p:cNvPicPr>
            <a:picLocks noChangeAspect="1" noChangeArrowheads="1"/>
          </p:cNvPicPr>
          <p:nvPr/>
        </p:nvPicPr>
        <p:blipFill rotWithShape="1">
          <a:blip r:embed="rId3">
            <a:clrChange>
              <a:clrFrom>
                <a:srgbClr val="FBFBFB"/>
              </a:clrFrom>
              <a:clrTo>
                <a:srgbClr val="FBFBFB">
                  <a:alpha val="0"/>
                </a:srgbClr>
              </a:clrTo>
            </a:clrChange>
            <a:extLst>
              <a:ext uri="{28A0092B-C50C-407E-A947-70E740481C1C}">
                <a14:useLocalDpi xmlns:a14="http://schemas.microsoft.com/office/drawing/2010/main" val="0"/>
              </a:ext>
            </a:extLst>
          </a:blip>
          <a:srcRect l="9193" t="6898" r="7647" b="5709"/>
          <a:stretch/>
        </p:blipFill>
        <p:spPr bwMode="auto">
          <a:xfrm>
            <a:off x="4607339" y="3311320"/>
            <a:ext cx="1372705" cy="1923458"/>
          </a:xfrm>
          <a:prstGeom prst="rect">
            <a:avLst/>
          </a:prstGeom>
          <a:noFill/>
          <a:extLst>
            <a:ext uri="{909E8E84-426E-40DD-AFC4-6F175D3DCCD1}">
              <a14:hiddenFill xmlns:a14="http://schemas.microsoft.com/office/drawing/2010/main">
                <a:solidFill>
                  <a:srgbClr val="FFFFFF"/>
                </a:solidFill>
              </a14:hiddenFill>
            </a:ext>
          </a:extLst>
        </p:spPr>
      </p:pic>
      <p:sp>
        <p:nvSpPr>
          <p:cNvPr id="36" name="矩形 35">
            <a:extLst>
              <a:ext uri="{FF2B5EF4-FFF2-40B4-BE49-F238E27FC236}">
                <a16:creationId xmlns:a16="http://schemas.microsoft.com/office/drawing/2014/main" id="{410C911C-3067-F7A1-58D6-C5A3B8A92069}"/>
              </a:ext>
            </a:extLst>
          </p:cNvPr>
          <p:cNvSpPr/>
          <p:nvPr/>
        </p:nvSpPr>
        <p:spPr>
          <a:xfrm>
            <a:off x="4539444" y="2812762"/>
            <a:ext cx="1372705" cy="5098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量子处理器</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QPU</a:t>
            </a:r>
          </a:p>
        </p:txBody>
      </p:sp>
      <p:cxnSp>
        <p:nvCxnSpPr>
          <p:cNvPr id="39" name="直接箭头连接符 38">
            <a:extLst>
              <a:ext uri="{FF2B5EF4-FFF2-40B4-BE49-F238E27FC236}">
                <a16:creationId xmlns:a16="http://schemas.microsoft.com/office/drawing/2014/main" id="{67538A5D-3F92-BB23-8DBE-2DD41411F1A2}"/>
              </a:ext>
            </a:extLst>
          </p:cNvPr>
          <p:cNvCxnSpPr>
            <a:cxnSpLocks/>
          </p:cNvCxnSpPr>
          <p:nvPr/>
        </p:nvCxnSpPr>
        <p:spPr>
          <a:xfrm>
            <a:off x="3605933" y="3842183"/>
            <a:ext cx="108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F14F330A-1175-7A91-477C-19CE7877C081}"/>
              </a:ext>
            </a:extLst>
          </p:cNvPr>
          <p:cNvCxnSpPr>
            <a:cxnSpLocks/>
          </p:cNvCxnSpPr>
          <p:nvPr/>
        </p:nvCxnSpPr>
        <p:spPr>
          <a:xfrm>
            <a:off x="3605933" y="4218421"/>
            <a:ext cx="1080000" cy="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38FB3766-76B3-8830-0DA2-521032DAB313}"/>
              </a:ext>
            </a:extLst>
          </p:cNvPr>
          <p:cNvSpPr/>
          <p:nvPr/>
        </p:nvSpPr>
        <p:spPr>
          <a:xfrm>
            <a:off x="3380509" y="3394758"/>
            <a:ext cx="1453037" cy="371434"/>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提交线路</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ISA Circuit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44" name="矩形 43">
            <a:extLst>
              <a:ext uri="{FF2B5EF4-FFF2-40B4-BE49-F238E27FC236}">
                <a16:creationId xmlns:a16="http://schemas.microsoft.com/office/drawing/2014/main" id="{CD7A5848-5495-39A0-6DBA-5A137307CB80}"/>
              </a:ext>
            </a:extLst>
          </p:cNvPr>
          <p:cNvSpPr/>
          <p:nvPr/>
        </p:nvSpPr>
        <p:spPr>
          <a:xfrm>
            <a:off x="3521716" y="4278787"/>
            <a:ext cx="1263950" cy="371434"/>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测量结果</a:t>
            </a:r>
          </a:p>
        </p:txBody>
      </p:sp>
      <p:sp>
        <p:nvSpPr>
          <p:cNvPr id="51" name="矩形: 圆角 50">
            <a:extLst>
              <a:ext uri="{FF2B5EF4-FFF2-40B4-BE49-F238E27FC236}">
                <a16:creationId xmlns:a16="http://schemas.microsoft.com/office/drawing/2014/main" id="{12D32639-25AF-11C7-BAEB-DEB8704FF173}"/>
              </a:ext>
            </a:extLst>
          </p:cNvPr>
          <p:cNvSpPr/>
          <p:nvPr/>
        </p:nvSpPr>
        <p:spPr>
          <a:xfrm>
            <a:off x="6337939" y="2133600"/>
            <a:ext cx="5211952" cy="4515535"/>
          </a:xfrm>
          <a:prstGeom prst="roundRect">
            <a:avLst>
              <a:gd name="adj" fmla="val 1940"/>
            </a:avLst>
          </a:prstGeom>
          <a:solidFill>
            <a:srgbClr val="F4F8FC"/>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3" name="矩形: 圆角 52">
            <a:extLst>
              <a:ext uri="{FF2B5EF4-FFF2-40B4-BE49-F238E27FC236}">
                <a16:creationId xmlns:a16="http://schemas.microsoft.com/office/drawing/2014/main" id="{02C16FDC-29AD-FD87-3954-81921E9CE163}"/>
              </a:ext>
            </a:extLst>
          </p:cNvPr>
          <p:cNvSpPr/>
          <p:nvPr/>
        </p:nvSpPr>
        <p:spPr>
          <a:xfrm>
            <a:off x="6498502" y="2709747"/>
            <a:ext cx="2440874" cy="1516223"/>
          </a:xfrm>
          <a:prstGeom prst="roundRect">
            <a:avLst>
              <a:gd name="adj" fmla="val 4624"/>
            </a:avLst>
          </a:prstGeom>
          <a:solidFill>
            <a:srgbClr val="F1F7FC">
              <a:alpha val="33725"/>
            </a:srgbClr>
          </a:solidFill>
          <a:ln w="9525">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5" name="矩形: 圆角 54">
            <a:extLst>
              <a:ext uri="{FF2B5EF4-FFF2-40B4-BE49-F238E27FC236}">
                <a16:creationId xmlns:a16="http://schemas.microsoft.com/office/drawing/2014/main" id="{747EB5B8-7437-0294-9F7F-32262A2DAFE2}"/>
              </a:ext>
            </a:extLst>
          </p:cNvPr>
          <p:cNvSpPr/>
          <p:nvPr/>
        </p:nvSpPr>
        <p:spPr>
          <a:xfrm>
            <a:off x="6430704" y="2194744"/>
            <a:ext cx="5211952" cy="433274"/>
          </a:xfrm>
          <a:prstGeom prst="roundRect">
            <a:avLst>
              <a:gd name="adj" fmla="val 47855"/>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经典</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量子协同编译</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15A5E26-6B75-0215-EBBE-4C49DE74F102}"/>
              </a:ext>
            </a:extLst>
          </p:cNvPr>
          <p:cNvSpPr/>
          <p:nvPr/>
        </p:nvSpPr>
        <p:spPr>
          <a:xfrm>
            <a:off x="6498502" y="2709747"/>
            <a:ext cx="2440874" cy="287498"/>
          </a:xfrm>
          <a:prstGeom prst="rect">
            <a:avLst/>
          </a:prstGeom>
          <a:solidFill>
            <a:schemeClr val="accent1">
              <a:lumMod val="20000"/>
              <a:lumOff val="80000"/>
            </a:schemeClr>
          </a:solidFill>
          <a:ln w="9525">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经典代码</a:t>
            </a:r>
          </a:p>
        </p:txBody>
      </p:sp>
      <p:sp>
        <p:nvSpPr>
          <p:cNvPr id="59" name="矩形: 圆角 58">
            <a:extLst>
              <a:ext uri="{FF2B5EF4-FFF2-40B4-BE49-F238E27FC236}">
                <a16:creationId xmlns:a16="http://schemas.microsoft.com/office/drawing/2014/main" id="{5CE19578-8EE2-7F0B-7C2B-D802E3FA2AD2}"/>
              </a:ext>
            </a:extLst>
          </p:cNvPr>
          <p:cNvSpPr/>
          <p:nvPr/>
        </p:nvSpPr>
        <p:spPr>
          <a:xfrm>
            <a:off x="9075203" y="2709747"/>
            <a:ext cx="2338861" cy="1516223"/>
          </a:xfrm>
          <a:prstGeom prst="roundRect">
            <a:avLst>
              <a:gd name="adj" fmla="val 4624"/>
            </a:avLst>
          </a:prstGeom>
          <a:solidFill>
            <a:schemeClr val="accent2">
              <a:lumMod val="20000"/>
              <a:lumOff val="80000"/>
              <a:alpha val="33725"/>
            </a:schemeClr>
          </a:solidFill>
          <a:ln w="9525">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1" name="矩形 60">
            <a:extLst>
              <a:ext uri="{FF2B5EF4-FFF2-40B4-BE49-F238E27FC236}">
                <a16:creationId xmlns:a16="http://schemas.microsoft.com/office/drawing/2014/main" id="{DE077C1B-6087-2510-5675-A4A91EF69F50}"/>
              </a:ext>
            </a:extLst>
          </p:cNvPr>
          <p:cNvSpPr/>
          <p:nvPr/>
        </p:nvSpPr>
        <p:spPr>
          <a:xfrm>
            <a:off x="9075202" y="2709747"/>
            <a:ext cx="2338861" cy="287498"/>
          </a:xfrm>
          <a:prstGeom prst="rect">
            <a:avLst/>
          </a:prstGeom>
          <a:solidFill>
            <a:schemeClr val="accent2">
              <a:lumMod val="20000"/>
              <a:lumOff val="80000"/>
            </a:schemeClr>
          </a:solidFill>
          <a:ln w="9525">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量子代码</a:t>
            </a:r>
          </a:p>
        </p:txBody>
      </p:sp>
      <p:sp>
        <p:nvSpPr>
          <p:cNvPr id="65" name="矩形 64">
            <a:extLst>
              <a:ext uri="{FF2B5EF4-FFF2-40B4-BE49-F238E27FC236}">
                <a16:creationId xmlns:a16="http://schemas.microsoft.com/office/drawing/2014/main" id="{ADF68F20-5D9A-F258-3571-D9645C80F7AA}"/>
              </a:ext>
            </a:extLst>
          </p:cNvPr>
          <p:cNvSpPr/>
          <p:nvPr/>
        </p:nvSpPr>
        <p:spPr>
          <a:xfrm>
            <a:off x="6459569" y="2977114"/>
            <a:ext cx="2479807" cy="124260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 </a:t>
            </a:r>
            <a:r>
              <a:rPr kumimoji="0" lang="zh-CN" altLang="en-US"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参数优化 </a:t>
            </a: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 </a:t>
            </a:r>
            <a:r>
              <a:rPr kumimoji="0" lang="zh-CN" altLang="en-US"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控制流程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params = initialize()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while not converged: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    circuit = bind(qc, params)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    result = </a:t>
            </a:r>
            <a:r>
              <a:rPr kumimoji="0" lang="en-US" altLang="zh-CN" sz="1050" b="0" i="0" u="none" strike="noStrike" kern="1200" cap="none" spc="0" normalizeH="0" baseline="0" noProof="0" dirty="0" err="1">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run_qaoa</a:t>
            </a: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(circuit)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    value = evaluate(result)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    params = </a:t>
            </a:r>
            <a:r>
              <a:rPr kumimoji="0" lang="en-US" altLang="zh-CN" sz="1050" b="0" i="0" u="none" strike="noStrike" kern="1200" cap="none" spc="0" normalizeH="0" baseline="0" noProof="0" dirty="0" err="1">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optimizer.update</a:t>
            </a:r>
            <a:r>
              <a:rPr kumimoji="0" lang="en-US" altLang="zh-CN"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(value)</a:t>
            </a:r>
            <a:endParaRPr kumimoji="0" lang="zh-CN" altLang="en-US" sz="105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7" name="矩形 66">
            <a:extLst>
              <a:ext uri="{FF2B5EF4-FFF2-40B4-BE49-F238E27FC236}">
                <a16:creationId xmlns:a16="http://schemas.microsoft.com/office/drawing/2014/main" id="{A9C132A8-376E-8B72-DE92-31D614D1F00E}"/>
              </a:ext>
            </a:extLst>
          </p:cNvPr>
          <p:cNvSpPr/>
          <p:nvPr/>
        </p:nvSpPr>
        <p:spPr>
          <a:xfrm>
            <a:off x="9053055" y="2977114"/>
            <a:ext cx="2361010" cy="124260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def </a:t>
            </a:r>
            <a:r>
              <a:rPr kumimoji="0" lang="en-US" altLang="zh-CN" sz="105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qaoa_circuit</a:t>
            </a: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(gamma, beta):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qc = </a:t>
            </a:r>
            <a:r>
              <a:rPr kumimoji="0" lang="en-US" altLang="zh-CN" sz="105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QuantumCircuit</a:t>
            </a: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  </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return qc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result = </a:t>
            </a:r>
            <a:r>
              <a:rPr kumimoji="0" lang="en-US" altLang="zh-CN" sz="105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QPU.run</a:t>
            </a: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(qc)</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9" name="矩形: 圆角 68">
            <a:extLst>
              <a:ext uri="{FF2B5EF4-FFF2-40B4-BE49-F238E27FC236}">
                <a16:creationId xmlns:a16="http://schemas.microsoft.com/office/drawing/2014/main" id="{0B4F8C1D-C3E9-DF92-B172-60D8D8020AFA}"/>
              </a:ext>
            </a:extLst>
          </p:cNvPr>
          <p:cNvSpPr/>
          <p:nvPr/>
        </p:nvSpPr>
        <p:spPr>
          <a:xfrm>
            <a:off x="6486463" y="4586408"/>
            <a:ext cx="1783785" cy="492704"/>
          </a:xfrm>
          <a:prstGeom prst="roundRect">
            <a:avLst/>
          </a:prstGeom>
          <a:noFill/>
          <a:ln w="9525"/>
        </p:spPr>
        <p:style>
          <a:lnRef idx="2">
            <a:schemeClr val="dk1"/>
          </a:lnRef>
          <a:fillRef idx="1">
            <a:schemeClr val="lt1"/>
          </a:fillRef>
          <a:effectRef idx="0">
            <a:schemeClr val="dk1"/>
          </a:effectRef>
          <a:fontRef idx="minor">
            <a:schemeClr val="dk1"/>
          </a:fontRef>
        </p:style>
        <p:txBody>
          <a:bodyPr wrap="square"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经典程序</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控制流程、优化、数据处理</a:t>
            </a: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1" name="矩形: 圆角 70">
            <a:extLst>
              <a:ext uri="{FF2B5EF4-FFF2-40B4-BE49-F238E27FC236}">
                <a16:creationId xmlns:a16="http://schemas.microsoft.com/office/drawing/2014/main" id="{A3269A27-B2F5-02A8-3C14-D5B03FCCC1C0}"/>
              </a:ext>
            </a:extLst>
          </p:cNvPr>
          <p:cNvSpPr/>
          <p:nvPr/>
        </p:nvSpPr>
        <p:spPr>
          <a:xfrm>
            <a:off x="8474154" y="4586408"/>
            <a:ext cx="1100314" cy="492704"/>
          </a:xfrm>
          <a:prstGeom prst="roundRect">
            <a:avLst/>
          </a:prstGeom>
          <a:noFill/>
          <a:ln w="9525"/>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量子核</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（量子线路）</a:t>
            </a:r>
          </a:p>
        </p:txBody>
      </p:sp>
      <p:sp>
        <p:nvSpPr>
          <p:cNvPr id="73" name="矩形: 圆角 72">
            <a:extLst>
              <a:ext uri="{FF2B5EF4-FFF2-40B4-BE49-F238E27FC236}">
                <a16:creationId xmlns:a16="http://schemas.microsoft.com/office/drawing/2014/main" id="{600681D5-C9FA-3269-2598-CEDE8E4BA6E6}"/>
              </a:ext>
            </a:extLst>
          </p:cNvPr>
          <p:cNvSpPr/>
          <p:nvPr/>
        </p:nvSpPr>
        <p:spPr>
          <a:xfrm>
            <a:off x="9778374" y="4586408"/>
            <a:ext cx="1662584" cy="492704"/>
          </a:xfrm>
          <a:prstGeom prst="roundRect">
            <a:avLst/>
          </a:prstGeom>
          <a:noFill/>
          <a:ln w="9525"/>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经典</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量子接口</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（参数传递、结果返回）</a:t>
            </a:r>
          </a:p>
        </p:txBody>
      </p:sp>
      <p:sp>
        <p:nvSpPr>
          <p:cNvPr id="75" name="矩形: 圆角 74">
            <a:extLst>
              <a:ext uri="{FF2B5EF4-FFF2-40B4-BE49-F238E27FC236}">
                <a16:creationId xmlns:a16="http://schemas.microsoft.com/office/drawing/2014/main" id="{F4FEABDB-2A63-0770-C7EA-744925E049E1}"/>
              </a:ext>
            </a:extLst>
          </p:cNvPr>
          <p:cNvSpPr/>
          <p:nvPr/>
        </p:nvSpPr>
        <p:spPr>
          <a:xfrm>
            <a:off x="7040888" y="5425733"/>
            <a:ext cx="3994150" cy="444140"/>
          </a:xfrm>
          <a:prstGeom prst="round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经典</a:t>
            </a: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量子协同编译</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 name="矩形: 圆角 76">
            <a:extLst>
              <a:ext uri="{FF2B5EF4-FFF2-40B4-BE49-F238E27FC236}">
                <a16:creationId xmlns:a16="http://schemas.microsoft.com/office/drawing/2014/main" id="{B324B65A-60EF-6B91-20BC-57BB00E553CA}"/>
              </a:ext>
            </a:extLst>
          </p:cNvPr>
          <p:cNvSpPr/>
          <p:nvPr/>
        </p:nvSpPr>
        <p:spPr>
          <a:xfrm>
            <a:off x="6806537" y="6059407"/>
            <a:ext cx="1701235" cy="481376"/>
          </a:xfrm>
          <a:prstGeom prst="round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CPU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（运行经典代码）</a:t>
            </a:r>
          </a:p>
        </p:txBody>
      </p:sp>
      <p:sp>
        <p:nvSpPr>
          <p:cNvPr id="79" name="矩形: 圆角 78">
            <a:extLst>
              <a:ext uri="{FF2B5EF4-FFF2-40B4-BE49-F238E27FC236}">
                <a16:creationId xmlns:a16="http://schemas.microsoft.com/office/drawing/2014/main" id="{ED14BFAA-48F7-0E81-34FD-77B9581DBDB8}"/>
              </a:ext>
            </a:extLst>
          </p:cNvPr>
          <p:cNvSpPr/>
          <p:nvPr/>
        </p:nvSpPr>
        <p:spPr>
          <a:xfrm>
            <a:off x="9631581" y="6122813"/>
            <a:ext cx="1701235" cy="481376"/>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QPU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（运行量子核）</a:t>
            </a:r>
          </a:p>
        </p:txBody>
      </p:sp>
      <p:sp>
        <p:nvSpPr>
          <p:cNvPr id="81" name="十字形 80">
            <a:extLst>
              <a:ext uri="{FF2B5EF4-FFF2-40B4-BE49-F238E27FC236}">
                <a16:creationId xmlns:a16="http://schemas.microsoft.com/office/drawing/2014/main" id="{98FC4B68-D221-A825-7E74-7A5190F0FCBC}"/>
              </a:ext>
            </a:extLst>
          </p:cNvPr>
          <p:cNvSpPr/>
          <p:nvPr/>
        </p:nvSpPr>
        <p:spPr>
          <a:xfrm>
            <a:off x="8298950" y="4761502"/>
            <a:ext cx="140604" cy="140604"/>
          </a:xfrm>
          <a:prstGeom prst="plus">
            <a:avLst>
              <a:gd name="adj" fmla="val 35873"/>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3" name="十字形 82">
            <a:extLst>
              <a:ext uri="{FF2B5EF4-FFF2-40B4-BE49-F238E27FC236}">
                <a16:creationId xmlns:a16="http://schemas.microsoft.com/office/drawing/2014/main" id="{E43B640C-9B8D-5D80-29CC-9A0F1E1F0E2E}"/>
              </a:ext>
            </a:extLst>
          </p:cNvPr>
          <p:cNvSpPr/>
          <p:nvPr/>
        </p:nvSpPr>
        <p:spPr>
          <a:xfrm>
            <a:off x="9606119" y="4761502"/>
            <a:ext cx="140604" cy="140604"/>
          </a:xfrm>
          <a:prstGeom prst="plus">
            <a:avLst>
              <a:gd name="adj" fmla="val 35873"/>
            </a:avLst>
          </a:prstGeom>
          <a:noFill/>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5" name="箭头: 右 84">
            <a:extLst>
              <a:ext uri="{FF2B5EF4-FFF2-40B4-BE49-F238E27FC236}">
                <a16:creationId xmlns:a16="http://schemas.microsoft.com/office/drawing/2014/main" id="{0E9CFD34-DF0E-9773-7AFB-F64F3E6B73C1}"/>
              </a:ext>
            </a:extLst>
          </p:cNvPr>
          <p:cNvSpPr/>
          <p:nvPr/>
        </p:nvSpPr>
        <p:spPr>
          <a:xfrm rot="5400000">
            <a:off x="8984591" y="5128308"/>
            <a:ext cx="172434" cy="301901"/>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7" name="箭头: 直角上 86">
            <a:extLst>
              <a:ext uri="{FF2B5EF4-FFF2-40B4-BE49-F238E27FC236}">
                <a16:creationId xmlns:a16="http://schemas.microsoft.com/office/drawing/2014/main" id="{ADD57A15-B103-6CEA-78C6-C69FD6C5CFD6}"/>
              </a:ext>
            </a:extLst>
          </p:cNvPr>
          <p:cNvSpPr/>
          <p:nvPr/>
        </p:nvSpPr>
        <p:spPr>
          <a:xfrm rot="5400000">
            <a:off x="9199543" y="6028735"/>
            <a:ext cx="369861" cy="345180"/>
          </a:xfrm>
          <a:prstGeom prst="bentUpArrow">
            <a:avLst>
              <a:gd name="adj1" fmla="val 13282"/>
              <a:gd name="adj2" fmla="val 25000"/>
              <a:gd name="adj3" fmla="val 25000"/>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9" name="箭头: 直角上 88">
            <a:extLst>
              <a:ext uri="{FF2B5EF4-FFF2-40B4-BE49-F238E27FC236}">
                <a16:creationId xmlns:a16="http://schemas.microsoft.com/office/drawing/2014/main" id="{CACAF3B6-ADC9-FDE6-7D6F-EFFB646D04A9}"/>
              </a:ext>
            </a:extLst>
          </p:cNvPr>
          <p:cNvSpPr/>
          <p:nvPr/>
        </p:nvSpPr>
        <p:spPr>
          <a:xfrm rot="5400000" flipV="1">
            <a:off x="8616706" y="6028737"/>
            <a:ext cx="369861" cy="345181"/>
          </a:xfrm>
          <a:prstGeom prst="bentUpArrow">
            <a:avLst>
              <a:gd name="adj1" fmla="val 13282"/>
              <a:gd name="adj2" fmla="val 25000"/>
              <a:gd name="adj3" fmla="val 25000"/>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873E4FC9-6AA4-24A9-17E3-93B2542F9B50}"/>
              </a:ext>
            </a:extLst>
          </p:cNvPr>
          <p:cNvSpPr txBox="1"/>
          <p:nvPr/>
        </p:nvSpPr>
        <p:spPr>
          <a:xfrm>
            <a:off x="246524" y="1470175"/>
            <a:ext cx="11335875" cy="646331"/>
          </a:xfrm>
          <a:prstGeom prst="rect">
            <a:avLst/>
          </a:prstGeom>
          <a:noFill/>
        </p:spPr>
        <p:txBody>
          <a:bodyPr wrap="square">
            <a:spAutoFit/>
          </a:bodyPr>
          <a:lstStyle/>
          <a:p>
            <a:pPr marL="285750" indent="-285750">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rPr>
              <a:t>怎样把 Quantum Circuit 编译到一台 QPU？</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rPr>
              <a:t>怎样把一个包含经典代码和量子代码的完整程序，编译成一个 CPU 和 QPU 能够协同执行的应用？</a:t>
            </a:r>
          </a:p>
        </p:txBody>
      </p:sp>
      <p:sp>
        <p:nvSpPr>
          <p:cNvPr id="16" name="文本框 15">
            <a:extLst>
              <a:ext uri="{FF2B5EF4-FFF2-40B4-BE49-F238E27FC236}">
                <a16:creationId xmlns:a16="http://schemas.microsoft.com/office/drawing/2014/main" id="{1884888B-83D9-897D-7B99-BC86CEC8E7C4}"/>
              </a:ext>
            </a:extLst>
          </p:cNvPr>
          <p:cNvSpPr txBox="1"/>
          <p:nvPr/>
        </p:nvSpPr>
        <p:spPr>
          <a:xfrm>
            <a:off x="514764" y="5608747"/>
            <a:ext cx="5474556" cy="499624"/>
          </a:xfrm>
          <a:prstGeom prst="rect">
            <a:avLst/>
          </a:prstGeom>
          <a:solidFill>
            <a:schemeClr val="accent3">
              <a:lumMod val="20000"/>
              <a:lumOff val="80000"/>
            </a:schemeClr>
          </a:solidFill>
        </p:spPr>
        <p:txBody>
          <a:bodyPr wrap="square">
            <a:spAutoFit/>
          </a:bodyPr>
          <a:lstStyle/>
          <a:p>
            <a:pPr algn="ctr">
              <a:lnSpc>
                <a:spcPct val="150000"/>
              </a:lnSpc>
            </a:pPr>
            <a:r>
              <a:rPr lang="zh-CN" altLang="en-US" sz="2000" b="1" dirty="0">
                <a:solidFill>
                  <a:schemeClr val="accent5">
                    <a:lumMod val="50000"/>
                  </a:schemeClr>
                </a:solidFill>
                <a:latin typeface="微软雅黑" panose="020B0503020204020204" pitchFamily="34" charset="-122"/>
                <a:ea typeface="微软雅黑" panose="020B0503020204020204" pitchFamily="34" charset="-122"/>
              </a:rPr>
              <a:t>如果是“</a:t>
            </a:r>
            <a:r>
              <a:rPr lang="en-US" altLang="zh-CN" sz="2000" b="1" dirty="0">
                <a:solidFill>
                  <a:schemeClr val="accent5">
                    <a:lumMod val="50000"/>
                  </a:schemeClr>
                </a:solidFill>
                <a:latin typeface="微软雅黑" panose="020B0503020204020204" pitchFamily="34" charset="-122"/>
                <a:ea typeface="微软雅黑" panose="020B0503020204020204" pitchFamily="34" charset="-122"/>
              </a:rPr>
              <a:t>HPC</a:t>
            </a:r>
            <a:r>
              <a:rPr lang="zh-CN" altLang="en-US" sz="2000" b="1" dirty="0">
                <a:solidFill>
                  <a:schemeClr val="accent5">
                    <a:lumMod val="50000"/>
                  </a:schemeClr>
                </a:solidFill>
                <a:latin typeface="微软雅黑" panose="020B0503020204020204" pitchFamily="34" charset="-122"/>
                <a:ea typeface="微软雅黑" panose="020B0503020204020204" pitchFamily="34" charset="-122"/>
              </a:rPr>
              <a:t>”</a:t>
            </a:r>
            <a:r>
              <a:rPr lang="en-US" altLang="zh-CN" sz="2000" b="1" dirty="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b="1" dirty="0">
                <a:solidFill>
                  <a:schemeClr val="accent5">
                    <a:lumMod val="50000"/>
                  </a:schemeClr>
                </a:solidFill>
                <a:latin typeface="微软雅黑" panose="020B0503020204020204" pitchFamily="34" charset="-122"/>
                <a:ea typeface="微软雅黑" panose="020B0503020204020204" pitchFamily="34" charset="-122"/>
              </a:rPr>
              <a:t>“</a:t>
            </a:r>
            <a:r>
              <a:rPr lang="en-US" altLang="zh-CN" sz="2000" b="1" dirty="0">
                <a:solidFill>
                  <a:schemeClr val="accent5">
                    <a:lumMod val="50000"/>
                  </a:schemeClr>
                </a:solidFill>
                <a:latin typeface="微软雅黑" panose="020B0503020204020204" pitchFamily="34" charset="-122"/>
                <a:ea typeface="微软雅黑" panose="020B0503020204020204" pitchFamily="34" charset="-122"/>
              </a:rPr>
              <a:t>QC</a:t>
            </a:r>
            <a:r>
              <a:rPr lang="zh-CN" altLang="en-US" sz="2000" b="1" dirty="0">
                <a:solidFill>
                  <a:schemeClr val="accent5">
                    <a:lumMod val="50000"/>
                  </a:schemeClr>
                </a:solidFill>
                <a:latin typeface="微软雅黑" panose="020B0503020204020204" pitchFamily="34" charset="-122"/>
                <a:ea typeface="微软雅黑" panose="020B0503020204020204" pitchFamily="34" charset="-122"/>
              </a:rPr>
              <a:t>”混合计算应用呢？</a:t>
            </a:r>
          </a:p>
        </p:txBody>
      </p:sp>
    </p:spTree>
    <p:extLst>
      <p:ext uri="{BB962C8B-B14F-4D97-AF65-F5344CB8AC3E}">
        <p14:creationId xmlns:p14="http://schemas.microsoft.com/office/powerpoint/2010/main" val="6176423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26441-CBAB-D71F-3E13-F4DD05EE1D29}"/>
            </a:ext>
          </a:extLst>
        </p:cNvPr>
        <p:cNvGrpSpPr/>
        <p:nvPr/>
      </p:nvGrpSpPr>
      <p:grpSpPr>
        <a:xfrm>
          <a:off x="0" y="0"/>
          <a:ext cx="0" cy="0"/>
          <a:chOff x="0" y="0"/>
          <a:chExt cx="0" cy="0"/>
        </a:xfrm>
      </p:grpSpPr>
      <p:sp>
        <p:nvSpPr>
          <p:cNvPr id="12" name="标题 2">
            <a:extLst>
              <a:ext uri="{FF2B5EF4-FFF2-40B4-BE49-F238E27FC236}">
                <a16:creationId xmlns:a16="http://schemas.microsoft.com/office/drawing/2014/main" id="{F4C9F61D-B97D-8E52-C3E0-24E63E6E10F0}"/>
              </a:ext>
            </a:extLst>
          </p:cNvPr>
          <p:cNvSpPr>
            <a:spLocks noGrp="1"/>
          </p:cNvSpPr>
          <p:nvPr>
            <p:ph type="title"/>
          </p:nvPr>
        </p:nvSpPr>
        <p:spPr>
          <a:xfrm>
            <a:off x="166255" y="0"/>
            <a:ext cx="12025745" cy="738893"/>
          </a:xfrm>
        </p:spPr>
        <p:txBody>
          <a:bodyPr>
            <a:normAutofit/>
          </a:bodyPr>
          <a:lstStyle/>
          <a:p>
            <a:r>
              <a:rPr lang="en-US" altLang="zh-CN" sz="3600" dirty="0"/>
              <a:t>QPU</a:t>
            </a:r>
            <a:r>
              <a:rPr lang="zh-CN" altLang="en-US" sz="3600" dirty="0"/>
              <a:t>如何融入高性能计算系统？</a:t>
            </a:r>
          </a:p>
        </p:txBody>
      </p:sp>
      <p:pic>
        <p:nvPicPr>
          <p:cNvPr id="19" name="图片 18">
            <a:extLst>
              <a:ext uri="{FF2B5EF4-FFF2-40B4-BE49-F238E27FC236}">
                <a16:creationId xmlns:a16="http://schemas.microsoft.com/office/drawing/2014/main" id="{846972C0-3078-03B4-8966-F0DBC047EA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6200" y="955052"/>
            <a:ext cx="1955800" cy="1521448"/>
          </a:xfrm>
          <a:prstGeom prst="rect">
            <a:avLst/>
          </a:prstGeom>
        </p:spPr>
      </p:pic>
      <p:sp>
        <p:nvSpPr>
          <p:cNvPr id="21" name="文本框 20">
            <a:extLst>
              <a:ext uri="{FF2B5EF4-FFF2-40B4-BE49-F238E27FC236}">
                <a16:creationId xmlns:a16="http://schemas.microsoft.com/office/drawing/2014/main" id="{D82CF904-E95B-E749-B0B9-3FB1B935AD56}"/>
              </a:ext>
            </a:extLst>
          </p:cNvPr>
          <p:cNvSpPr txBox="1"/>
          <p:nvPr/>
        </p:nvSpPr>
        <p:spPr>
          <a:xfrm>
            <a:off x="1092200" y="3683000"/>
            <a:ext cx="10972800" cy="3048000"/>
          </a:xfrm>
          <a:prstGeom prst="rect">
            <a:avLst/>
          </a:prstGeom>
          <a:noFill/>
          <a:ln>
            <a:solidFill>
              <a:schemeClr val="accent1">
                <a:lumMod val="75000"/>
              </a:schemeClr>
            </a:solidFill>
          </a:ln>
        </p:spPr>
        <p:txBody>
          <a:bodyPr wrap="square" lIns="144000" rIns="144000">
            <a:noAutofit/>
          </a:bodyPr>
          <a:lstStyle/>
          <a:p>
            <a:pPr marL="0" marR="0" lvl="2" indent="0" algn="l" defTabSz="0" rtl="0" eaLnBrk="1" fontAlgn="auto" latinLnBrk="0" hangingPunct="1">
              <a:lnSpc>
                <a:spcPct val="120000"/>
              </a:lnSpc>
              <a:spcBef>
                <a:spcPts val="0"/>
              </a:spcBef>
              <a:spcAft>
                <a:spcPts val="600"/>
              </a:spcAft>
              <a:buClr>
                <a:srgbClr val="4472C4"/>
              </a:buClr>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会议开场报告：</a:t>
            </a:r>
            <a:r>
              <a:rPr lang="en-US" altLang="zh-CN" sz="2200" dirty="0">
                <a:solidFill>
                  <a:prstClr val="black"/>
                </a:solidFill>
                <a:latin typeface="微软雅黑" panose="020B0503020204020204" pitchFamily="34" charset="-122"/>
                <a:ea typeface="微软雅黑" panose="020B0503020204020204" pitchFamily="34" charset="-122"/>
              </a:rPr>
              <a:t>HPC: A Heterogeneous Future</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HPC</a:t>
            </a:r>
            <a:r>
              <a:rPr lang="zh-CN" altLang="en-US" sz="2200" dirty="0">
                <a:solidFill>
                  <a:prstClr val="black"/>
                </a:solidFill>
                <a:latin typeface="微软雅黑" panose="020B0503020204020204" pitchFamily="34" charset="-122"/>
                <a:ea typeface="微软雅黑" panose="020B0503020204020204" pitchFamily="34" charset="-122"/>
              </a:rPr>
              <a:t>：迈向异构化的未来）</a:t>
            </a:r>
            <a:endParaRPr lang="en-US" altLang="zh-CN" sz="2200" dirty="0">
              <a:solidFill>
                <a:prstClr val="black"/>
              </a:solidFill>
              <a:latin typeface="微软雅黑" panose="020B0503020204020204" pitchFamily="34" charset="-122"/>
              <a:ea typeface="微软雅黑" panose="020B0503020204020204" pitchFamily="34" charset="-122"/>
            </a:endParaRPr>
          </a:p>
          <a:p>
            <a:pPr marL="800100" lvl="3" indent="-342900" defTabSz="0">
              <a:lnSpc>
                <a:spcPct val="120000"/>
              </a:lnSpc>
              <a:buClr>
                <a:srgbClr val="4472C4"/>
              </a:buClr>
              <a:buFont typeface="Arial" panose="020B0604020202020204" pitchFamily="34" charset="0"/>
              <a:buChar char="•"/>
              <a:defRPr/>
            </a:pPr>
            <a:r>
              <a:rPr lang="zh-CN" altLang="en-US" sz="2200" dirty="0">
                <a:solidFill>
                  <a:prstClr val="black"/>
                </a:solidFill>
                <a:latin typeface="微软雅黑" panose="020B0503020204020204" pitchFamily="34" charset="-122"/>
                <a:ea typeface="微软雅黑" panose="020B0503020204020204" pitchFamily="34" charset="-122"/>
              </a:rPr>
              <a:t>未来高性能计算将</a:t>
            </a:r>
            <a:r>
              <a:rPr lang="zh-CN" altLang="en-US" sz="2200" b="1" dirty="0">
                <a:solidFill>
                  <a:schemeClr val="accent1">
                    <a:lumMod val="50000"/>
                  </a:schemeClr>
                </a:solidFill>
                <a:latin typeface="微软雅黑" panose="020B0503020204020204" pitchFamily="34" charset="-122"/>
                <a:ea typeface="微软雅黑" panose="020B0503020204020204" pitchFamily="34" charset="-122"/>
              </a:rPr>
              <a:t>由 </a:t>
            </a:r>
            <a:r>
              <a:rPr lang="en-US" altLang="zh-CN" sz="2200" b="1" dirty="0">
                <a:solidFill>
                  <a:schemeClr val="accent1">
                    <a:lumMod val="50000"/>
                  </a:schemeClr>
                </a:solidFill>
                <a:latin typeface="微软雅黑" panose="020B0503020204020204" pitchFamily="34" charset="-122"/>
                <a:ea typeface="微软雅黑" panose="020B0503020204020204" pitchFamily="34" charset="-122"/>
              </a:rPr>
              <a:t>CPU</a:t>
            </a:r>
            <a:r>
              <a:rPr lang="zh-CN" altLang="en-US" sz="2200" b="1" dirty="0">
                <a:solidFill>
                  <a:schemeClr val="accent1">
                    <a:lumMod val="50000"/>
                  </a:schemeClr>
                </a:solidFill>
                <a:latin typeface="微软雅黑" panose="020B0503020204020204" pitchFamily="34" charset="-122"/>
                <a:ea typeface="微软雅黑" panose="020B0503020204020204" pitchFamily="34" charset="-122"/>
              </a:rPr>
              <a:t>、</a:t>
            </a:r>
            <a:r>
              <a:rPr lang="en-US" altLang="zh-CN" sz="2200" b="1" dirty="0">
                <a:solidFill>
                  <a:schemeClr val="accent1">
                    <a:lumMod val="50000"/>
                  </a:schemeClr>
                </a:solidFill>
                <a:latin typeface="微软雅黑" panose="020B0503020204020204" pitchFamily="34" charset="-122"/>
                <a:ea typeface="微软雅黑" panose="020B0503020204020204" pitchFamily="34" charset="-122"/>
              </a:rPr>
              <a:t>GPU</a:t>
            </a:r>
            <a:r>
              <a:rPr lang="zh-CN" altLang="en-US" sz="2200" b="1" dirty="0">
                <a:solidFill>
                  <a:schemeClr val="accent1">
                    <a:lumMod val="50000"/>
                  </a:schemeClr>
                </a:solidFill>
                <a:latin typeface="微软雅黑" panose="020B0503020204020204" pitchFamily="34" charset="-122"/>
                <a:ea typeface="微软雅黑" panose="020B0503020204020204" pitchFamily="34" charset="-122"/>
              </a:rPr>
              <a:t>、量子计算</a:t>
            </a:r>
            <a:r>
              <a:rPr lang="zh-CN" altLang="en-US" sz="2200" dirty="0">
                <a:solidFill>
                  <a:prstClr val="black"/>
                </a:solidFill>
                <a:latin typeface="微软雅黑" panose="020B0503020204020204" pitchFamily="34" charset="-122"/>
                <a:ea typeface="微软雅黑" panose="020B0503020204020204" pitchFamily="34" charset="-122"/>
              </a:rPr>
              <a:t>、类脑计算、光子计算等协同支撑。</a:t>
            </a:r>
            <a:endParaRPr lang="en-US" altLang="zh-CN" sz="2200" dirty="0">
              <a:solidFill>
                <a:prstClr val="black"/>
              </a:solidFill>
              <a:latin typeface="微软雅黑" panose="020B0503020204020204" pitchFamily="34" charset="-122"/>
              <a:ea typeface="微软雅黑" panose="020B0503020204020204" pitchFamily="34" charset="-122"/>
            </a:endParaRPr>
          </a:p>
          <a:p>
            <a:pPr marL="800100" lvl="3" indent="-342900" defTabSz="0">
              <a:lnSpc>
                <a:spcPct val="120000"/>
              </a:lnSpc>
              <a:buClr>
                <a:srgbClr val="4472C4"/>
              </a:buClr>
              <a:buFont typeface="Arial" panose="020B0604020202020204" pitchFamily="34" charset="0"/>
              <a:buChar char="•"/>
              <a:defRPr/>
            </a:pPr>
            <a:r>
              <a:rPr lang="zh-CN" altLang="en-US" sz="2200" dirty="0">
                <a:solidFill>
                  <a:prstClr val="black"/>
                </a:solidFill>
                <a:latin typeface="微软雅黑" panose="020B0503020204020204" pitchFamily="34" charset="-122"/>
                <a:ea typeface="微软雅黑" panose="020B0503020204020204" pitchFamily="34" charset="-122"/>
              </a:rPr>
              <a:t>量子计算有望在化学、优化等特定问题上带来突破，但需要</a:t>
            </a:r>
            <a:r>
              <a:rPr lang="zh-CN" altLang="en-US" sz="2200" b="1" dirty="0">
                <a:solidFill>
                  <a:schemeClr val="accent1">
                    <a:lumMod val="50000"/>
                  </a:schemeClr>
                </a:solidFill>
                <a:latin typeface="微软雅黑" panose="020B0503020204020204" pitchFamily="34" charset="-122"/>
                <a:ea typeface="微软雅黑" panose="020B0503020204020204" pitchFamily="34" charset="-122"/>
              </a:rPr>
              <a:t>与经典 </a:t>
            </a:r>
            <a:r>
              <a:rPr lang="en-US" altLang="zh-CN" sz="2200" b="1" dirty="0">
                <a:solidFill>
                  <a:schemeClr val="accent1">
                    <a:lumMod val="50000"/>
                  </a:schemeClr>
                </a:solidFill>
                <a:latin typeface="微软雅黑" panose="020B0503020204020204" pitchFamily="34" charset="-122"/>
                <a:ea typeface="微软雅黑" panose="020B0503020204020204" pitchFamily="34" charset="-122"/>
              </a:rPr>
              <a:t>HPC </a:t>
            </a:r>
            <a:r>
              <a:rPr lang="zh-CN" altLang="en-US" sz="2200" b="1" dirty="0">
                <a:solidFill>
                  <a:schemeClr val="accent1">
                    <a:lumMod val="50000"/>
                  </a:schemeClr>
                </a:solidFill>
                <a:latin typeface="微软雅黑" panose="020B0503020204020204" pitchFamily="34" charset="-122"/>
                <a:ea typeface="微软雅黑" panose="020B0503020204020204" pitchFamily="34" charset="-122"/>
              </a:rPr>
              <a:t>系统深度集成</a:t>
            </a:r>
            <a:r>
              <a:rPr lang="zh-CN" altLang="en-US" sz="2200" dirty="0">
                <a:solidFill>
                  <a:prstClr val="black"/>
                </a:solidFill>
                <a:latin typeface="微软雅黑" panose="020B0503020204020204" pitchFamily="34" charset="-122"/>
                <a:ea typeface="微软雅黑" panose="020B0503020204020204" pitchFamily="34" charset="-122"/>
              </a:rPr>
              <a:t>，形成混合计算流程。</a:t>
            </a:r>
            <a:endParaRPr lang="en-US" altLang="zh-CN" sz="2200" dirty="0">
              <a:solidFill>
                <a:prstClr val="black"/>
              </a:solidFill>
              <a:latin typeface="微软雅黑" panose="020B0503020204020204" pitchFamily="34" charset="-122"/>
              <a:ea typeface="微软雅黑" panose="020B0503020204020204" pitchFamily="34" charset="-122"/>
            </a:endParaRPr>
          </a:p>
          <a:p>
            <a:pPr marL="800100" lvl="3" indent="-342900" defTabSz="0">
              <a:lnSpc>
                <a:spcPct val="120000"/>
              </a:lnSpc>
              <a:buClr>
                <a:srgbClr val="4472C4"/>
              </a:buClr>
              <a:buFont typeface="Arial" panose="020B0604020202020204" pitchFamily="34" charset="0"/>
              <a:buChar char="•"/>
              <a:defRPr/>
            </a:pPr>
            <a:r>
              <a:rPr lang="zh-CN" altLang="en-US" sz="2200" dirty="0">
                <a:solidFill>
                  <a:prstClr val="black"/>
                </a:solidFill>
                <a:latin typeface="微软雅黑" panose="020B0503020204020204" pitchFamily="34" charset="-122"/>
                <a:ea typeface="微软雅黑" panose="020B0503020204020204" pitchFamily="34" charset="-122"/>
              </a:rPr>
              <a:t>异构 </a:t>
            </a:r>
            <a:r>
              <a:rPr lang="en-US" altLang="zh-CN" sz="2200" dirty="0">
                <a:solidFill>
                  <a:prstClr val="black"/>
                </a:solidFill>
                <a:latin typeface="微软雅黑" panose="020B0503020204020204" pitchFamily="34" charset="-122"/>
                <a:ea typeface="微软雅黑" panose="020B0503020204020204" pitchFamily="34" charset="-122"/>
              </a:rPr>
              <a:t>HPC </a:t>
            </a:r>
            <a:r>
              <a:rPr lang="zh-CN" altLang="en-US" sz="2200" dirty="0">
                <a:solidFill>
                  <a:prstClr val="black"/>
                </a:solidFill>
                <a:latin typeface="微软雅黑" panose="020B0503020204020204" pitchFamily="34" charset="-122"/>
                <a:ea typeface="微软雅黑" panose="020B0503020204020204" pitchFamily="34" charset="-122"/>
              </a:rPr>
              <a:t>的</a:t>
            </a:r>
            <a:r>
              <a:rPr lang="zh-CN" altLang="en-US" sz="2200" b="1" dirty="0">
                <a:solidFill>
                  <a:schemeClr val="accent1">
                    <a:lumMod val="50000"/>
                  </a:schemeClr>
                </a:solidFill>
                <a:latin typeface="微软雅黑" panose="020B0503020204020204" pitchFamily="34" charset="-122"/>
                <a:ea typeface="微软雅黑" panose="020B0503020204020204" pitchFamily="34" charset="-122"/>
              </a:rPr>
              <a:t>关键在于软件栈</a:t>
            </a:r>
            <a:r>
              <a:rPr lang="zh-CN" altLang="en-US" sz="2200" dirty="0">
                <a:solidFill>
                  <a:prstClr val="black"/>
                </a:solidFill>
                <a:latin typeface="微软雅黑" panose="020B0503020204020204" pitchFamily="34" charset="-122"/>
                <a:ea typeface="微软雅黑" panose="020B0503020204020204" pitchFamily="34" charset="-122"/>
              </a:rPr>
              <a:t>。未来需要统一、可持续、可扩展的软件框架，以及资源调度、软硬件协同设计和跨领域合作，才能真正释放多种计算架构的性能潜力。</a:t>
            </a:r>
            <a:endParaRPr lang="en-US" altLang="zh-CN" sz="2200" dirty="0">
              <a:solidFill>
                <a:prstClr val="black"/>
              </a:solidFill>
              <a:latin typeface="微软雅黑" panose="020B0503020204020204" pitchFamily="34" charset="-122"/>
              <a:ea typeface="微软雅黑" panose="020B0503020204020204" pitchFamily="34" charset="-122"/>
            </a:endParaRPr>
          </a:p>
          <a:p>
            <a:pPr marL="0" marR="0" lvl="2" indent="0" algn="l" defTabSz="0" rtl="0" eaLnBrk="1" fontAlgn="auto" latinLnBrk="0" hangingPunct="1">
              <a:lnSpc>
                <a:spcPct val="120000"/>
              </a:lnSpc>
              <a:spcBef>
                <a:spcPts val="0"/>
              </a:spcBef>
              <a:spcAft>
                <a:spcPts val="0"/>
              </a:spcAft>
              <a:buClr>
                <a:srgbClr val="4472C4"/>
              </a:buClr>
              <a:buSzTx/>
              <a:buFontTx/>
              <a:buNone/>
              <a:tabLst/>
              <a:defRPr/>
            </a:pPr>
            <a:endParaRPr lang="en-US" altLang="zh-CN" sz="2200" dirty="0">
              <a:solidFill>
                <a:prstClr val="black"/>
              </a:solidFill>
              <a:latin typeface="微软雅黑" panose="020B0503020204020204" pitchFamily="34" charset="-122"/>
              <a:ea typeface="微软雅黑" panose="020B0503020204020204" pitchFamily="34" charset="-122"/>
            </a:endParaRPr>
          </a:p>
        </p:txBody>
      </p:sp>
      <p:sp>
        <p:nvSpPr>
          <p:cNvPr id="24" name="内容占位符 1">
            <a:extLst>
              <a:ext uri="{FF2B5EF4-FFF2-40B4-BE49-F238E27FC236}">
                <a16:creationId xmlns:a16="http://schemas.microsoft.com/office/drawing/2014/main" id="{F547A5E0-982C-156A-B297-2C647F712980}"/>
              </a:ext>
            </a:extLst>
          </p:cNvPr>
          <p:cNvSpPr txBox="1">
            <a:spLocks/>
          </p:cNvSpPr>
          <p:nvPr/>
        </p:nvSpPr>
        <p:spPr>
          <a:xfrm>
            <a:off x="575999" y="1112520"/>
            <a:ext cx="11463601" cy="2062480"/>
          </a:xfrm>
          <a:prstGeom prst="rect">
            <a:avLst/>
          </a:prstGeom>
        </p:spPr>
        <p:txBody>
          <a:bodyPr vert="horz" lIns="91440" tIns="45720" rIns="91440" bIns="45720" rtlCol="0">
            <a:normAutofit/>
          </a:bodyPr>
          <a:lstStyle>
            <a:lvl1pPr marL="355600" indent="-355600" algn="l" defTabSz="914400" rtl="0" eaLnBrk="1" latinLnBrk="0" hangingPunct="1">
              <a:lnSpc>
                <a:spcPct val="114000"/>
              </a:lnSpc>
              <a:spcBef>
                <a:spcPts val="1000"/>
              </a:spcBef>
              <a:buClr>
                <a:schemeClr val="accent1"/>
              </a:buClr>
              <a:buSzPct val="90000"/>
              <a:buFont typeface="Wingdings" panose="05000000000000000000" pitchFamily="2" charset="2"/>
              <a:buChar char="q"/>
              <a:defRPr sz="2800" b="1" kern="1200">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1pPr>
            <a:lvl2pPr marL="685800" indent="-234950" algn="l" defTabSz="914400" rtl="0" eaLnBrk="1" latinLnBrk="0" hangingPunct="1">
              <a:lnSpc>
                <a:spcPct val="114000"/>
              </a:lnSpc>
              <a:spcBef>
                <a:spcPts val="500"/>
              </a:spcBef>
              <a:buClr>
                <a:schemeClr val="accent1"/>
              </a:buClr>
              <a:buSzPct val="90000"/>
              <a:buFont typeface="Wingdings" panose="05000000000000000000" pitchFamily="2" charset="2"/>
              <a:buChar char="n"/>
              <a:defRPr sz="2400" kern="1200">
                <a:solidFill>
                  <a:schemeClr val="tx1"/>
                </a:solidFill>
                <a:latin typeface="微软雅黑" panose="020B0503020204020204" pitchFamily="34" charset="-122"/>
                <a:ea typeface="微软雅黑" panose="020B0503020204020204" pitchFamily="34" charset="-122"/>
                <a:cs typeface="+mn-cs"/>
              </a:defRPr>
            </a:lvl2pPr>
            <a:lvl3pPr marL="986155" indent="-273050" algn="l" defTabSz="914400" rtl="0" eaLnBrk="1" latinLnBrk="0" hangingPunct="1">
              <a:lnSpc>
                <a:spcPct val="114000"/>
              </a:lnSpc>
              <a:spcBef>
                <a:spcPts val="500"/>
              </a:spcBef>
              <a:buClr>
                <a:schemeClr val="accent1"/>
              </a:buClr>
              <a:buFont typeface="Wingdings" panose="05000000000000000000" pitchFamily="2" charset="2"/>
              <a:buChar char="v"/>
              <a:defRPr sz="2000" kern="1200">
                <a:solidFill>
                  <a:schemeClr val="tx1"/>
                </a:solidFill>
                <a:latin typeface="微软雅黑" panose="020B0503020204020204" pitchFamily="34" charset="-122"/>
                <a:ea typeface="微软雅黑" panose="020B0503020204020204" pitchFamily="34" charset="-122"/>
                <a:cs typeface="+mn-cs"/>
              </a:defRPr>
            </a:lvl3pPr>
            <a:lvl4pPr marL="1262380" indent="-228600" algn="l" defTabSz="914400" rtl="0" eaLnBrk="1" latinLnBrk="0" hangingPunct="1">
              <a:lnSpc>
                <a:spcPct val="114000"/>
              </a:lnSpc>
              <a:spcBef>
                <a:spcPts val="500"/>
              </a:spcBef>
              <a:buClr>
                <a:schemeClr val="accent1"/>
              </a:buClr>
              <a:buFont typeface="Wingdings" panose="05000000000000000000" pitchFamily="2" charset="2"/>
              <a:buChar char="ü"/>
              <a:defRPr sz="1800" kern="1200">
                <a:solidFill>
                  <a:schemeClr val="tx1"/>
                </a:solidFill>
                <a:latin typeface="微软雅黑" panose="020B0503020204020204" pitchFamily="34" charset="-122"/>
                <a:ea typeface="微软雅黑" panose="020B0503020204020204" pitchFamily="34" charset="-122"/>
                <a:cs typeface="+mn-cs"/>
              </a:defRPr>
            </a:lvl4pPr>
            <a:lvl5pPr marL="1524000" indent="-228600" algn="l" defTabSz="914400" rtl="0" eaLnBrk="1" latinLnBrk="0" hangingPunct="1">
              <a:lnSpc>
                <a:spcPct val="114000"/>
              </a:lnSpc>
              <a:spcBef>
                <a:spcPts val="500"/>
              </a:spcBef>
              <a:buClr>
                <a:schemeClr val="accent1"/>
              </a:buClr>
              <a:buFont typeface="Wingdings" panose="05000000000000000000" pitchFamily="2" charset="2"/>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spcAft>
                <a:spcPts val="1200"/>
              </a:spcAft>
              <a:buClr>
                <a:srgbClr val="4472C4"/>
              </a:buClr>
              <a:defRPr/>
            </a:pPr>
            <a:r>
              <a:rPr lang="zh-CN" altLang="en-US" dirty="0"/>
              <a:t>量子计算正在成为</a:t>
            </a:r>
            <a:r>
              <a:rPr lang="en-US" altLang="zh-CN" dirty="0"/>
              <a:t>HPC</a:t>
            </a:r>
            <a:r>
              <a:rPr lang="zh-CN" altLang="en-US" dirty="0"/>
              <a:t>领域的重要组成</a:t>
            </a:r>
            <a:endParaRPr lang="en-US" altLang="zh-CN" dirty="0"/>
          </a:p>
          <a:p>
            <a:pPr lvl="1">
              <a:buClr>
                <a:srgbClr val="4472C4"/>
              </a:buClr>
              <a:defRPr/>
            </a:pPr>
            <a:r>
              <a:rPr lang="en-US" altLang="zh-CN" sz="2600" dirty="0">
                <a:solidFill>
                  <a:prstClr val="black"/>
                </a:solidFill>
              </a:rPr>
              <a:t>ISC High Performance 2026 </a:t>
            </a:r>
            <a:r>
              <a:rPr lang="zh-CN" altLang="en-US" sz="2600" dirty="0">
                <a:solidFill>
                  <a:prstClr val="black"/>
                </a:solidFill>
              </a:rPr>
              <a:t>国际超算大会</a:t>
            </a:r>
            <a:endParaRPr lang="en-US" altLang="zh-CN" sz="2600" dirty="0">
              <a:solidFill>
                <a:prstClr val="black"/>
              </a:solidFill>
            </a:endParaRPr>
          </a:p>
        </p:txBody>
      </p:sp>
      <p:pic>
        <p:nvPicPr>
          <p:cNvPr id="27" name="图片 26">
            <a:extLst>
              <a:ext uri="{FF2B5EF4-FFF2-40B4-BE49-F238E27FC236}">
                <a16:creationId xmlns:a16="http://schemas.microsoft.com/office/drawing/2014/main" id="{0EE3A7C4-4409-8107-095E-8FB1DCB073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5547" y="1622407"/>
            <a:ext cx="2057506" cy="692186"/>
          </a:xfrm>
          <a:prstGeom prst="rect">
            <a:avLst/>
          </a:prstGeom>
        </p:spPr>
      </p:pic>
      <p:sp>
        <p:nvSpPr>
          <p:cNvPr id="31" name="文本框 30">
            <a:extLst>
              <a:ext uri="{FF2B5EF4-FFF2-40B4-BE49-F238E27FC236}">
                <a16:creationId xmlns:a16="http://schemas.microsoft.com/office/drawing/2014/main" id="{B5CBE0AD-0392-715C-FC46-1DA848CBA7C4}"/>
              </a:ext>
            </a:extLst>
          </p:cNvPr>
          <p:cNvSpPr txBox="1"/>
          <p:nvPr/>
        </p:nvSpPr>
        <p:spPr>
          <a:xfrm>
            <a:off x="1092200" y="2595831"/>
            <a:ext cx="11010900" cy="870431"/>
          </a:xfrm>
          <a:prstGeom prst="rect">
            <a:avLst/>
          </a:prstGeom>
          <a:noFill/>
          <a:ln>
            <a:solidFill>
              <a:schemeClr val="accent1">
                <a:lumMod val="75000"/>
              </a:schemeClr>
            </a:solidFill>
          </a:ln>
        </p:spPr>
        <p:txBody>
          <a:bodyPr wrap="square" lIns="144000" rIns="144000">
            <a:spAutoFit/>
          </a:bodyPr>
          <a:lstStyle/>
          <a:p>
            <a:pPr marL="0" marR="0" lvl="2" indent="0" algn="l" defTabSz="0" rtl="0" eaLnBrk="1" fontAlgn="auto" latinLnBrk="0" hangingPunct="1">
              <a:lnSpc>
                <a:spcPct val="120000"/>
              </a:lnSpc>
              <a:spcBef>
                <a:spcPts val="0"/>
              </a:spcBef>
              <a:spcAft>
                <a:spcPts val="0"/>
              </a:spcAft>
              <a:buClr>
                <a:srgbClr val="4472C4"/>
              </a:buClr>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会议主题：</a:t>
            </a:r>
            <a:r>
              <a:rPr kumimoji="0" lang="zh-CN" altLang="zh-CN" sz="2200" i="0" u="none" strike="noStrike" kern="1200" cap="all"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HPC, AI, Quantum: Powering Innovation and Sustainability</a:t>
            </a:r>
            <a:endParaRPr kumimoji="0" lang="en-US" altLang="zh-CN" sz="2200" i="0" u="none" strike="noStrike" kern="1200" cap="all"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1033780" marR="0" lvl="3" indent="0" algn="l" defTabSz="0" rtl="0" eaLnBrk="1" fontAlgn="auto" latinLnBrk="0" hangingPunct="1">
              <a:lnSpc>
                <a:spcPct val="120000"/>
              </a:lnSpc>
              <a:spcBef>
                <a:spcPts val="0"/>
              </a:spcBef>
              <a:spcAft>
                <a:spcPts val="0"/>
              </a:spcAft>
              <a:buClr>
                <a:srgbClr val="4472C4"/>
              </a:buClr>
              <a:buSzTx/>
              <a:buFontTx/>
              <a:buNone/>
              <a:tabLst/>
              <a:defRPr/>
            </a:pPr>
            <a:r>
              <a:rPr kumimoji="0" lang="zh-CN" altLang="en-US" sz="2200" i="0" u="none" strike="noStrike" kern="1200" cap="all"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高性能计算，人工智能，</a:t>
            </a:r>
            <a:r>
              <a:rPr kumimoji="0" lang="zh-CN" altLang="en-US" sz="2200" b="1" i="0" u="none" strike="noStrike" kern="1200" cap="all"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量子计算</a:t>
            </a:r>
            <a:r>
              <a:rPr kumimoji="0" lang="zh-CN" altLang="en-US" sz="2200" i="0" u="none" strike="noStrike" kern="1200" cap="all"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：驱动创新与可持续发展</a:t>
            </a:r>
            <a:r>
              <a:rPr kumimoji="0" lang="en-US" altLang="zh-CN" sz="2200" i="0" u="none" strike="noStrike" kern="1200" cap="all"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 </a:t>
            </a:r>
            <a:endParaRPr kumimoji="0" lang="en-US" altLang="zh-CN" sz="22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47424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9D795-FC12-4106-C8B9-CB22AEA6C33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B272F1C-6798-378F-CA77-B2AA63A505A8}"/>
              </a:ext>
            </a:extLst>
          </p:cNvPr>
          <p:cNvSpPr>
            <a:spLocks noGrp="1"/>
          </p:cNvSpPr>
          <p:nvPr>
            <p:ph type="title"/>
          </p:nvPr>
        </p:nvSpPr>
        <p:spPr>
          <a:xfrm>
            <a:off x="166255" y="0"/>
            <a:ext cx="12025745" cy="738893"/>
          </a:xfrm>
        </p:spPr>
        <p:txBody>
          <a:bodyPr>
            <a:normAutofit/>
          </a:bodyPr>
          <a:lstStyle/>
          <a:p>
            <a:r>
              <a:rPr lang="en-US" altLang="zh-CN" sz="3600" dirty="0"/>
              <a:t>QPU</a:t>
            </a:r>
            <a:r>
              <a:rPr lang="zh-CN" altLang="en-US" sz="3600" dirty="0"/>
              <a:t>如何融入高性能计算系统？</a:t>
            </a:r>
          </a:p>
        </p:txBody>
      </p:sp>
      <p:sp>
        <p:nvSpPr>
          <p:cNvPr id="5" name="文本框 4">
            <a:extLst>
              <a:ext uri="{FF2B5EF4-FFF2-40B4-BE49-F238E27FC236}">
                <a16:creationId xmlns:a16="http://schemas.microsoft.com/office/drawing/2014/main" id="{AD41E415-9B75-E1D5-3AF9-486C2D5F7D09}"/>
              </a:ext>
            </a:extLst>
          </p:cNvPr>
          <p:cNvSpPr txBox="1"/>
          <p:nvPr/>
        </p:nvSpPr>
        <p:spPr>
          <a:xfrm>
            <a:off x="225103" y="996875"/>
            <a:ext cx="10014271" cy="416524"/>
          </a:xfrm>
          <a:prstGeom prst="rect">
            <a:avLst/>
          </a:prstGeom>
          <a:gradFill flip="none" rotWithShape="1">
            <a:gsLst>
              <a:gs pos="0">
                <a:schemeClr val="accent1">
                  <a:lumMod val="5000"/>
                  <a:lumOff val="95000"/>
                  <a:alpha val="2000"/>
                </a:schemeClr>
              </a:gs>
              <a:gs pos="44000">
                <a:srgbClr val="EAF2FA"/>
              </a:gs>
              <a:gs pos="100000">
                <a:schemeClr val="accent5">
                  <a:lumMod val="20000"/>
                  <a:lumOff val="80000"/>
                </a:schemeClr>
              </a:gs>
            </a:gsLst>
            <a:lin ang="16200000" scaled="1"/>
            <a:tileRect/>
          </a:gradFill>
        </p:spPr>
        <p:txBody>
          <a:bodyPr wrap="square" rtlCol="0">
            <a:spAutoFit/>
          </a:bodyPr>
          <a:lstStyle/>
          <a:p>
            <a:pPr marL="355600" marR="0" lvl="0" indent="-355600" algn="l" defTabSz="914400" rtl="0" eaLnBrk="1" fontAlgn="auto" latinLnBrk="0" hangingPunct="1">
              <a:lnSpc>
                <a:spcPct val="114000"/>
              </a:lnSpc>
              <a:spcBef>
                <a:spcPts val="1000"/>
              </a:spcBef>
              <a:spcAft>
                <a:spcPts val="0"/>
              </a:spcAft>
              <a:buClr>
                <a:srgbClr val="4472C4"/>
              </a:buClr>
              <a:buSzPct val="90000"/>
              <a:buFont typeface="Wingdings" panose="05000000000000000000" pitchFamily="2" charset="2"/>
              <a:buChar char="q"/>
              <a:tabLst/>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从经典</a:t>
            </a:r>
            <a:r>
              <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量子混合计算到</a:t>
            </a:r>
            <a:r>
              <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HPC+QC</a:t>
            </a: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异构计算</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a:extLst>
              <a:ext uri="{FF2B5EF4-FFF2-40B4-BE49-F238E27FC236}">
                <a16:creationId xmlns:a16="http://schemas.microsoft.com/office/drawing/2014/main" id="{5C692743-7D87-13F6-BB6B-7DBFC3815083}"/>
              </a:ext>
            </a:extLst>
          </p:cNvPr>
          <p:cNvPicPr>
            <a:picLocks noChangeAspect="1"/>
          </p:cNvPicPr>
          <p:nvPr/>
        </p:nvPicPr>
        <p:blipFill>
          <a:blip r:embed="rId3"/>
          <a:srcRect l="35925" t="4111" r="36592" b="56555"/>
          <a:stretch>
            <a:fillRect/>
          </a:stretch>
        </p:blipFill>
        <p:spPr>
          <a:xfrm>
            <a:off x="1607820" y="3439019"/>
            <a:ext cx="1188720" cy="1134251"/>
          </a:xfrm>
          <a:prstGeom prst="roundRect">
            <a:avLst/>
          </a:prstGeom>
        </p:spPr>
      </p:pic>
      <p:pic>
        <p:nvPicPr>
          <p:cNvPr id="12" name="图片 11">
            <a:extLst>
              <a:ext uri="{FF2B5EF4-FFF2-40B4-BE49-F238E27FC236}">
                <a16:creationId xmlns:a16="http://schemas.microsoft.com/office/drawing/2014/main" id="{A346B8B1-7876-F814-4283-8D957053064F}"/>
              </a:ext>
            </a:extLst>
          </p:cNvPr>
          <p:cNvPicPr>
            <a:picLocks noChangeAspect="1"/>
          </p:cNvPicPr>
          <p:nvPr/>
        </p:nvPicPr>
        <p:blipFill>
          <a:blip r:embed="rId4"/>
          <a:stretch>
            <a:fillRect/>
          </a:stretch>
        </p:blipFill>
        <p:spPr>
          <a:xfrm>
            <a:off x="2571374" y="5303520"/>
            <a:ext cx="1443096" cy="962064"/>
          </a:xfrm>
          <a:prstGeom prst="roundRect">
            <a:avLst/>
          </a:prstGeom>
        </p:spPr>
      </p:pic>
      <p:pic>
        <p:nvPicPr>
          <p:cNvPr id="15" name="图片 14">
            <a:extLst>
              <a:ext uri="{FF2B5EF4-FFF2-40B4-BE49-F238E27FC236}">
                <a16:creationId xmlns:a16="http://schemas.microsoft.com/office/drawing/2014/main" id="{4534E638-1BD9-6F5F-6C3C-CDFC9EC443FA}"/>
              </a:ext>
            </a:extLst>
          </p:cNvPr>
          <p:cNvPicPr>
            <a:picLocks noChangeAspect="1"/>
          </p:cNvPicPr>
          <p:nvPr/>
        </p:nvPicPr>
        <p:blipFill>
          <a:blip r:embed="rId5"/>
          <a:srcRect l="87708" t="13622" b="65330"/>
          <a:stretch>
            <a:fillRect/>
          </a:stretch>
        </p:blipFill>
        <p:spPr>
          <a:xfrm>
            <a:off x="3970020" y="3546973"/>
            <a:ext cx="1018837" cy="963255"/>
          </a:xfrm>
          <a:prstGeom prst="rect">
            <a:avLst/>
          </a:prstGeom>
        </p:spPr>
      </p:pic>
      <p:sp>
        <p:nvSpPr>
          <p:cNvPr id="16" name="矩形: 圆角 15">
            <a:extLst>
              <a:ext uri="{FF2B5EF4-FFF2-40B4-BE49-F238E27FC236}">
                <a16:creationId xmlns:a16="http://schemas.microsoft.com/office/drawing/2014/main" id="{F9B85786-217E-E9F8-0804-1AFF57260C65}"/>
              </a:ext>
            </a:extLst>
          </p:cNvPr>
          <p:cNvSpPr/>
          <p:nvPr/>
        </p:nvSpPr>
        <p:spPr>
          <a:xfrm>
            <a:off x="2118360" y="1714500"/>
            <a:ext cx="2377440" cy="487680"/>
          </a:xfrm>
          <a:prstGeom prst="roundRect">
            <a:avLst/>
          </a:prstGeom>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矩形: 圆角 18">
            <a:extLst>
              <a:ext uri="{FF2B5EF4-FFF2-40B4-BE49-F238E27FC236}">
                <a16:creationId xmlns:a16="http://schemas.microsoft.com/office/drawing/2014/main" id="{61B7AE42-9F7F-50F0-17F9-58371C311881}"/>
              </a:ext>
            </a:extLst>
          </p:cNvPr>
          <p:cNvSpPr/>
          <p:nvPr/>
        </p:nvSpPr>
        <p:spPr>
          <a:xfrm>
            <a:off x="1447800" y="4468296"/>
            <a:ext cx="1592580" cy="306467"/>
          </a:xfrm>
          <a:prstGeom prst="roundRect">
            <a:avLst/>
          </a:prstGeom>
          <a:solidFill>
            <a:schemeClr val="accent5">
              <a:lumMod val="20000"/>
              <a:lumOff val="80000"/>
            </a:schemeClr>
          </a:solidFill>
          <a:ln>
            <a:solidFill>
              <a:schemeClr val="accent1">
                <a:lumMod val="20000"/>
                <a:lumOff val="80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问题构建、任务控制</a:t>
            </a:r>
          </a:p>
        </p:txBody>
      </p:sp>
      <p:sp>
        <p:nvSpPr>
          <p:cNvPr id="21" name="矩形: 圆角 20">
            <a:extLst>
              <a:ext uri="{FF2B5EF4-FFF2-40B4-BE49-F238E27FC236}">
                <a16:creationId xmlns:a16="http://schemas.microsoft.com/office/drawing/2014/main" id="{7A168691-4F7F-5A0A-BC91-70E57A759877}"/>
              </a:ext>
            </a:extLst>
          </p:cNvPr>
          <p:cNvSpPr/>
          <p:nvPr/>
        </p:nvSpPr>
        <p:spPr>
          <a:xfrm>
            <a:off x="2339340" y="6297097"/>
            <a:ext cx="1905000" cy="306467"/>
          </a:xfrm>
          <a:prstGeom prst="roundRect">
            <a:avLst/>
          </a:prstGeom>
          <a:solidFill>
            <a:schemeClr val="accent5">
              <a:lumMod val="20000"/>
              <a:lumOff val="80000"/>
            </a:schemeClr>
          </a:solidFill>
          <a:ln>
            <a:solidFill>
              <a:schemeClr val="accent1">
                <a:lumMod val="20000"/>
                <a:lumOff val="80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大规模数值模拟</a:t>
            </a:r>
          </a:p>
        </p:txBody>
      </p:sp>
      <p:sp>
        <p:nvSpPr>
          <p:cNvPr id="25" name="矩形: 圆角 24">
            <a:extLst>
              <a:ext uri="{FF2B5EF4-FFF2-40B4-BE49-F238E27FC236}">
                <a16:creationId xmlns:a16="http://schemas.microsoft.com/office/drawing/2014/main" id="{F1C6B276-1552-DA63-B926-D8B802BCDDD0}"/>
              </a:ext>
            </a:extLst>
          </p:cNvPr>
          <p:cNvSpPr/>
          <p:nvPr/>
        </p:nvSpPr>
        <p:spPr>
          <a:xfrm>
            <a:off x="3665220" y="4474726"/>
            <a:ext cx="1409700" cy="306467"/>
          </a:xfrm>
          <a:prstGeom prst="roundRect">
            <a:avLst/>
          </a:prstGeom>
          <a:solidFill>
            <a:schemeClr val="accent2">
              <a:lumMod val="20000"/>
              <a:lumOff val="80000"/>
            </a:schemeClr>
          </a:solidFill>
          <a:ln>
            <a:solidFill>
              <a:schemeClr val="accent1">
                <a:lumMod val="20000"/>
                <a:lumOff val="80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量子子问题求解</a:t>
            </a:r>
          </a:p>
        </p:txBody>
      </p:sp>
      <p:pic>
        <p:nvPicPr>
          <p:cNvPr id="27" name="图片 26">
            <a:extLst>
              <a:ext uri="{FF2B5EF4-FFF2-40B4-BE49-F238E27FC236}">
                <a16:creationId xmlns:a16="http://schemas.microsoft.com/office/drawing/2014/main" id="{E7A1DC31-36E2-52D0-FC31-D3FFBD42F2C8}"/>
              </a:ext>
            </a:extLst>
          </p:cNvPr>
          <p:cNvPicPr>
            <a:picLocks noChangeAspect="1"/>
          </p:cNvPicPr>
          <p:nvPr/>
        </p:nvPicPr>
        <p:blipFill>
          <a:blip r:embed="rId6"/>
          <a:srcRect l="58111" b="59517"/>
          <a:stretch>
            <a:fillRect/>
          </a:stretch>
        </p:blipFill>
        <p:spPr>
          <a:xfrm>
            <a:off x="3672840" y="2100596"/>
            <a:ext cx="1140104" cy="1366504"/>
          </a:xfrm>
          <a:prstGeom prst="rect">
            <a:avLst/>
          </a:prstGeom>
        </p:spPr>
      </p:pic>
      <p:cxnSp>
        <p:nvCxnSpPr>
          <p:cNvPr id="29" name="连接符: 曲线 28">
            <a:extLst>
              <a:ext uri="{FF2B5EF4-FFF2-40B4-BE49-F238E27FC236}">
                <a16:creationId xmlns:a16="http://schemas.microsoft.com/office/drawing/2014/main" id="{3A1B083D-0C5B-34F1-3F0B-7EDA112A8FF8}"/>
              </a:ext>
            </a:extLst>
          </p:cNvPr>
          <p:cNvCxnSpPr>
            <a:cxnSpLocks/>
            <a:endCxn id="8" idx="0"/>
          </p:cNvCxnSpPr>
          <p:nvPr/>
        </p:nvCxnSpPr>
        <p:spPr>
          <a:xfrm rot="10800000" flipV="1">
            <a:off x="2202180" y="2407915"/>
            <a:ext cx="1882140" cy="103110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连接符: 曲线 29">
            <a:extLst>
              <a:ext uri="{FF2B5EF4-FFF2-40B4-BE49-F238E27FC236}">
                <a16:creationId xmlns:a16="http://schemas.microsoft.com/office/drawing/2014/main" id="{91B2403B-5DCD-1302-F62F-1EBD83089673}"/>
              </a:ext>
            </a:extLst>
          </p:cNvPr>
          <p:cNvCxnSpPr>
            <a:cxnSpLocks/>
            <a:stCxn id="27" idx="3"/>
            <a:endCxn id="15" idx="3"/>
          </p:cNvCxnSpPr>
          <p:nvPr/>
        </p:nvCxnSpPr>
        <p:spPr>
          <a:xfrm>
            <a:off x="4812944" y="2783848"/>
            <a:ext cx="175913" cy="1244753"/>
          </a:xfrm>
          <a:prstGeom prst="curvedConnector3">
            <a:avLst>
              <a:gd name="adj1" fmla="val 22995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连接符: 曲线 32">
            <a:extLst>
              <a:ext uri="{FF2B5EF4-FFF2-40B4-BE49-F238E27FC236}">
                <a16:creationId xmlns:a16="http://schemas.microsoft.com/office/drawing/2014/main" id="{B733273D-7238-39F5-54E1-1A50BBB3CBD5}"/>
              </a:ext>
            </a:extLst>
          </p:cNvPr>
          <p:cNvCxnSpPr>
            <a:cxnSpLocks/>
            <a:stCxn id="27" idx="1"/>
            <a:endCxn id="12" idx="0"/>
          </p:cNvCxnSpPr>
          <p:nvPr/>
        </p:nvCxnSpPr>
        <p:spPr>
          <a:xfrm rot="10800000" flipV="1">
            <a:off x="3292922" y="2783848"/>
            <a:ext cx="379918" cy="251967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圆角 16">
            <a:extLst>
              <a:ext uri="{FF2B5EF4-FFF2-40B4-BE49-F238E27FC236}">
                <a16:creationId xmlns:a16="http://schemas.microsoft.com/office/drawing/2014/main" id="{56824CD2-BE82-E040-5BC8-75E0698EFBE2}"/>
              </a:ext>
            </a:extLst>
          </p:cNvPr>
          <p:cNvSpPr/>
          <p:nvPr/>
        </p:nvSpPr>
        <p:spPr>
          <a:xfrm>
            <a:off x="1935480" y="1702475"/>
            <a:ext cx="1882140" cy="715089"/>
          </a:xfrm>
          <a:prstGeom prst="roundRect">
            <a:avLst/>
          </a:prstGeom>
          <a:noFill/>
          <a:ln>
            <a:no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HPC+</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 </a:t>
            </a:r>
            <a:endPar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协同计算应用</a:t>
            </a:r>
          </a:p>
        </p:txBody>
      </p:sp>
      <p:sp>
        <p:nvSpPr>
          <p:cNvPr id="41" name="矩形: 圆角 40">
            <a:extLst>
              <a:ext uri="{FF2B5EF4-FFF2-40B4-BE49-F238E27FC236}">
                <a16:creationId xmlns:a16="http://schemas.microsoft.com/office/drawing/2014/main" id="{C0B68E1A-B7EB-B6CF-7C4E-AE7364752B38}"/>
              </a:ext>
            </a:extLst>
          </p:cNvPr>
          <p:cNvSpPr/>
          <p:nvPr/>
        </p:nvSpPr>
        <p:spPr>
          <a:xfrm>
            <a:off x="5864860" y="1708388"/>
            <a:ext cx="5638800" cy="408623"/>
          </a:xfrm>
          <a:prstGeom prst="roundRect">
            <a:avLst/>
          </a:prstGeom>
          <a:noFill/>
          <a:ln>
            <a:noFill/>
          </a:ln>
        </p:spPr>
        <p:txBody>
          <a:bodyPr wrap="square" rtlCol="0" anchor="ctr">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HPC+QC</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”的软件栈应该如何支撑？</a:t>
            </a:r>
          </a:p>
        </p:txBody>
      </p:sp>
      <p:sp>
        <p:nvSpPr>
          <p:cNvPr id="6" name="矩形: 圆角 5">
            <a:extLst>
              <a:ext uri="{FF2B5EF4-FFF2-40B4-BE49-F238E27FC236}">
                <a16:creationId xmlns:a16="http://schemas.microsoft.com/office/drawing/2014/main" id="{BDF097A8-C801-82A6-3046-7FFFF371B206}"/>
              </a:ext>
            </a:extLst>
          </p:cNvPr>
          <p:cNvSpPr/>
          <p:nvPr/>
        </p:nvSpPr>
        <p:spPr>
          <a:xfrm>
            <a:off x="5961024" y="2679700"/>
            <a:ext cx="4379148" cy="4012764"/>
          </a:xfrm>
          <a:prstGeom prst="roundRect">
            <a:avLst>
              <a:gd name="adj" fmla="val 4624"/>
            </a:avLst>
          </a:prstGeom>
          <a:solidFill>
            <a:schemeClr val="accent1">
              <a:lumMod val="20000"/>
              <a:lumOff val="80000"/>
              <a:alpha val="34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矩形 8">
            <a:extLst>
              <a:ext uri="{FF2B5EF4-FFF2-40B4-BE49-F238E27FC236}">
                <a16:creationId xmlns:a16="http://schemas.microsoft.com/office/drawing/2014/main" id="{7ED4BED4-8E39-9994-9F43-1B8725DFE344}"/>
              </a:ext>
            </a:extLst>
          </p:cNvPr>
          <p:cNvSpPr/>
          <p:nvPr/>
        </p:nvSpPr>
        <p:spPr>
          <a:xfrm>
            <a:off x="6661837" y="2704514"/>
            <a:ext cx="2930165" cy="35518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统一的异构编译框架</a:t>
            </a:r>
          </a:p>
        </p:txBody>
      </p:sp>
      <p:sp>
        <p:nvSpPr>
          <p:cNvPr id="11" name="矩形: 圆角 10">
            <a:extLst>
              <a:ext uri="{FF2B5EF4-FFF2-40B4-BE49-F238E27FC236}">
                <a16:creationId xmlns:a16="http://schemas.microsoft.com/office/drawing/2014/main" id="{526F6411-5366-1B14-2BEC-6E70D849D0BF}"/>
              </a:ext>
            </a:extLst>
          </p:cNvPr>
          <p:cNvSpPr/>
          <p:nvPr/>
        </p:nvSpPr>
        <p:spPr>
          <a:xfrm>
            <a:off x="6301880" y="3269787"/>
            <a:ext cx="643830" cy="371434"/>
          </a:xfrm>
          <a:prstGeom prst="round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C/C++</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矩形: 圆角 13">
            <a:extLst>
              <a:ext uri="{FF2B5EF4-FFF2-40B4-BE49-F238E27FC236}">
                <a16:creationId xmlns:a16="http://schemas.microsoft.com/office/drawing/2014/main" id="{DD21A911-22DD-76D1-D4AA-4FC70CD44998}"/>
              </a:ext>
            </a:extLst>
          </p:cNvPr>
          <p:cNvSpPr/>
          <p:nvPr/>
        </p:nvSpPr>
        <p:spPr>
          <a:xfrm>
            <a:off x="7228877" y="3269787"/>
            <a:ext cx="643830" cy="371434"/>
          </a:xfrm>
          <a:prstGeom prst="round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MPI</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矩形: 圆角 17">
            <a:extLst>
              <a:ext uri="{FF2B5EF4-FFF2-40B4-BE49-F238E27FC236}">
                <a16:creationId xmlns:a16="http://schemas.microsoft.com/office/drawing/2014/main" id="{A561B206-4370-15D4-4111-E12A0CCC0197}"/>
              </a:ext>
            </a:extLst>
          </p:cNvPr>
          <p:cNvSpPr/>
          <p:nvPr/>
        </p:nvSpPr>
        <p:spPr>
          <a:xfrm>
            <a:off x="8155874" y="3269787"/>
            <a:ext cx="643830" cy="37143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CUDA</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矩形: 圆角 19">
            <a:extLst>
              <a:ext uri="{FF2B5EF4-FFF2-40B4-BE49-F238E27FC236}">
                <a16:creationId xmlns:a16="http://schemas.microsoft.com/office/drawing/2014/main" id="{E35D3975-017E-CE4E-2E82-80064817F5B4}"/>
              </a:ext>
            </a:extLst>
          </p:cNvPr>
          <p:cNvSpPr/>
          <p:nvPr/>
        </p:nvSpPr>
        <p:spPr>
          <a:xfrm>
            <a:off x="9082872" y="3269787"/>
            <a:ext cx="945367" cy="371434"/>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Quantum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(QASM /</a:t>
            </a:r>
            <a:r>
              <a:rPr kumimoji="0" lang="zh-CN" altLang="en-US"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IR)</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矩形: 圆角 21">
            <a:extLst>
              <a:ext uri="{FF2B5EF4-FFF2-40B4-BE49-F238E27FC236}">
                <a16:creationId xmlns:a16="http://schemas.microsoft.com/office/drawing/2014/main" id="{ABDA4F9D-1814-4B8A-AEC7-304843982E0A}"/>
              </a:ext>
            </a:extLst>
          </p:cNvPr>
          <p:cNvSpPr/>
          <p:nvPr/>
        </p:nvSpPr>
        <p:spPr>
          <a:xfrm>
            <a:off x="6540030" y="3898900"/>
            <a:ext cx="3221135" cy="1218913"/>
          </a:xfrm>
          <a:prstGeom prst="roundRect">
            <a:avLst>
              <a:gd name="adj" fmla="val 8532"/>
            </a:avLst>
          </a:prstGeom>
          <a:solidFill>
            <a:srgbClr val="DCD4FD"/>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3" name="矩形 22">
            <a:extLst>
              <a:ext uri="{FF2B5EF4-FFF2-40B4-BE49-F238E27FC236}">
                <a16:creationId xmlns:a16="http://schemas.microsoft.com/office/drawing/2014/main" id="{4F7298D5-FE5C-D906-065D-C1AC0F64F943}"/>
              </a:ext>
            </a:extLst>
          </p:cNvPr>
          <p:cNvSpPr/>
          <p:nvPr/>
        </p:nvSpPr>
        <p:spPr>
          <a:xfrm>
            <a:off x="6629341" y="3963521"/>
            <a:ext cx="2930165" cy="35518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统一异构编译框架</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4" name="矩形 23">
            <a:extLst>
              <a:ext uri="{FF2B5EF4-FFF2-40B4-BE49-F238E27FC236}">
                <a16:creationId xmlns:a16="http://schemas.microsoft.com/office/drawing/2014/main" id="{484B7636-B6E5-FF19-553D-F3FB054ABD7B}"/>
              </a:ext>
            </a:extLst>
          </p:cNvPr>
          <p:cNvSpPr/>
          <p:nvPr/>
        </p:nvSpPr>
        <p:spPr>
          <a:xfrm>
            <a:off x="6685514" y="4292599"/>
            <a:ext cx="2930165" cy="81894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统一的中间表示</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(Common IR)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跨域优化（经典</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目标映射与代码生成</a:t>
            </a:r>
          </a:p>
        </p:txBody>
      </p:sp>
      <p:sp>
        <p:nvSpPr>
          <p:cNvPr id="26" name="矩形: 圆角 25">
            <a:extLst>
              <a:ext uri="{FF2B5EF4-FFF2-40B4-BE49-F238E27FC236}">
                <a16:creationId xmlns:a16="http://schemas.microsoft.com/office/drawing/2014/main" id="{69761F67-65E6-BEE0-8660-81D8A6C367A7}"/>
              </a:ext>
            </a:extLst>
          </p:cNvPr>
          <p:cNvSpPr/>
          <p:nvPr/>
        </p:nvSpPr>
        <p:spPr>
          <a:xfrm>
            <a:off x="6301881" y="5332265"/>
            <a:ext cx="3726358" cy="37143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混合可执行程序</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8" name="矩形: 圆角 27">
            <a:extLst>
              <a:ext uri="{FF2B5EF4-FFF2-40B4-BE49-F238E27FC236}">
                <a16:creationId xmlns:a16="http://schemas.microsoft.com/office/drawing/2014/main" id="{5F0FD304-5065-346F-31BE-0907F00030D9}"/>
              </a:ext>
            </a:extLst>
          </p:cNvPr>
          <p:cNvSpPr/>
          <p:nvPr/>
        </p:nvSpPr>
        <p:spPr>
          <a:xfrm>
            <a:off x="6301879" y="5943818"/>
            <a:ext cx="926997" cy="577631"/>
          </a:xfrm>
          <a:prstGeom prst="round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CPU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多核</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集群</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1" name="矩形: 圆角 30">
            <a:extLst>
              <a:ext uri="{FF2B5EF4-FFF2-40B4-BE49-F238E27FC236}">
                <a16:creationId xmlns:a16="http://schemas.microsoft.com/office/drawing/2014/main" id="{572A423C-C8D1-A9E3-88EE-36D13DAFAD86}"/>
              </a:ext>
            </a:extLst>
          </p:cNvPr>
          <p:cNvSpPr/>
          <p:nvPr/>
        </p:nvSpPr>
        <p:spPr>
          <a:xfrm>
            <a:off x="7687097" y="5943818"/>
            <a:ext cx="926997" cy="577631"/>
          </a:xfrm>
          <a:prstGeom prst="round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GPU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异构加速</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矩形: 圆角 31">
            <a:extLst>
              <a:ext uri="{FF2B5EF4-FFF2-40B4-BE49-F238E27FC236}">
                <a16:creationId xmlns:a16="http://schemas.microsoft.com/office/drawing/2014/main" id="{9362D484-B7FD-32B4-CD2C-9C5742E34C2A}"/>
              </a:ext>
            </a:extLst>
          </p:cNvPr>
          <p:cNvSpPr/>
          <p:nvPr/>
        </p:nvSpPr>
        <p:spPr>
          <a:xfrm>
            <a:off x="9101242" y="5943818"/>
            <a:ext cx="926997" cy="577631"/>
          </a:xfrm>
          <a:prstGeom prst="round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QPU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量子设备</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5" name="箭头: 右 34">
            <a:extLst>
              <a:ext uri="{FF2B5EF4-FFF2-40B4-BE49-F238E27FC236}">
                <a16:creationId xmlns:a16="http://schemas.microsoft.com/office/drawing/2014/main" id="{44BE882A-5BCD-B52D-439C-E3EFEA6B9295}"/>
              </a:ext>
            </a:extLst>
          </p:cNvPr>
          <p:cNvSpPr/>
          <p:nvPr/>
        </p:nvSpPr>
        <p:spPr>
          <a:xfrm rot="5400000">
            <a:off x="6672362" y="3723006"/>
            <a:ext cx="111918" cy="8561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6" name="箭头: 右 35">
            <a:extLst>
              <a:ext uri="{FF2B5EF4-FFF2-40B4-BE49-F238E27FC236}">
                <a16:creationId xmlns:a16="http://schemas.microsoft.com/office/drawing/2014/main" id="{CEBBC3A4-975E-9A5A-3E50-7542D63CF26F}"/>
              </a:ext>
            </a:extLst>
          </p:cNvPr>
          <p:cNvSpPr/>
          <p:nvPr/>
        </p:nvSpPr>
        <p:spPr>
          <a:xfrm rot="5400000">
            <a:off x="7494832" y="3723007"/>
            <a:ext cx="111918" cy="8561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箭头: 右 36">
            <a:extLst>
              <a:ext uri="{FF2B5EF4-FFF2-40B4-BE49-F238E27FC236}">
                <a16:creationId xmlns:a16="http://schemas.microsoft.com/office/drawing/2014/main" id="{708B7AB1-61D5-B848-DA99-1B49D0BBFA09}"/>
              </a:ext>
            </a:extLst>
          </p:cNvPr>
          <p:cNvSpPr/>
          <p:nvPr/>
        </p:nvSpPr>
        <p:spPr>
          <a:xfrm rot="5400000">
            <a:off x="8421829" y="3723008"/>
            <a:ext cx="111918" cy="8561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8" name="箭头: 右 37">
            <a:extLst>
              <a:ext uri="{FF2B5EF4-FFF2-40B4-BE49-F238E27FC236}">
                <a16:creationId xmlns:a16="http://schemas.microsoft.com/office/drawing/2014/main" id="{987698E4-CCE4-9094-22CA-2FD57CD7A2AC}"/>
              </a:ext>
            </a:extLst>
          </p:cNvPr>
          <p:cNvSpPr/>
          <p:nvPr/>
        </p:nvSpPr>
        <p:spPr>
          <a:xfrm rot="5400000">
            <a:off x="9531898" y="3723009"/>
            <a:ext cx="111918" cy="8561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9" name="箭头: 右 38">
            <a:extLst>
              <a:ext uri="{FF2B5EF4-FFF2-40B4-BE49-F238E27FC236}">
                <a16:creationId xmlns:a16="http://schemas.microsoft.com/office/drawing/2014/main" id="{0D1806DE-C806-7B62-3BFA-3D013AE7128B}"/>
              </a:ext>
            </a:extLst>
          </p:cNvPr>
          <p:cNvSpPr/>
          <p:nvPr/>
        </p:nvSpPr>
        <p:spPr>
          <a:xfrm rot="5400000">
            <a:off x="8094635" y="5190529"/>
            <a:ext cx="111918" cy="8561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0" name="箭头: 右 39">
            <a:extLst>
              <a:ext uri="{FF2B5EF4-FFF2-40B4-BE49-F238E27FC236}">
                <a16:creationId xmlns:a16="http://schemas.microsoft.com/office/drawing/2014/main" id="{E8113C7F-142E-467D-C9F9-7F66EADBD71C}"/>
              </a:ext>
            </a:extLst>
          </p:cNvPr>
          <p:cNvSpPr/>
          <p:nvPr/>
        </p:nvSpPr>
        <p:spPr>
          <a:xfrm rot="5400000">
            <a:off x="6692389" y="5794587"/>
            <a:ext cx="111918" cy="8561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2" name="箭头: 右 41">
            <a:extLst>
              <a:ext uri="{FF2B5EF4-FFF2-40B4-BE49-F238E27FC236}">
                <a16:creationId xmlns:a16="http://schemas.microsoft.com/office/drawing/2014/main" id="{7F034D94-18F4-467D-A665-B6D70FB566B2}"/>
              </a:ext>
            </a:extLst>
          </p:cNvPr>
          <p:cNvSpPr/>
          <p:nvPr/>
        </p:nvSpPr>
        <p:spPr>
          <a:xfrm rot="5400000">
            <a:off x="8094635" y="5794588"/>
            <a:ext cx="111918" cy="8561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3" name="箭头: 右 42">
            <a:extLst>
              <a:ext uri="{FF2B5EF4-FFF2-40B4-BE49-F238E27FC236}">
                <a16:creationId xmlns:a16="http://schemas.microsoft.com/office/drawing/2014/main" id="{795BAD53-8296-D857-0E64-DB0744BD3C44}"/>
              </a:ext>
            </a:extLst>
          </p:cNvPr>
          <p:cNvSpPr/>
          <p:nvPr/>
        </p:nvSpPr>
        <p:spPr>
          <a:xfrm rot="5400000">
            <a:off x="9496880" y="5794589"/>
            <a:ext cx="111918" cy="8561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5A150C63-BCE0-12DA-BC31-A19628D0C299}"/>
              </a:ext>
            </a:extLst>
          </p:cNvPr>
          <p:cNvSpPr txBox="1"/>
          <p:nvPr/>
        </p:nvSpPr>
        <p:spPr>
          <a:xfrm>
            <a:off x="6013450" y="2090304"/>
            <a:ext cx="4298950" cy="523220"/>
          </a:xfrm>
          <a:prstGeom prst="rect">
            <a:avLst/>
          </a:prstGeom>
          <a:solidFill>
            <a:schemeClr val="bg1">
              <a:lumMod val="95000"/>
            </a:schemeClr>
          </a:solid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一个同时包含</a:t>
            </a:r>
            <a:r>
              <a:rPr lang="en-US" altLang="zh-CN" sz="1400" dirty="0">
                <a:latin typeface="微软雅黑" panose="020B0503020204020204" pitchFamily="34" charset="-122"/>
                <a:ea typeface="微软雅黑" panose="020B0503020204020204" pitchFamily="34" charset="-122"/>
              </a:rPr>
              <a:t>CPU</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GPU</a:t>
            </a:r>
            <a:r>
              <a:rPr lang="zh-CN" altLang="en-US" sz="1400" dirty="0">
                <a:latin typeface="微软雅黑" panose="020B0503020204020204" pitchFamily="34" charset="-122"/>
                <a:ea typeface="微软雅黑" panose="020B0503020204020204" pitchFamily="34" charset="-122"/>
              </a:rPr>
              <a:t>和</a:t>
            </a:r>
            <a:r>
              <a:rPr lang="en-US" altLang="zh-CN" sz="1400" dirty="0">
                <a:latin typeface="微软雅黑" panose="020B0503020204020204" pitchFamily="34" charset="-122"/>
                <a:ea typeface="微软雅黑" panose="020B0503020204020204" pitchFamily="34" charset="-122"/>
              </a:rPr>
              <a:t>QPU</a:t>
            </a:r>
            <a:r>
              <a:rPr lang="zh-CN" altLang="en-US" sz="1400" dirty="0">
                <a:latin typeface="微软雅黑" panose="020B0503020204020204" pitchFamily="34" charset="-122"/>
                <a:ea typeface="微软雅黑" panose="020B0503020204020204" pitchFamily="34" charset="-122"/>
              </a:rPr>
              <a:t>计算的程序，应该如何统一表示、编译和执行？</a:t>
            </a:r>
          </a:p>
        </p:txBody>
      </p:sp>
    </p:spTree>
    <p:extLst>
      <p:ext uri="{BB962C8B-B14F-4D97-AF65-F5344CB8AC3E}">
        <p14:creationId xmlns:p14="http://schemas.microsoft.com/office/powerpoint/2010/main" val="4004562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5E575-F41E-FEA9-C447-2619488564E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30450A8-2F44-839D-E521-C477F3AD47EB}"/>
              </a:ext>
            </a:extLst>
          </p:cNvPr>
          <p:cNvSpPr>
            <a:spLocks noGrp="1"/>
          </p:cNvSpPr>
          <p:nvPr>
            <p:ph type="title"/>
          </p:nvPr>
        </p:nvSpPr>
        <p:spPr>
          <a:xfrm>
            <a:off x="166255" y="0"/>
            <a:ext cx="12025745" cy="738893"/>
          </a:xfrm>
        </p:spPr>
        <p:txBody>
          <a:bodyPr>
            <a:normAutofit/>
          </a:bodyPr>
          <a:lstStyle/>
          <a:p>
            <a:r>
              <a:rPr lang="en-US" altLang="zh-CN" sz="3600" dirty="0"/>
              <a:t>QPU</a:t>
            </a:r>
            <a:r>
              <a:rPr lang="zh-CN" altLang="en-US" sz="3600" dirty="0"/>
              <a:t>如何融入高性能计算系统？</a:t>
            </a:r>
          </a:p>
        </p:txBody>
      </p:sp>
      <p:sp>
        <p:nvSpPr>
          <p:cNvPr id="5" name="文本框 4">
            <a:extLst>
              <a:ext uri="{FF2B5EF4-FFF2-40B4-BE49-F238E27FC236}">
                <a16:creationId xmlns:a16="http://schemas.microsoft.com/office/drawing/2014/main" id="{7B941BE7-AF8B-133E-2B80-31FEE5C3030D}"/>
              </a:ext>
            </a:extLst>
          </p:cNvPr>
          <p:cNvSpPr txBox="1"/>
          <p:nvPr/>
        </p:nvSpPr>
        <p:spPr>
          <a:xfrm>
            <a:off x="225103" y="996875"/>
            <a:ext cx="11204897" cy="416524"/>
          </a:xfrm>
          <a:prstGeom prst="rect">
            <a:avLst/>
          </a:prstGeom>
          <a:gradFill flip="none" rotWithShape="1">
            <a:gsLst>
              <a:gs pos="0">
                <a:schemeClr val="accent1">
                  <a:lumMod val="5000"/>
                  <a:lumOff val="95000"/>
                  <a:alpha val="2000"/>
                </a:schemeClr>
              </a:gs>
              <a:gs pos="44000">
                <a:srgbClr val="EAF2FA"/>
              </a:gs>
              <a:gs pos="100000">
                <a:schemeClr val="accent5">
                  <a:lumMod val="20000"/>
                  <a:lumOff val="80000"/>
                </a:schemeClr>
              </a:gs>
            </a:gsLst>
            <a:lin ang="16200000" scaled="1"/>
            <a:tileRect/>
          </a:gradFill>
        </p:spPr>
        <p:txBody>
          <a:bodyPr wrap="square" rtlCol="0">
            <a:spAutoFit/>
          </a:bodyPr>
          <a:lstStyle/>
          <a:p>
            <a:pPr marL="355600" lvl="0" indent="-355600">
              <a:lnSpc>
                <a:spcPct val="114000"/>
              </a:lnSpc>
              <a:spcBef>
                <a:spcPts val="1000"/>
              </a:spcBef>
              <a:buClr>
                <a:srgbClr val="4472C4"/>
              </a:buClr>
              <a:buSzPct val="90000"/>
              <a:buFont typeface="Wingdings" panose="05000000000000000000" pitchFamily="2" charset="2"/>
              <a:buChar char="q"/>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“高性能</a:t>
            </a:r>
            <a:r>
              <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量子”编译</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6" name="表格 25">
            <a:extLst>
              <a:ext uri="{FF2B5EF4-FFF2-40B4-BE49-F238E27FC236}">
                <a16:creationId xmlns:a16="http://schemas.microsoft.com/office/drawing/2014/main" id="{BF864F20-E770-89D3-5DE5-FC3BF5DC8548}"/>
              </a:ext>
            </a:extLst>
          </p:cNvPr>
          <p:cNvGraphicFramePr>
            <a:graphicFrameLocks noGrp="1"/>
          </p:cNvGraphicFramePr>
          <p:nvPr>
            <p:extLst>
              <p:ext uri="{D42A27DB-BD31-4B8C-83A1-F6EECF244321}">
                <p14:modId xmlns:p14="http://schemas.microsoft.com/office/powerpoint/2010/main" val="2434411732"/>
              </p:ext>
            </p:extLst>
          </p:nvPr>
        </p:nvGraphicFramePr>
        <p:xfrm>
          <a:off x="6718390" y="2173504"/>
          <a:ext cx="4793489" cy="1726388"/>
        </p:xfrm>
        <a:graphic>
          <a:graphicData uri="http://schemas.openxmlformats.org/drawingml/2006/table">
            <a:tbl>
              <a:tblPr firstRow="1" bandRow="1">
                <a:tableStyleId>{7DF18680-E054-41AD-8BC1-D1AEF772440D}</a:tableStyleId>
              </a:tblPr>
              <a:tblGrid>
                <a:gridCol w="1243522">
                  <a:extLst>
                    <a:ext uri="{9D8B030D-6E8A-4147-A177-3AD203B41FA5}">
                      <a16:colId xmlns:a16="http://schemas.microsoft.com/office/drawing/2014/main" val="3359481951"/>
                    </a:ext>
                  </a:extLst>
                </a:gridCol>
                <a:gridCol w="709100">
                  <a:extLst>
                    <a:ext uri="{9D8B030D-6E8A-4147-A177-3AD203B41FA5}">
                      <a16:colId xmlns:a16="http://schemas.microsoft.com/office/drawing/2014/main" val="2730326623"/>
                    </a:ext>
                  </a:extLst>
                </a:gridCol>
                <a:gridCol w="668439">
                  <a:extLst>
                    <a:ext uri="{9D8B030D-6E8A-4147-A177-3AD203B41FA5}">
                      <a16:colId xmlns:a16="http://schemas.microsoft.com/office/drawing/2014/main" val="876809603"/>
                    </a:ext>
                  </a:extLst>
                </a:gridCol>
                <a:gridCol w="935815">
                  <a:extLst>
                    <a:ext uri="{9D8B030D-6E8A-4147-A177-3AD203B41FA5}">
                      <a16:colId xmlns:a16="http://schemas.microsoft.com/office/drawing/2014/main" val="840229966"/>
                    </a:ext>
                  </a:extLst>
                </a:gridCol>
                <a:gridCol w="568174">
                  <a:extLst>
                    <a:ext uri="{9D8B030D-6E8A-4147-A177-3AD203B41FA5}">
                      <a16:colId xmlns:a16="http://schemas.microsoft.com/office/drawing/2014/main" val="1718201412"/>
                    </a:ext>
                  </a:extLst>
                </a:gridCol>
                <a:gridCol w="668439">
                  <a:extLst>
                    <a:ext uri="{9D8B030D-6E8A-4147-A177-3AD203B41FA5}">
                      <a16:colId xmlns:a16="http://schemas.microsoft.com/office/drawing/2014/main" val="3018195995"/>
                    </a:ext>
                  </a:extLst>
                </a:gridCol>
              </a:tblGrid>
              <a:tr h="520656">
                <a:tc>
                  <a:txBody>
                    <a:bodyPr/>
                    <a:lstStyle/>
                    <a:p>
                      <a:pPr algn="r"/>
                      <a:r>
                        <a:rPr lang="zh-CN" altLang="en-US" sz="1200" dirty="0"/>
                        <a:t>编程模型</a:t>
                      </a:r>
                      <a:endParaRPr lang="en-US" altLang="zh-CN" sz="1200" dirty="0"/>
                    </a:p>
                    <a:p>
                      <a:pPr algn="l"/>
                      <a:r>
                        <a:rPr lang="zh-CN" altLang="en-US" sz="1200" dirty="0"/>
                        <a:t>编译工具</a:t>
                      </a:r>
                    </a:p>
                  </a:txBody>
                  <a:tcPr anchor="ctr">
                    <a:lnTlToBr w="12700" cap="flat" cmpd="sng" algn="ctr">
                      <a:solidFill>
                        <a:schemeClr val="tx1"/>
                      </a:solidFill>
                      <a:prstDash val="solid"/>
                      <a:round/>
                      <a:headEnd type="none" w="med" len="med"/>
                      <a:tailEnd type="none" w="med" len="med"/>
                    </a:lnTlToBr>
                  </a:tcPr>
                </a:tc>
                <a:tc>
                  <a:txBody>
                    <a:bodyPr/>
                    <a:lstStyle/>
                    <a:p>
                      <a:pPr algn="ctr"/>
                      <a:r>
                        <a:rPr lang="en-US" altLang="zh-CN" sz="1200" dirty="0"/>
                        <a:t>CUDA</a:t>
                      </a:r>
                      <a:endParaRPr lang="zh-CN" altLang="en-US" sz="1200" dirty="0"/>
                    </a:p>
                  </a:txBody>
                  <a:tcPr anchor="ctr"/>
                </a:tc>
                <a:tc>
                  <a:txBody>
                    <a:bodyPr/>
                    <a:lstStyle/>
                    <a:p>
                      <a:pPr algn="ctr"/>
                      <a:r>
                        <a:rPr lang="en-US" altLang="zh-CN" sz="1200" dirty="0"/>
                        <a:t>MPI</a:t>
                      </a:r>
                      <a:endParaRPr lang="zh-CN" altLang="en-US" sz="1200" dirty="0"/>
                    </a:p>
                  </a:txBody>
                  <a:tcPr anchor="ctr"/>
                </a:tc>
                <a:tc>
                  <a:txBody>
                    <a:bodyPr/>
                    <a:lstStyle/>
                    <a:p>
                      <a:pPr algn="ctr"/>
                      <a:r>
                        <a:rPr lang="en-US" altLang="zh-CN" sz="1200" dirty="0"/>
                        <a:t>OpenMP</a:t>
                      </a:r>
                      <a:endParaRPr lang="zh-CN" altLang="en-US" sz="1200" dirty="0"/>
                    </a:p>
                  </a:txBody>
                  <a:tcPr anchor="ctr"/>
                </a:tc>
                <a:tc>
                  <a:txBody>
                    <a:bodyPr/>
                    <a:lstStyle/>
                    <a:p>
                      <a:pPr algn="ctr"/>
                      <a:r>
                        <a:rPr lang="en-US" altLang="zh-CN" sz="1200" dirty="0"/>
                        <a:t>HIP</a:t>
                      </a:r>
                      <a:endParaRPr lang="zh-CN" altLang="en-US" sz="1200" dirty="0"/>
                    </a:p>
                  </a:txBody>
                  <a:tcPr anchor="ctr"/>
                </a:tc>
                <a:tc>
                  <a:txBody>
                    <a:bodyPr/>
                    <a:lstStyle/>
                    <a:p>
                      <a:pPr algn="ctr"/>
                      <a:r>
                        <a:rPr lang="en-US" altLang="zh-CN" sz="1200" dirty="0"/>
                        <a:t>SYCL</a:t>
                      </a:r>
                      <a:endParaRPr lang="zh-CN" altLang="en-US" sz="1200" dirty="0"/>
                    </a:p>
                  </a:txBody>
                  <a:tcPr anchor="ctr"/>
                </a:tc>
                <a:extLst>
                  <a:ext uri="{0D108BD9-81ED-4DB2-BD59-A6C34878D82A}">
                    <a16:rowId xmlns:a16="http://schemas.microsoft.com/office/drawing/2014/main" val="3939928241"/>
                  </a:ext>
                </a:extLst>
              </a:tr>
              <a:tr h="301433">
                <a:tc>
                  <a:txBody>
                    <a:bodyPr/>
                    <a:lstStyle/>
                    <a:p>
                      <a:pPr algn="ctr"/>
                      <a:r>
                        <a:rPr lang="en-US" altLang="zh-CN" sz="1200" b="1" dirty="0"/>
                        <a:t>GCC</a:t>
                      </a:r>
                      <a:endParaRPr lang="zh-CN" altLang="en-US" sz="1200" b="1" dirty="0"/>
                    </a:p>
                  </a:txBody>
                  <a:tcPr anchor="ctr"/>
                </a:tc>
                <a:tc>
                  <a:txBody>
                    <a:bodyPr/>
                    <a:lstStyle/>
                    <a:p>
                      <a:pPr algn="ct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extLst>
                  <a:ext uri="{0D108BD9-81ED-4DB2-BD59-A6C34878D82A}">
                    <a16:rowId xmlns:a16="http://schemas.microsoft.com/office/drawing/2014/main" val="428186033"/>
                  </a:ext>
                </a:extLst>
              </a:tr>
              <a:tr h="301433">
                <a:tc>
                  <a:txBody>
                    <a:bodyPr/>
                    <a:lstStyle/>
                    <a:p>
                      <a:pPr algn="ctr"/>
                      <a:r>
                        <a:rPr lang="en-US" altLang="zh-CN" sz="1200" b="1" dirty="0"/>
                        <a:t>Intel </a:t>
                      </a:r>
                      <a:r>
                        <a:rPr lang="en-US" altLang="zh-CN" sz="1200" b="1" dirty="0" err="1"/>
                        <a:t>oneAPI</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extLst>
                  <a:ext uri="{0D108BD9-81ED-4DB2-BD59-A6C34878D82A}">
                    <a16:rowId xmlns:a16="http://schemas.microsoft.com/office/drawing/2014/main" val="2241472554"/>
                  </a:ext>
                </a:extLst>
              </a:tr>
              <a:tr h="301433">
                <a:tc>
                  <a:txBody>
                    <a:bodyPr/>
                    <a:lstStyle/>
                    <a:p>
                      <a:pPr algn="ctr"/>
                      <a:r>
                        <a:rPr lang="en-US" altLang="zh-CN" sz="1200" b="1" dirty="0"/>
                        <a:t>NVHPC</a:t>
                      </a:r>
                      <a:endParaRPr lang="zh-CN" altLang="en-US" sz="1200" b="1" dirty="0"/>
                    </a:p>
                  </a:txBody>
                  <a:tcPr anchor="ctr"/>
                </a:tc>
                <a:tc>
                  <a:txBody>
                    <a:bodyPr/>
                    <a:lstStyle/>
                    <a:p>
                      <a:pPr algn="ct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extLst>
                  <a:ext uri="{0D108BD9-81ED-4DB2-BD59-A6C34878D82A}">
                    <a16:rowId xmlns:a16="http://schemas.microsoft.com/office/drawing/2014/main" val="1870015572"/>
                  </a:ext>
                </a:extLst>
              </a:tr>
              <a:tr h="301433">
                <a:tc>
                  <a:txBody>
                    <a:bodyPr/>
                    <a:lstStyle/>
                    <a:p>
                      <a:pPr algn="ctr"/>
                      <a:r>
                        <a:rPr lang="en-US" altLang="zh-CN" sz="1200" b="1" dirty="0"/>
                        <a:t>LLVM/Clang</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t>✅️</a:t>
                      </a:r>
                    </a:p>
                  </a:txBody>
                  <a:tcPr anchor="ctr"/>
                </a:tc>
                <a:extLst>
                  <a:ext uri="{0D108BD9-81ED-4DB2-BD59-A6C34878D82A}">
                    <a16:rowId xmlns:a16="http://schemas.microsoft.com/office/drawing/2014/main" val="1611934127"/>
                  </a:ext>
                </a:extLst>
              </a:tr>
            </a:tbl>
          </a:graphicData>
        </a:graphic>
      </p:graphicFrame>
      <p:pic>
        <p:nvPicPr>
          <p:cNvPr id="30" name="图片 29">
            <a:extLst>
              <a:ext uri="{FF2B5EF4-FFF2-40B4-BE49-F238E27FC236}">
                <a16:creationId xmlns:a16="http://schemas.microsoft.com/office/drawing/2014/main" id="{5077DA30-7D43-23CC-211D-9ED0728A4EED}"/>
              </a:ext>
            </a:extLst>
          </p:cNvPr>
          <p:cNvPicPr>
            <a:picLocks noChangeAspect="1"/>
          </p:cNvPicPr>
          <p:nvPr/>
        </p:nvPicPr>
        <p:blipFill>
          <a:blip r:embed="rId3"/>
          <a:stretch>
            <a:fillRect/>
          </a:stretch>
        </p:blipFill>
        <p:spPr>
          <a:xfrm>
            <a:off x="266700" y="2258010"/>
            <a:ext cx="6227406" cy="4151604"/>
          </a:xfrm>
          <a:prstGeom prst="rect">
            <a:avLst/>
          </a:prstGeom>
        </p:spPr>
      </p:pic>
      <p:sp>
        <p:nvSpPr>
          <p:cNvPr id="31" name="椭圆 30">
            <a:extLst>
              <a:ext uri="{FF2B5EF4-FFF2-40B4-BE49-F238E27FC236}">
                <a16:creationId xmlns:a16="http://schemas.microsoft.com/office/drawing/2014/main" id="{FBA42050-AAE7-0702-A52A-9B79C6D30038}"/>
              </a:ext>
            </a:extLst>
          </p:cNvPr>
          <p:cNvSpPr/>
          <p:nvPr/>
        </p:nvSpPr>
        <p:spPr>
          <a:xfrm>
            <a:off x="4926563" y="2127380"/>
            <a:ext cx="1455576" cy="895738"/>
          </a:xfrm>
          <a:prstGeom prst="ellipse">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nchor="ctr">
            <a:spAutoFit/>
          </a:bodyPr>
          <a:lstStyle/>
          <a:p>
            <a:pPr algn="ctr"/>
            <a:endParaRPr lang="zh-CN" altLang="en-US" dirty="0">
              <a:latin typeface="微软雅黑" panose="020B0503020204020204" pitchFamily="34" charset="-122"/>
              <a:ea typeface="微软雅黑" panose="020B0503020204020204" pitchFamily="34" charset="-122"/>
            </a:endParaRPr>
          </a:p>
        </p:txBody>
      </p:sp>
      <p:sp>
        <p:nvSpPr>
          <p:cNvPr id="32" name="矩形: 圆角 31">
            <a:extLst>
              <a:ext uri="{FF2B5EF4-FFF2-40B4-BE49-F238E27FC236}">
                <a16:creationId xmlns:a16="http://schemas.microsoft.com/office/drawing/2014/main" id="{5A92A559-DBC3-BBA8-B2E9-BA5143236AD9}"/>
              </a:ext>
            </a:extLst>
          </p:cNvPr>
          <p:cNvSpPr/>
          <p:nvPr/>
        </p:nvSpPr>
        <p:spPr>
          <a:xfrm>
            <a:off x="5327780" y="3638939"/>
            <a:ext cx="709126" cy="466530"/>
          </a:xfrm>
          <a:prstGeom prst="round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nchor="ctr">
            <a:spAutoFit/>
          </a:bodyPr>
          <a:lstStyle/>
          <a:p>
            <a:pPr algn="ctr"/>
            <a:endParaRPr lang="zh-CN" altLang="en-US" dirty="0">
              <a:solidFill>
                <a:schemeClr val="accent2"/>
              </a:solidFill>
              <a:latin typeface="微软雅黑" panose="020B0503020204020204" pitchFamily="34" charset="-122"/>
              <a:ea typeface="微软雅黑" panose="020B0503020204020204" pitchFamily="34" charset="-122"/>
            </a:endParaRPr>
          </a:p>
        </p:txBody>
      </p:sp>
      <p:cxnSp>
        <p:nvCxnSpPr>
          <p:cNvPr id="34" name="连接符: 曲线 33">
            <a:extLst>
              <a:ext uri="{FF2B5EF4-FFF2-40B4-BE49-F238E27FC236}">
                <a16:creationId xmlns:a16="http://schemas.microsoft.com/office/drawing/2014/main" id="{2ED7804F-6B5A-9765-AA60-DC2AF1C7F7D2}"/>
              </a:ext>
            </a:extLst>
          </p:cNvPr>
          <p:cNvCxnSpPr>
            <a:stCxn id="31" idx="5"/>
            <a:endCxn id="32" idx="3"/>
          </p:cNvCxnSpPr>
          <p:nvPr/>
        </p:nvCxnSpPr>
        <p:spPr>
          <a:xfrm rot="5400000">
            <a:off x="5612809" y="3316038"/>
            <a:ext cx="980265" cy="132069"/>
          </a:xfrm>
          <a:prstGeom prst="curvedConnector2">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36" name="文本框 35">
            <a:extLst>
              <a:ext uri="{FF2B5EF4-FFF2-40B4-BE49-F238E27FC236}">
                <a16:creationId xmlns:a16="http://schemas.microsoft.com/office/drawing/2014/main" id="{B4244EA9-790C-7095-DEC7-CDC0EDB7D295}"/>
              </a:ext>
            </a:extLst>
          </p:cNvPr>
          <p:cNvSpPr txBox="1"/>
          <p:nvPr/>
        </p:nvSpPr>
        <p:spPr>
          <a:xfrm>
            <a:off x="391885" y="1779158"/>
            <a:ext cx="6027576" cy="416524"/>
          </a:xfrm>
          <a:prstGeom prst="rect">
            <a:avLst/>
          </a:prstGeom>
          <a:noFill/>
        </p:spPr>
        <p:txBody>
          <a:bodyPr wrap="square">
            <a:spAutoFit/>
          </a:bodyPr>
          <a:lstStyle/>
          <a:p>
            <a:pPr marL="0" lvl="1" algn="ctr">
              <a:lnSpc>
                <a:spcPct val="114000"/>
              </a:lnSpc>
              <a:spcBef>
                <a:spcPts val="1000"/>
              </a:spcBef>
              <a:buClr>
                <a:srgbClr val="4472C4"/>
              </a:buClr>
              <a:buSzPct val="90000"/>
              <a:defRPr/>
            </a:pPr>
            <a:r>
              <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QLLVM </a:t>
            </a: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高性能</a:t>
            </a:r>
            <a:r>
              <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量子 系统编译框架</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D5A7B77E-B9C9-AE93-FCD5-E5F5927F52FC}"/>
              </a:ext>
            </a:extLst>
          </p:cNvPr>
          <p:cNvSpPr txBox="1"/>
          <p:nvPr/>
        </p:nvSpPr>
        <p:spPr>
          <a:xfrm>
            <a:off x="6670963" y="4775353"/>
            <a:ext cx="4842163" cy="1323439"/>
          </a:xfrm>
          <a:prstGeom prst="rect">
            <a:avLst/>
          </a:prstGeom>
          <a:noFill/>
        </p:spPr>
        <p:txBody>
          <a:bodyPr wrap="square">
            <a:spAutoFit/>
          </a:bodyPr>
          <a:lstStyle/>
          <a:p>
            <a:pPr marL="285750" indent="-285750" algn="jus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实现经典</a:t>
            </a:r>
            <a:r>
              <a:rPr lang="en-US" altLang="zh-CN" sz="2000" dirty="0">
                <a:latin typeface="微软雅黑" panose="020B0503020204020204" pitchFamily="34" charset="-122"/>
                <a:ea typeface="微软雅黑" panose="020B0503020204020204" pitchFamily="34" charset="-122"/>
              </a:rPr>
              <a:t>CUDA/MPI/C++</a:t>
            </a:r>
            <a:r>
              <a:rPr lang="zh-CN" altLang="en-US" sz="2000" dirty="0">
                <a:latin typeface="微软雅黑" panose="020B0503020204020204" pitchFamily="34" charset="-122"/>
                <a:ea typeface="微软雅黑" panose="020B0503020204020204" pitchFamily="34" charset="-122"/>
              </a:rPr>
              <a:t>编译及量子程序编译的端到端融合，支持从前端语言解析到目标代码生成、链接及可执行文件生成的完整过程</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43290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DDD3B-7703-765A-9928-017BCCABDE5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A62D244-EE31-5B1E-C513-85A384E10455}"/>
              </a:ext>
            </a:extLst>
          </p:cNvPr>
          <p:cNvSpPr>
            <a:spLocks noGrp="1"/>
          </p:cNvSpPr>
          <p:nvPr>
            <p:ph type="title"/>
          </p:nvPr>
        </p:nvSpPr>
        <p:spPr>
          <a:xfrm>
            <a:off x="166255" y="0"/>
            <a:ext cx="12025745" cy="738893"/>
          </a:xfrm>
        </p:spPr>
        <p:txBody>
          <a:bodyPr>
            <a:normAutofit/>
          </a:bodyPr>
          <a:lstStyle/>
          <a:p>
            <a:r>
              <a:rPr lang="en-US" altLang="zh-CN" sz="3600" dirty="0"/>
              <a:t>QPU</a:t>
            </a:r>
            <a:r>
              <a:rPr lang="zh-CN" altLang="en-US" sz="3600" dirty="0"/>
              <a:t>如何融入高性能计算系统？</a:t>
            </a:r>
          </a:p>
        </p:txBody>
      </p:sp>
      <p:sp>
        <p:nvSpPr>
          <p:cNvPr id="12" name="内容占位符 1">
            <a:extLst>
              <a:ext uri="{FF2B5EF4-FFF2-40B4-BE49-F238E27FC236}">
                <a16:creationId xmlns:a16="http://schemas.microsoft.com/office/drawing/2014/main" id="{1BCB0C63-B308-1F02-71F8-55AA1BCE6B1B}"/>
              </a:ext>
            </a:extLst>
          </p:cNvPr>
          <p:cNvSpPr>
            <a:spLocks noGrp="1"/>
          </p:cNvSpPr>
          <p:nvPr>
            <p:ph sz="quarter" idx="13"/>
          </p:nvPr>
        </p:nvSpPr>
        <p:spPr>
          <a:xfrm>
            <a:off x="520205" y="1321627"/>
            <a:ext cx="9911426" cy="571272"/>
          </a:xfrm>
        </p:spPr>
        <p:txBody>
          <a:bodyPr>
            <a:normAutofit lnSpcReduction="10000"/>
          </a:bodyPr>
          <a:lstStyle/>
          <a:p>
            <a:r>
              <a:rPr lang="zh-CN" altLang="en-US" dirty="0"/>
              <a:t>量子编译、</a:t>
            </a:r>
            <a:r>
              <a:rPr lang="en-US" altLang="zh-CN" dirty="0"/>
              <a:t>HPC-QC</a:t>
            </a:r>
            <a:r>
              <a:rPr lang="zh-CN" altLang="en-US" dirty="0"/>
              <a:t>领域热点研究方向</a:t>
            </a:r>
            <a:endParaRPr lang="en-US" altLang="zh-CN" dirty="0"/>
          </a:p>
        </p:txBody>
      </p:sp>
      <p:sp>
        <p:nvSpPr>
          <p:cNvPr id="13" name="文本框 12">
            <a:extLst>
              <a:ext uri="{FF2B5EF4-FFF2-40B4-BE49-F238E27FC236}">
                <a16:creationId xmlns:a16="http://schemas.microsoft.com/office/drawing/2014/main" id="{E53EE08A-30C2-88DA-D279-AD86432139B6}"/>
              </a:ext>
            </a:extLst>
          </p:cNvPr>
          <p:cNvSpPr txBox="1"/>
          <p:nvPr/>
        </p:nvSpPr>
        <p:spPr>
          <a:xfrm>
            <a:off x="209027" y="2054042"/>
            <a:ext cx="5293661" cy="1863270"/>
          </a:xfrm>
          <a:prstGeom prst="rect">
            <a:avLst/>
          </a:prstGeom>
          <a:noFill/>
        </p:spPr>
        <p:txBody>
          <a:bodyPr wrap="square">
            <a:noAutofit/>
          </a:bodyPr>
          <a:lstStyle/>
          <a:p>
            <a:pPr marL="685800" marR="0" lvl="1" indent="-234950" algn="l" defTabSz="914400" rtl="0" eaLnBrk="1" fontAlgn="auto" latinLnBrk="0" hangingPunct="1">
              <a:lnSpc>
                <a:spcPct val="114000"/>
              </a:lnSpc>
              <a:spcBef>
                <a:spcPts val="500"/>
              </a:spcBef>
              <a:spcAft>
                <a:spcPts val="500"/>
              </a:spcAft>
              <a:buClr>
                <a:srgbClr val="4472C4"/>
              </a:buClr>
              <a:buSzPct val="90000"/>
              <a:buFont typeface="Wingdings" panose="05000000000000000000" pitchFamily="2" charset="2"/>
              <a:buChar char="n"/>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容错量子编译</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自动容错线路生成及优化；</a:t>
            </a:r>
            <a:endPar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容错线路布局及调度；</a:t>
            </a:r>
            <a:endPar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基于编译的容错电路物理资源估计。</a:t>
            </a:r>
            <a:endPar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8AE173F8-B1E0-B3B7-F45F-36FDF3630F10}"/>
              </a:ext>
            </a:extLst>
          </p:cNvPr>
          <p:cNvSpPr txBox="1"/>
          <p:nvPr/>
        </p:nvSpPr>
        <p:spPr>
          <a:xfrm>
            <a:off x="246658" y="4064018"/>
            <a:ext cx="5523153" cy="1443688"/>
          </a:xfrm>
          <a:prstGeom prst="rect">
            <a:avLst/>
          </a:prstGeom>
          <a:noFill/>
        </p:spPr>
        <p:txBody>
          <a:bodyPr wrap="square">
            <a:noAutofit/>
          </a:bodyPr>
          <a:lstStyle/>
          <a:p>
            <a:pPr marL="685800" marR="0" lvl="1" indent="-234950" algn="l" defTabSz="914400" rtl="0" eaLnBrk="1" fontAlgn="auto" latinLnBrk="0" hangingPunct="1">
              <a:lnSpc>
                <a:spcPct val="114000"/>
              </a:lnSpc>
              <a:spcBef>
                <a:spcPts val="500"/>
              </a:spcBef>
              <a:spcAft>
                <a:spcPts val="500"/>
              </a:spcAft>
              <a:buClr>
                <a:srgbClr val="4472C4"/>
              </a:buClr>
              <a:buSzPct val="90000"/>
              <a:buFont typeface="Wingdings" panose="05000000000000000000" pitchFamily="2" charset="2"/>
              <a:buChar char="n"/>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-HPC</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深度融合</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异构计算统一编译与通信优化；</a:t>
            </a:r>
            <a:endPar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lang="zh-CN" altLang="en-US" dirty="0">
                <a:solidFill>
                  <a:prstClr val="black"/>
                </a:solidFill>
                <a:latin typeface="微软雅黑" panose="020B0503020204020204" pitchFamily="34" charset="-122"/>
                <a:ea typeface="微软雅黑" panose="020B0503020204020204" pitchFamily="34" charset="-122"/>
              </a:rPr>
              <a:t>面向异构计算的统一中间表示设计与优化；</a:t>
            </a:r>
            <a:endParaRPr lang="en-US" altLang="zh-CN" dirty="0">
              <a:solidFill>
                <a:prstClr val="black"/>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9CFDFBB1-E923-C252-DAB8-BC1EABFF38D2}"/>
              </a:ext>
            </a:extLst>
          </p:cNvPr>
          <p:cNvSpPr txBox="1"/>
          <p:nvPr/>
        </p:nvSpPr>
        <p:spPr>
          <a:xfrm>
            <a:off x="5385684" y="4273846"/>
            <a:ext cx="6159500" cy="933397"/>
          </a:xfrm>
          <a:prstGeom prst="rect">
            <a:avLst/>
          </a:prstGeom>
          <a:noFill/>
        </p:spPr>
        <p:txBody>
          <a:bodyPr wrap="square">
            <a:spAutoFit/>
          </a:bodyPr>
          <a:lstStyle/>
          <a:p>
            <a:pPr marL="685800" marR="0" lvl="1" indent="-234950" algn="l" defTabSz="914400" rtl="0" eaLnBrk="1" fontAlgn="auto" latinLnBrk="0" hangingPunct="1">
              <a:lnSpc>
                <a:spcPct val="114000"/>
              </a:lnSpc>
              <a:spcBef>
                <a:spcPts val="500"/>
              </a:spcBef>
              <a:spcAft>
                <a:spcPts val="500"/>
              </a:spcAft>
              <a:buClr>
                <a:srgbClr val="4472C4"/>
              </a:buClr>
              <a:buSzPct val="90000"/>
              <a:buFont typeface="Wingdings" panose="05000000000000000000" pitchFamily="2" charset="2"/>
              <a:buChar char="n"/>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分布式量子编译</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面向分布式多</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QPU</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的量子线路编译；</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a:extLst>
              <a:ext uri="{FF2B5EF4-FFF2-40B4-BE49-F238E27FC236}">
                <a16:creationId xmlns:a16="http://schemas.microsoft.com/office/drawing/2014/main" id="{D235595C-78D5-1FAE-8A97-EBFCC39385CB}"/>
              </a:ext>
            </a:extLst>
          </p:cNvPr>
          <p:cNvSpPr txBox="1"/>
          <p:nvPr/>
        </p:nvSpPr>
        <p:spPr>
          <a:xfrm>
            <a:off x="5383715" y="1992470"/>
            <a:ext cx="5804985" cy="2150709"/>
          </a:xfrm>
          <a:prstGeom prst="rect">
            <a:avLst/>
          </a:prstGeom>
          <a:noFill/>
        </p:spPr>
        <p:txBody>
          <a:bodyPr wrap="square">
            <a:noAutofit/>
          </a:bodyPr>
          <a:lstStyle/>
          <a:p>
            <a:pPr marL="685800" marR="0" lvl="1" indent="-234950" algn="l" defTabSz="914400" rtl="0" eaLnBrk="1" fontAlgn="auto" latinLnBrk="0" hangingPunct="1">
              <a:lnSpc>
                <a:spcPct val="114000"/>
              </a:lnSpc>
              <a:spcBef>
                <a:spcPts val="500"/>
              </a:spcBef>
              <a:spcAft>
                <a:spcPts val="500"/>
              </a:spcAft>
              <a:buClr>
                <a:srgbClr val="4472C4"/>
              </a:buClr>
              <a:buSzPct val="90000"/>
              <a:buFont typeface="Wingdings" panose="05000000000000000000" pitchFamily="2" charset="2"/>
              <a:buChar char="n"/>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AI/ML </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驱动的编译优化</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基于强化学习</a:t>
            </a: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大模型的编译</a:t>
            </a:r>
            <a:r>
              <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Pass</a:t>
            </a: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自动调优；</a:t>
            </a:r>
            <a:endPar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kumimoji="0" lang="zh-CN" altLang="en-US"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基于深度学习的比特映射路由；</a:t>
            </a:r>
            <a:endPar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86155" marR="0" lvl="2" indent="-273050" algn="l" defTabSz="914400" rtl="0" eaLnBrk="1" fontAlgn="auto" latinLnBrk="0" hangingPunct="1">
              <a:lnSpc>
                <a:spcPct val="114000"/>
              </a:lnSpc>
              <a:spcBef>
                <a:spcPts val="500"/>
              </a:spcBef>
              <a:spcAft>
                <a:spcPts val="0"/>
              </a:spcAft>
              <a:buClr>
                <a:srgbClr val="4472C4"/>
              </a:buClr>
              <a:buSzTx/>
              <a:buFont typeface="Wingdings" panose="05000000000000000000" pitchFamily="2" charset="2"/>
              <a:buChar char="v"/>
              <a:tabLst/>
              <a:defRPr/>
            </a:pPr>
            <a:r>
              <a:rPr lang="zh-CN" altLang="en-US" dirty="0">
                <a:solidFill>
                  <a:prstClr val="black"/>
                </a:solidFill>
                <a:latin typeface="微软雅黑" panose="020B0503020204020204" pitchFamily="34" charset="-122"/>
                <a:ea typeface="微软雅黑" panose="020B0503020204020204" pitchFamily="34" charset="-122"/>
              </a:rPr>
              <a:t>噪声感知的多目标编译优化；</a:t>
            </a:r>
            <a:endParaRPr kumimoji="0" lang="en-US" altLang="zh-CN"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007807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A4AFD-28A4-910F-4D94-0382A621164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7E67DEC-8DE0-2BE0-F004-168F448B1826}"/>
              </a:ext>
            </a:extLst>
          </p:cNvPr>
          <p:cNvSpPr>
            <a:spLocks noGrp="1"/>
          </p:cNvSpPr>
          <p:nvPr>
            <p:ph type="title"/>
          </p:nvPr>
        </p:nvSpPr>
        <p:spPr>
          <a:xfrm>
            <a:off x="166255" y="0"/>
            <a:ext cx="12025745" cy="738893"/>
          </a:xfrm>
        </p:spPr>
        <p:txBody>
          <a:bodyPr>
            <a:normAutofit/>
          </a:bodyPr>
          <a:lstStyle/>
          <a:p>
            <a:r>
              <a:rPr lang="en-US" altLang="zh-CN" sz="3600" dirty="0"/>
              <a:t>QPU</a:t>
            </a:r>
            <a:r>
              <a:rPr lang="zh-CN" altLang="en-US" sz="3600" dirty="0"/>
              <a:t>如何融入高性能计算系统？</a:t>
            </a:r>
          </a:p>
        </p:txBody>
      </p:sp>
      <p:sp>
        <p:nvSpPr>
          <p:cNvPr id="5" name="文本框 4">
            <a:extLst>
              <a:ext uri="{FF2B5EF4-FFF2-40B4-BE49-F238E27FC236}">
                <a16:creationId xmlns:a16="http://schemas.microsoft.com/office/drawing/2014/main" id="{A8850C70-07F6-31B2-C7DB-17CBE2064556}"/>
              </a:ext>
            </a:extLst>
          </p:cNvPr>
          <p:cNvSpPr txBox="1"/>
          <p:nvPr/>
        </p:nvSpPr>
        <p:spPr>
          <a:xfrm>
            <a:off x="225103" y="996875"/>
            <a:ext cx="10924979" cy="416524"/>
          </a:xfrm>
          <a:prstGeom prst="rect">
            <a:avLst/>
          </a:prstGeom>
          <a:gradFill flip="none" rotWithShape="1">
            <a:gsLst>
              <a:gs pos="0">
                <a:schemeClr val="accent1">
                  <a:lumMod val="5000"/>
                  <a:lumOff val="95000"/>
                  <a:alpha val="2000"/>
                </a:schemeClr>
              </a:gs>
              <a:gs pos="44000">
                <a:srgbClr val="EAF2FA"/>
              </a:gs>
              <a:gs pos="100000">
                <a:schemeClr val="accent5">
                  <a:lumMod val="20000"/>
                  <a:lumOff val="80000"/>
                </a:schemeClr>
              </a:gs>
            </a:gsLst>
            <a:lin ang="16200000" scaled="1"/>
            <a:tileRect/>
          </a:gradFill>
        </p:spPr>
        <p:txBody>
          <a:bodyPr wrap="square" rtlCol="0">
            <a:spAutoFit/>
          </a:bodyPr>
          <a:lstStyle/>
          <a:p>
            <a:pPr marL="355600" marR="0" lvl="0" indent="-355600" algn="l" defTabSz="914400" rtl="0" eaLnBrk="1" fontAlgn="auto" latinLnBrk="0" hangingPunct="1">
              <a:lnSpc>
                <a:spcPct val="114000"/>
              </a:lnSpc>
              <a:spcBef>
                <a:spcPts val="1000"/>
              </a:spcBef>
              <a:spcAft>
                <a:spcPts val="0"/>
              </a:spcAft>
              <a:buClr>
                <a:srgbClr val="4472C4"/>
              </a:buClr>
              <a:buSzPct val="90000"/>
              <a:buFont typeface="Wingdings" panose="05000000000000000000" pitchFamily="2" charset="2"/>
              <a:buChar char="q"/>
              <a:tabLst/>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“高性能</a:t>
            </a:r>
            <a:r>
              <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量子”编译、程序调度执行</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a:extLst>
              <a:ext uri="{FF2B5EF4-FFF2-40B4-BE49-F238E27FC236}">
                <a16:creationId xmlns:a16="http://schemas.microsoft.com/office/drawing/2014/main" id="{FF1638DE-2814-6864-4DB0-9C9C2C01F208}"/>
              </a:ext>
            </a:extLst>
          </p:cNvPr>
          <p:cNvPicPr>
            <a:picLocks noChangeAspect="1"/>
          </p:cNvPicPr>
          <p:nvPr/>
        </p:nvPicPr>
        <p:blipFill>
          <a:blip r:embed="rId3"/>
          <a:srcRect l="35925" t="4111" r="36592" b="56555"/>
          <a:stretch>
            <a:fillRect/>
          </a:stretch>
        </p:blipFill>
        <p:spPr>
          <a:xfrm>
            <a:off x="842710" y="3467011"/>
            <a:ext cx="1188720" cy="1134251"/>
          </a:xfrm>
          <a:prstGeom prst="roundRect">
            <a:avLst/>
          </a:prstGeom>
        </p:spPr>
      </p:pic>
      <p:pic>
        <p:nvPicPr>
          <p:cNvPr id="12" name="图片 11">
            <a:extLst>
              <a:ext uri="{FF2B5EF4-FFF2-40B4-BE49-F238E27FC236}">
                <a16:creationId xmlns:a16="http://schemas.microsoft.com/office/drawing/2014/main" id="{57DF9512-9F03-C1A1-0011-D39EE4329F5F}"/>
              </a:ext>
            </a:extLst>
          </p:cNvPr>
          <p:cNvPicPr>
            <a:picLocks noChangeAspect="1"/>
          </p:cNvPicPr>
          <p:nvPr/>
        </p:nvPicPr>
        <p:blipFill>
          <a:blip r:embed="rId4"/>
          <a:stretch>
            <a:fillRect/>
          </a:stretch>
        </p:blipFill>
        <p:spPr>
          <a:xfrm>
            <a:off x="1806264" y="5055844"/>
            <a:ext cx="1443096" cy="962064"/>
          </a:xfrm>
          <a:prstGeom prst="roundRect">
            <a:avLst/>
          </a:prstGeom>
        </p:spPr>
      </p:pic>
      <p:pic>
        <p:nvPicPr>
          <p:cNvPr id="15" name="图片 14">
            <a:extLst>
              <a:ext uri="{FF2B5EF4-FFF2-40B4-BE49-F238E27FC236}">
                <a16:creationId xmlns:a16="http://schemas.microsoft.com/office/drawing/2014/main" id="{1BADDFDA-D936-C638-3ABF-C8B4A45E0059}"/>
              </a:ext>
            </a:extLst>
          </p:cNvPr>
          <p:cNvPicPr>
            <a:picLocks noChangeAspect="1"/>
          </p:cNvPicPr>
          <p:nvPr/>
        </p:nvPicPr>
        <p:blipFill>
          <a:blip r:embed="rId5"/>
          <a:srcRect l="87708" t="13622" b="65330"/>
          <a:stretch>
            <a:fillRect/>
          </a:stretch>
        </p:blipFill>
        <p:spPr>
          <a:xfrm>
            <a:off x="3204910" y="3574965"/>
            <a:ext cx="1018837" cy="963255"/>
          </a:xfrm>
          <a:prstGeom prst="rect">
            <a:avLst/>
          </a:prstGeom>
        </p:spPr>
      </p:pic>
      <p:sp>
        <p:nvSpPr>
          <p:cNvPr id="16" name="矩形: 圆角 15">
            <a:extLst>
              <a:ext uri="{FF2B5EF4-FFF2-40B4-BE49-F238E27FC236}">
                <a16:creationId xmlns:a16="http://schemas.microsoft.com/office/drawing/2014/main" id="{35DE95CF-3CFA-2E1B-3849-CB3BCFF8BE45}"/>
              </a:ext>
            </a:extLst>
          </p:cNvPr>
          <p:cNvSpPr/>
          <p:nvPr/>
        </p:nvSpPr>
        <p:spPr>
          <a:xfrm>
            <a:off x="1353250" y="1742492"/>
            <a:ext cx="2377440" cy="487680"/>
          </a:xfrm>
          <a:prstGeom prst="roundRect">
            <a:avLst/>
          </a:prstGeom>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矩形: 圆角 18">
            <a:extLst>
              <a:ext uri="{FF2B5EF4-FFF2-40B4-BE49-F238E27FC236}">
                <a16:creationId xmlns:a16="http://schemas.microsoft.com/office/drawing/2014/main" id="{EC30F2EE-92AB-76D3-D5D7-2F92F169B9A0}"/>
              </a:ext>
            </a:extLst>
          </p:cNvPr>
          <p:cNvSpPr/>
          <p:nvPr/>
        </p:nvSpPr>
        <p:spPr>
          <a:xfrm>
            <a:off x="682690" y="4496288"/>
            <a:ext cx="1592580" cy="306467"/>
          </a:xfrm>
          <a:prstGeom prst="roundRect">
            <a:avLst/>
          </a:prstGeom>
          <a:solidFill>
            <a:schemeClr val="accent5">
              <a:lumMod val="20000"/>
              <a:lumOff val="80000"/>
            </a:schemeClr>
          </a:solidFill>
          <a:ln>
            <a:solidFill>
              <a:schemeClr val="accent1">
                <a:lumMod val="20000"/>
                <a:lumOff val="80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问题构建、任务控制</a:t>
            </a:r>
          </a:p>
        </p:txBody>
      </p:sp>
      <p:sp>
        <p:nvSpPr>
          <p:cNvPr id="21" name="矩形: 圆角 20">
            <a:extLst>
              <a:ext uri="{FF2B5EF4-FFF2-40B4-BE49-F238E27FC236}">
                <a16:creationId xmlns:a16="http://schemas.microsoft.com/office/drawing/2014/main" id="{AFD5F8CE-798D-2489-5AC4-EA96684C5213}"/>
              </a:ext>
            </a:extLst>
          </p:cNvPr>
          <p:cNvSpPr/>
          <p:nvPr/>
        </p:nvSpPr>
        <p:spPr>
          <a:xfrm>
            <a:off x="1574230" y="6049421"/>
            <a:ext cx="1905000" cy="306467"/>
          </a:xfrm>
          <a:prstGeom prst="roundRect">
            <a:avLst/>
          </a:prstGeom>
          <a:solidFill>
            <a:schemeClr val="accent5">
              <a:lumMod val="20000"/>
              <a:lumOff val="80000"/>
            </a:schemeClr>
          </a:solidFill>
          <a:ln>
            <a:solidFill>
              <a:schemeClr val="accent1">
                <a:lumMod val="20000"/>
                <a:lumOff val="80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大规模数值模拟</a:t>
            </a:r>
          </a:p>
        </p:txBody>
      </p:sp>
      <p:sp>
        <p:nvSpPr>
          <p:cNvPr id="25" name="矩形: 圆角 24">
            <a:extLst>
              <a:ext uri="{FF2B5EF4-FFF2-40B4-BE49-F238E27FC236}">
                <a16:creationId xmlns:a16="http://schemas.microsoft.com/office/drawing/2014/main" id="{8647F35D-17D6-0874-B655-0D6C476BEF15}"/>
              </a:ext>
            </a:extLst>
          </p:cNvPr>
          <p:cNvSpPr/>
          <p:nvPr/>
        </p:nvSpPr>
        <p:spPr>
          <a:xfrm>
            <a:off x="2900110" y="4502718"/>
            <a:ext cx="1409700" cy="306467"/>
          </a:xfrm>
          <a:prstGeom prst="roundRect">
            <a:avLst/>
          </a:prstGeom>
          <a:solidFill>
            <a:schemeClr val="accent2">
              <a:lumMod val="20000"/>
              <a:lumOff val="80000"/>
            </a:schemeClr>
          </a:solidFill>
          <a:ln>
            <a:solidFill>
              <a:schemeClr val="accent1">
                <a:lumMod val="20000"/>
                <a:lumOff val="80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量子子问题求解</a:t>
            </a:r>
          </a:p>
        </p:txBody>
      </p:sp>
      <p:pic>
        <p:nvPicPr>
          <p:cNvPr id="27" name="图片 26">
            <a:extLst>
              <a:ext uri="{FF2B5EF4-FFF2-40B4-BE49-F238E27FC236}">
                <a16:creationId xmlns:a16="http://schemas.microsoft.com/office/drawing/2014/main" id="{CC002B45-267F-A0CC-7063-35B95107BBA2}"/>
              </a:ext>
            </a:extLst>
          </p:cNvPr>
          <p:cNvPicPr>
            <a:picLocks noChangeAspect="1"/>
          </p:cNvPicPr>
          <p:nvPr/>
        </p:nvPicPr>
        <p:blipFill>
          <a:blip r:embed="rId6"/>
          <a:srcRect l="58111" b="59517"/>
          <a:stretch>
            <a:fillRect/>
          </a:stretch>
        </p:blipFill>
        <p:spPr>
          <a:xfrm>
            <a:off x="2973044" y="1988629"/>
            <a:ext cx="1140104" cy="1366504"/>
          </a:xfrm>
          <a:prstGeom prst="rect">
            <a:avLst/>
          </a:prstGeom>
        </p:spPr>
      </p:pic>
      <p:cxnSp>
        <p:nvCxnSpPr>
          <p:cNvPr id="29" name="连接符: 曲线 28">
            <a:extLst>
              <a:ext uri="{FF2B5EF4-FFF2-40B4-BE49-F238E27FC236}">
                <a16:creationId xmlns:a16="http://schemas.microsoft.com/office/drawing/2014/main" id="{DF5AE963-2B21-1616-BE5A-661CD0449999}"/>
              </a:ext>
            </a:extLst>
          </p:cNvPr>
          <p:cNvCxnSpPr>
            <a:cxnSpLocks/>
            <a:endCxn id="8" idx="0"/>
          </p:cNvCxnSpPr>
          <p:nvPr/>
        </p:nvCxnSpPr>
        <p:spPr>
          <a:xfrm rot="10800000" flipV="1">
            <a:off x="1437070" y="2258007"/>
            <a:ext cx="1828644" cy="120900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连接符: 曲线 29">
            <a:extLst>
              <a:ext uri="{FF2B5EF4-FFF2-40B4-BE49-F238E27FC236}">
                <a16:creationId xmlns:a16="http://schemas.microsoft.com/office/drawing/2014/main" id="{8CD05ED9-81FE-00B7-F9CD-F76CAC82E02D}"/>
              </a:ext>
            </a:extLst>
          </p:cNvPr>
          <p:cNvCxnSpPr>
            <a:cxnSpLocks/>
            <a:stCxn id="27" idx="3"/>
            <a:endCxn id="15" idx="3"/>
          </p:cNvCxnSpPr>
          <p:nvPr/>
        </p:nvCxnSpPr>
        <p:spPr>
          <a:xfrm>
            <a:off x="4113148" y="2671881"/>
            <a:ext cx="110599" cy="1384712"/>
          </a:xfrm>
          <a:prstGeom prst="curvedConnector3">
            <a:avLst>
              <a:gd name="adj1" fmla="val 30669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连接符: 曲线 32">
            <a:extLst>
              <a:ext uri="{FF2B5EF4-FFF2-40B4-BE49-F238E27FC236}">
                <a16:creationId xmlns:a16="http://schemas.microsoft.com/office/drawing/2014/main" id="{635DAE3F-F99F-7928-1DB7-9237F8744AAA}"/>
              </a:ext>
            </a:extLst>
          </p:cNvPr>
          <p:cNvCxnSpPr>
            <a:cxnSpLocks/>
            <a:stCxn id="27" idx="1"/>
            <a:endCxn id="12" idx="0"/>
          </p:cNvCxnSpPr>
          <p:nvPr/>
        </p:nvCxnSpPr>
        <p:spPr>
          <a:xfrm rot="10800000" flipV="1">
            <a:off x="2527812" y="2671880"/>
            <a:ext cx="445232" cy="23839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圆角 16">
            <a:extLst>
              <a:ext uri="{FF2B5EF4-FFF2-40B4-BE49-F238E27FC236}">
                <a16:creationId xmlns:a16="http://schemas.microsoft.com/office/drawing/2014/main" id="{F48DB30E-8271-DBF4-7539-34F9E62607CF}"/>
              </a:ext>
            </a:extLst>
          </p:cNvPr>
          <p:cNvSpPr/>
          <p:nvPr/>
        </p:nvSpPr>
        <p:spPr>
          <a:xfrm>
            <a:off x="1086395" y="1982394"/>
            <a:ext cx="1882140" cy="715089"/>
          </a:xfrm>
          <a:prstGeom prst="roundRect">
            <a:avLst>
              <a:gd name="adj" fmla="val 36239"/>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HPC+</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量子 </a:t>
            </a:r>
            <a:endPar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协同计算应用</a:t>
            </a:r>
          </a:p>
        </p:txBody>
      </p:sp>
      <p:sp>
        <p:nvSpPr>
          <p:cNvPr id="41" name="矩形: 圆角 40">
            <a:extLst>
              <a:ext uri="{FF2B5EF4-FFF2-40B4-BE49-F238E27FC236}">
                <a16:creationId xmlns:a16="http://schemas.microsoft.com/office/drawing/2014/main" id="{94F5B315-9FE0-9905-9570-6856AE0E462A}"/>
              </a:ext>
            </a:extLst>
          </p:cNvPr>
          <p:cNvSpPr/>
          <p:nvPr/>
        </p:nvSpPr>
        <p:spPr>
          <a:xfrm>
            <a:off x="5158790" y="2014260"/>
            <a:ext cx="5638800" cy="408623"/>
          </a:xfrm>
          <a:prstGeom prst="roundRect">
            <a:avLst/>
          </a:prstGeom>
          <a:noFill/>
          <a:ln>
            <a:noFill/>
          </a:ln>
        </p:spPr>
        <p:txBody>
          <a:bodyPr wrap="square" rtlCol="0" anchor="ctr">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HPC+QC</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”的软件栈应该如何支撑？</a:t>
            </a:r>
          </a:p>
        </p:txBody>
      </p:sp>
      <p:sp>
        <p:nvSpPr>
          <p:cNvPr id="26" name="文本框 25">
            <a:extLst>
              <a:ext uri="{FF2B5EF4-FFF2-40B4-BE49-F238E27FC236}">
                <a16:creationId xmlns:a16="http://schemas.microsoft.com/office/drawing/2014/main" id="{D144730D-FB88-F4D5-FEA0-DD29C5A4B552}"/>
              </a:ext>
            </a:extLst>
          </p:cNvPr>
          <p:cNvSpPr txBox="1"/>
          <p:nvPr/>
        </p:nvSpPr>
        <p:spPr>
          <a:xfrm>
            <a:off x="5226921" y="4463092"/>
            <a:ext cx="6368627" cy="1573643"/>
          </a:xfrm>
          <a:prstGeom prst="roundRect">
            <a:avLst>
              <a:gd name="adj" fmla="val 11116"/>
            </a:avLst>
          </a:prstGeom>
          <a:noFill/>
          <a:ln>
            <a:solidFill>
              <a:schemeClr val="accent1"/>
            </a:solidFill>
            <a:prstDash val="sysDash"/>
          </a:ln>
        </p:spPr>
        <p:txBody>
          <a:bodyPr wrap="square">
            <a:spAutoFit/>
          </a:bodyPr>
          <a:lstStyle/>
          <a:p>
            <a:pPr>
              <a:lnSpc>
                <a:spcPct val="150000"/>
              </a:lnSpc>
            </a:pPr>
            <a:r>
              <a:rPr lang="zh-CN" altLang="zh-CN" sz="1600" b="1" dirty="0">
                <a:solidFill>
                  <a:schemeClr val="accent5">
                    <a:lumMod val="50000"/>
                  </a:schemeClr>
                </a:solidFill>
                <a:latin typeface="微软雅黑" panose="020B0503020204020204" pitchFamily="34" charset="-122"/>
                <a:ea typeface="微软雅黑" panose="020B0503020204020204" pitchFamily="34" charset="-122"/>
              </a:rPr>
              <a:t>QPU 进入 HPC 系统</a:t>
            </a: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后</a:t>
            </a:r>
            <a:r>
              <a:rPr lang="zh-CN" altLang="zh-CN" sz="1600" b="1" dirty="0">
                <a:solidFill>
                  <a:schemeClr val="accent5">
                    <a:lumMod val="50000"/>
                  </a:schemeClr>
                </a:solidFill>
                <a:latin typeface="微软雅黑" panose="020B0503020204020204" pitchFamily="34" charset="-122"/>
                <a:ea typeface="微软雅黑" panose="020B0503020204020204" pitchFamily="34" charset="-122"/>
              </a:rPr>
              <a:t>， OS 问题更复杂</a:t>
            </a: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a:t>
            </a:r>
          </a:p>
          <a:p>
            <a:pPr marL="285750" indent="-285750">
              <a:lnSpc>
                <a:spcPct val="120000"/>
              </a:lnSpc>
              <a:buFont typeface="Arial" panose="020B0604020202020204" pitchFamily="34" charset="0"/>
              <a:buChar char="•"/>
            </a:pPr>
            <a:r>
              <a:rPr lang="zh-CN" altLang="zh-CN" sz="1400" b="1" dirty="0">
                <a:latin typeface="微软雅黑" panose="020B0503020204020204" pitchFamily="34" charset="-122"/>
                <a:ea typeface="微软雅黑" panose="020B0503020204020204" pitchFamily="34" charset="-122"/>
              </a:rPr>
              <a:t>QPU 怎么抽象？</a:t>
            </a:r>
            <a:r>
              <a:rPr lang="zh-CN" altLang="zh-CN" sz="1400" dirty="0">
                <a:latin typeface="微软雅黑" panose="020B0503020204020204" pitchFamily="34" charset="-122"/>
                <a:ea typeface="微软雅黑" panose="020B0503020204020204" pitchFamily="34" charset="-122"/>
              </a:rPr>
              <a:t> —— 像 CPU/GPU 一样暴露什么资源接口？</a:t>
            </a:r>
            <a:endParaRPr lang="en-US" altLang="zh-CN" sz="1400"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zh-CN" sz="1400" b="1" dirty="0">
                <a:latin typeface="微软雅黑" panose="020B0503020204020204" pitchFamily="34" charset="-122"/>
                <a:ea typeface="微软雅黑" panose="020B0503020204020204" pitchFamily="34" charset="-122"/>
              </a:rPr>
              <a:t>QPU 怎么分配？</a:t>
            </a:r>
            <a:r>
              <a:rPr lang="zh-CN" altLang="zh-CN" sz="1400" dirty="0">
                <a:latin typeface="微软雅黑" panose="020B0503020204020204" pitchFamily="34" charset="-122"/>
                <a:ea typeface="微软雅黑" panose="020B0503020204020204" pitchFamily="34" charset="-122"/>
              </a:rPr>
              <a:t> —— 多个程序竞争有限 QPU 时给谁用？</a:t>
            </a:r>
            <a:endParaRPr lang="en-US" altLang="zh-CN" sz="1400"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zh-CN" sz="1400" b="1" dirty="0">
                <a:latin typeface="微软雅黑" panose="020B0503020204020204" pitchFamily="34" charset="-122"/>
                <a:ea typeface="微软雅黑" panose="020B0503020204020204" pitchFamily="34" charset="-122"/>
              </a:rPr>
              <a:t>任务怎么调度？</a:t>
            </a:r>
            <a:r>
              <a:rPr lang="zh-CN" altLang="zh-CN" sz="1400" dirty="0">
                <a:latin typeface="微软雅黑" panose="020B0503020204020204" pitchFamily="34" charset="-122"/>
                <a:ea typeface="微软雅黑" panose="020B0503020204020204" pitchFamily="34" charset="-122"/>
              </a:rPr>
              <a:t> —— CPU/GPU/QPU 之间什么时候切换、谁先执行？</a:t>
            </a:r>
            <a:endParaRPr lang="en-US" altLang="zh-CN" sz="1400" dirty="0">
              <a:latin typeface="微软雅黑" panose="020B0503020204020204" pitchFamily="34" charset="-122"/>
              <a:ea typeface="微软雅黑" panose="020B0503020204020204" pitchFamily="34" charset="-122"/>
            </a:endParaRPr>
          </a:p>
          <a:p>
            <a:pPr marL="285750" indent="-285750">
              <a:lnSpc>
                <a:spcPct val="120000"/>
              </a:lnSpc>
              <a:buFont typeface="Arial" panose="020B0604020202020204" pitchFamily="34" charset="0"/>
              <a:buChar char="•"/>
            </a:pPr>
            <a:r>
              <a:rPr lang="zh-CN" altLang="zh-CN" sz="1400" b="1" dirty="0">
                <a:latin typeface="微软雅黑" panose="020B0503020204020204" pitchFamily="34" charset="-122"/>
                <a:ea typeface="微软雅黑" panose="020B0503020204020204" pitchFamily="34" charset="-122"/>
              </a:rPr>
              <a:t>执行怎么协同？</a:t>
            </a:r>
            <a:r>
              <a:rPr lang="zh-CN" altLang="zh-CN" sz="1400" dirty="0">
                <a:latin typeface="微软雅黑" panose="020B0503020204020204" pitchFamily="34" charset="-122"/>
                <a:ea typeface="微软雅黑" panose="020B0503020204020204" pitchFamily="34" charset="-122"/>
              </a:rPr>
              <a:t> —— 经典计算与量子计算如何同步、通信和反馈？</a:t>
            </a:r>
            <a:endParaRPr lang="zh-CN" altLang="en-US" sz="1400"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A317258F-4C94-1A3B-6EA1-EAF17287D6D9}"/>
              </a:ext>
            </a:extLst>
          </p:cNvPr>
          <p:cNvSpPr txBox="1"/>
          <p:nvPr/>
        </p:nvSpPr>
        <p:spPr>
          <a:xfrm>
            <a:off x="5233795" y="6177343"/>
            <a:ext cx="6361854" cy="418191"/>
          </a:xfrm>
          <a:prstGeom prst="rect">
            <a:avLst/>
          </a:prstGeom>
          <a:solidFill>
            <a:schemeClr val="accent3">
              <a:lumMod val="20000"/>
              <a:lumOff val="80000"/>
            </a:schemeClr>
          </a:solidFill>
        </p:spPr>
        <p:txBody>
          <a:bodyPr wrap="square">
            <a:spAutoFit/>
          </a:bodyPr>
          <a:lstStyle/>
          <a:p>
            <a:pPr algn="ctr">
              <a:lnSpc>
                <a:spcPct val="150000"/>
              </a:lnSpc>
            </a:pPr>
            <a:r>
              <a:rPr lang="zh-CN" altLang="zh-CN" sz="1600" b="1" dirty="0">
                <a:solidFill>
                  <a:schemeClr val="accent5">
                    <a:lumMod val="50000"/>
                  </a:schemeClr>
                </a:solidFill>
                <a:latin typeface="微软雅黑" panose="020B0503020204020204" pitchFamily="34" charset="-122"/>
                <a:ea typeface="微软雅黑" panose="020B0503020204020204" pitchFamily="34" charset="-122"/>
              </a:rPr>
              <a:t>谁来统一管理这些异构资源，并协调程序的执行？</a:t>
            </a:r>
            <a:endParaRPr lang="zh-CN" altLang="en-US" sz="1600" b="1" dirty="0">
              <a:solidFill>
                <a:schemeClr val="accent5">
                  <a:lumMod val="50000"/>
                </a:schemeClr>
              </a:solidFill>
              <a:latin typeface="微软雅黑" panose="020B0503020204020204" pitchFamily="34" charset="-122"/>
              <a:ea typeface="微软雅黑" panose="020B0503020204020204" pitchFamily="34" charset="-122"/>
            </a:endParaRPr>
          </a:p>
        </p:txBody>
      </p:sp>
      <p:pic>
        <p:nvPicPr>
          <p:cNvPr id="34" name="图片 33">
            <a:extLst>
              <a:ext uri="{FF2B5EF4-FFF2-40B4-BE49-F238E27FC236}">
                <a16:creationId xmlns:a16="http://schemas.microsoft.com/office/drawing/2014/main" id="{C7967CEF-40F2-22DC-7F59-060EDBDAA685}"/>
              </a:ext>
            </a:extLst>
          </p:cNvPr>
          <p:cNvPicPr>
            <a:picLocks noChangeAspect="1"/>
          </p:cNvPicPr>
          <p:nvPr/>
        </p:nvPicPr>
        <p:blipFill>
          <a:blip r:embed="rId7"/>
          <a:srcRect t="14903" b="13316"/>
          <a:stretch>
            <a:fillRect/>
          </a:stretch>
        </p:blipFill>
        <p:spPr>
          <a:xfrm>
            <a:off x="5156947" y="2534771"/>
            <a:ext cx="6336000" cy="1519518"/>
          </a:xfrm>
          <a:prstGeom prst="rect">
            <a:avLst/>
          </a:prstGeom>
        </p:spPr>
      </p:pic>
      <p:sp>
        <p:nvSpPr>
          <p:cNvPr id="35" name="矩形 34">
            <a:extLst>
              <a:ext uri="{FF2B5EF4-FFF2-40B4-BE49-F238E27FC236}">
                <a16:creationId xmlns:a16="http://schemas.microsoft.com/office/drawing/2014/main" id="{AC1EF4BF-7570-1714-BEC5-BD7E56F030E2}"/>
              </a:ext>
            </a:extLst>
          </p:cNvPr>
          <p:cNvSpPr/>
          <p:nvPr/>
        </p:nvSpPr>
        <p:spPr>
          <a:xfrm>
            <a:off x="7557248" y="4022928"/>
            <a:ext cx="1734082" cy="400110"/>
          </a:xfrm>
          <a:prstGeom prst="rect">
            <a:avLst/>
          </a:prstGeom>
          <a:noFill/>
        </p:spPr>
        <p:txBody>
          <a:bodyPr wrap="square" lIns="91440" tIns="45720" rIns="91440" bIns="45720">
            <a:spAutoFit/>
          </a:bodyPr>
          <a:lstStyle/>
          <a:p>
            <a:pPr algn="ctr"/>
            <a:r>
              <a:rPr lang="zh-CN" altLang="en-US" sz="200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？如何执行</a:t>
            </a:r>
          </a:p>
        </p:txBody>
      </p:sp>
    </p:spTree>
    <p:extLst>
      <p:ext uri="{BB962C8B-B14F-4D97-AF65-F5344CB8AC3E}">
        <p14:creationId xmlns:p14="http://schemas.microsoft.com/office/powerpoint/2010/main" val="13649384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a:defRPr dirty="0" smtClean="0">
            <a:latin typeface="微软雅黑" panose="020B0503020204020204" pitchFamily="34" charset="-122"/>
            <a:ea typeface="微软雅黑" panose="020B0503020204020204" pitchFamily="34" charset="-122"/>
          </a:defRPr>
        </a:defPPr>
      </a:lstStyle>
    </a:spDef>
    <a:txDef>
      <a:spPr>
        <a:noFill/>
      </a:spPr>
      <a:bodyPr wrap="none" rtlCol="0">
        <a:spAutoFit/>
      </a:bodyPr>
      <a:lstStyle>
        <a:defPPr>
          <a:defRPr dirty="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rtlCol="0" anchor="ctr">
        <a:noAutofit/>
      </a:bodyPr>
      <a:lstStyle>
        <a:defPPr algn="ctr">
          <a:defRPr sz="1600" dirty="0">
            <a:latin typeface="微软雅黑" panose="020B0503020204020204" pitchFamily="34" charset="-122"/>
            <a:ea typeface="微软雅黑" panose="020B0503020204020204" pitchFamily="34" charset="-122"/>
          </a:defRPr>
        </a:defPPr>
      </a:lstStyle>
      <a:style>
        <a:lnRef idx="2">
          <a:schemeClr val="dk1"/>
        </a:lnRef>
        <a:fillRef idx="1">
          <a:schemeClr val="lt1"/>
        </a:fillRef>
        <a:effectRef idx="0">
          <a:schemeClr val="dk1"/>
        </a:effectRef>
        <a:fontRef idx="minor">
          <a:schemeClr val="dk1"/>
        </a:fontRef>
      </a:style>
    </a:spDef>
    <a:txDef>
      <a:spPr>
        <a:noFill/>
      </a:spPr>
      <a:bodyPr wrap="none" rtlCol="0">
        <a:spAutoFit/>
      </a:bodyPr>
      <a:lstStyle>
        <a:defPPr>
          <a:defRPr dirty="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a:defRPr dirty="0" smtClean="0">
            <a:latin typeface="微软雅黑" panose="020B0503020204020204" pitchFamily="34" charset="-122"/>
            <a:ea typeface="微软雅黑" panose="020B0503020204020204" pitchFamily="34" charset="-122"/>
          </a:defRPr>
        </a:defPPr>
      </a:lstStyle>
    </a:spDef>
    <a:txDef>
      <a:spPr>
        <a:noFill/>
      </a:spPr>
      <a:bodyPr wrap="none" rtlCol="0">
        <a:spAutoFit/>
      </a:bodyPr>
      <a:lstStyle>
        <a:defPPr>
          <a:defRPr dirty="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4460</TotalTime>
  <Words>12202</Words>
  <Application>Microsoft Office PowerPoint</Application>
  <PresentationFormat>宽屏</PresentationFormat>
  <Paragraphs>554</Paragraphs>
  <Slides>19</Slides>
  <Notes>19</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19</vt:i4>
      </vt:variant>
    </vt:vector>
  </HeadingPairs>
  <TitlesOfParts>
    <vt:vector size="29" baseType="lpstr">
      <vt:lpstr>等线</vt:lpstr>
      <vt:lpstr>楷体</vt:lpstr>
      <vt:lpstr>微软雅黑</vt:lpstr>
      <vt:lpstr>Arial</vt:lpstr>
      <vt:lpstr>Cambria Math</vt:lpstr>
      <vt:lpstr>Times New Roman</vt:lpstr>
      <vt:lpstr>Wingdings</vt:lpstr>
      <vt:lpstr>1_Office 主题​​</vt:lpstr>
      <vt:lpstr>2_Office 主题​​</vt:lpstr>
      <vt:lpstr>3_Office 主题​​</vt:lpstr>
      <vt:lpstr>量超/量智融合计算系统QCFlow</vt:lpstr>
      <vt:lpstr>PowerPoint 演示文稿</vt:lpstr>
      <vt:lpstr>量子计算：从物理实验走向异构计算系统</vt:lpstr>
      <vt:lpstr>量子算法：从问题结构到量子线路</vt:lpstr>
      <vt:lpstr>量子算法：从问题结构到量子线路</vt:lpstr>
      <vt:lpstr>量子算法：从MaxCut问题到QAOA线路</vt:lpstr>
      <vt:lpstr>量子算法：从QAOA线路到量子程序</vt:lpstr>
      <vt:lpstr>量子程序如何在QPU上运行？</vt:lpstr>
      <vt:lpstr>量子程序如何在QPU上运行？</vt:lpstr>
      <vt:lpstr>量子程序如何在QPU上运行？</vt:lpstr>
      <vt:lpstr>量子程序如何在QPU上运行？</vt:lpstr>
      <vt:lpstr>量子程序如何在QPU上运行？</vt:lpstr>
      <vt:lpstr>量子程序如何在QPU上运行？</vt:lpstr>
      <vt:lpstr>量子程序如何在QPU上运行？</vt:lpstr>
      <vt:lpstr>QPU如何融入高性能计算系统？</vt:lpstr>
      <vt:lpstr>QPU如何融入高性能计算系统？</vt:lpstr>
      <vt:lpstr>QPU如何融入高性能计算系统？</vt:lpstr>
      <vt:lpstr>QPU如何融入高性能计算系统？</vt:lpstr>
      <vt:lpstr>QPU如何融入高性能计算系统？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A2888</dc:creator>
  <cp:lastModifiedBy>雨 朱</cp:lastModifiedBy>
  <cp:revision>895</cp:revision>
  <dcterms:created xsi:type="dcterms:W3CDTF">2022-06-29T09:44:49Z</dcterms:created>
  <dcterms:modified xsi:type="dcterms:W3CDTF">2026-09-27T16:32:10Z</dcterms:modified>
</cp:coreProperties>
</file>